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notesSlides/notesSlide1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26" Target="notesSlides/notesSlide8.xml" Type="http://schemas.openxmlformats.org/officeDocument/2006/relationships/notesSlide"/><Relationship Id="rId27" Target="notesSlides/notesSlide9.xml" Type="http://schemas.openxmlformats.org/officeDocument/2006/relationships/notesSlide"/><Relationship Id="rId28" Target="notesSlides/notesSlide10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开场一句话点题：这是一个工业报警洪水治理系统的立项汇报。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核心主张是把控制室里成千上万条报警，压缩成几十条说得清根因的提示。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本次汇报覆盖问题背景、预调研、目标、功能设计、创新点、分工与四周计划。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团队与成员信息按实际情况补充。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这一页讲清楚系统的输入和输出，不展开技术细节。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输入是一段工业过程数据，用公开的 TEP 数据集，52 个传感器、20 类故障。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中间是治理引擎：先把邻近报警聚成簇，再做根因排序。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输出两样东西：压缩后的报警簇，以及每个簇的 Top-3 根因候选。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关键区别在于，别人只给异常分数，我们直接告诉操作员先处理哪一个。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这一页讲清楚为什么这件事值得做，分四层。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第一是现象：装置一波动，DCS 十几分钟刷几千条报警，重要的被淹没。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第二是标准：EEMUA 191 和 ISA 18.2 要求稳定工况平均每 10 分钟不超过 1 条，现场常超标几十倍。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第三是后果：多起事故报告都把"操作员没在报警洪水中认出关键报警"列为事故扩大的直接原因。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第四是现状成本：靠专家人工配规则，换个装置重配几个月，不可持续。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预调研从四个方向确认这件事可行。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标准侧：报警洪水有 EEMUA 191 这类国际标准编号，压缩率有客观对标口径，不是自说自话。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研究侧：报警管理还停在统计和规则；而时序异常检测论文很多、算法很新，但都只给一个分数，没人回答根因是谁——这就是空白。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数据侧：用 TEP 田纳西-伊斯曼过程，52 个传感器、20 类故障，工艺公开、完全开放。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工具侧：fddbenchmark 提供小体积 TEP 数据，TSB-AD 有 40 个现成算法，还都带 ADD、CDR 工业评价指标，不必重复造轮子。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项目目标定成三条可检验的硬要求，不是口号。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可演示：一条命令跑通从数据到看板的全流程，答辩现场能点。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可解释：每个根因结论都给出依据，工艺工程师能看懂、能质疑。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可落地：只用公开数据和开源库，不绑定专有 DCS 平台，别人拿得走、复现得了。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系统由四个功能组成一条流水线，按数据流动顺序讲。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第一，报警日志生成：按测点上下限做越限判定，再注入抖动和重复报警，模拟真实现场。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第二，报警压缩：把时间邻近、工艺相关的报警聚成簇，算出压缩率。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第三，根因排序：对簇内异常测点做因果检验，再按触发先后加权，给出 Top-3 根因。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第四，可视化看板：时间轴、簇详情、根因排序，做成可现场演示的网页。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四个创新点，重点是前两个和第四个。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第一，双指标约束：光看压缩率没意义，全扔掉就是 100%，所以压缩率和关键报警保留率必须同时达标。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第二，从检测到根因：别人只给异常分数，我们给可排序的根因。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第三，反向生成报警日志，解决真实工厂没有根因标注的难题。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第四，把物理工艺常识和时序先验融进排序，让结果经得起工艺工程师检验。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项目牵涉七类干系人，各有各的关注点。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操作员要报警少、根因准；自动化工程师要能接 DCS、误报低；工艺工程师要看排序合不合工艺常识。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管理层看停机减少和投入产出；老师和评审看方法规范、创新是否成立；开源社区看是否回馈上游。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重点是右侧这个张力：操作员要少报警，工程师怕误报，两者天然冲突。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所以我们把压缩率和关键报警保留率设成一对必须同时达标的指标，而不是只压一头。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按 Scrum 分工，六个成员各有角色。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P1 当 Product Owner，定需求优先级和评测口径；P2 当 Scrum Master，主持站会、清障碍。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开发分三块：P2 加 P3 做数据与报警日志；P4 加 P5 做压缩和根因排序；P6 做 Streamlit 看板和端到端联调。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一条纪律：每个 Sprint 结束必须交出能跑的 Demo，不接受只交 PPT。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最后一页讲四周计划和验收口径。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第一周数据接入和报警日志；第二周压缩加根因首版；第三周看板和联调，功能冻结；第四周调优、验收、做演示材料。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验收是量化的：压缩率不低于 90%，关键报警保留率不低于 98%，根因 Top-1 不低于 50%、Top-3 不低于 80%，外加看板完整跑通一遍。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收尾回到一句话：把几千条报警变成几十条说得清根因的提示。欢迎提问。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A1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0B110D">
                  <a:alpha val="95000"/>
                </a:srgbClr>
              </a:gs>
              <a:gs pos="42000">
                <a:srgbClr val="0B110D">
                  <a:alpha val="86000"/>
                </a:srgbClr>
              </a:gs>
              <a:gs pos="100000">
                <a:srgbClr val="0B110D">
                  <a:alpha val="30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625600"/>
            <a:ext cx="787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4C49E"/>
                </a:solidFill>
                <a:latin typeface="IBM Plex Sans"/>
                <a:ea typeface="IBM Plex Sans"/>
                <a:cs typeface="IBM Plex Sans"/>
                <a:sym typeface="IBM Plex Sans"/>
              </a:rPr>
              <a:t>项目立项汇报 · ALARM FLOOD MANAGEMENT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90600" y="2235200"/>
            <a:ext cx="8128000" cy="1066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5200">
                <a:solidFill>
                  <a:srgbClr val="F4F7F4"/>
                </a:solidFill>
                <a:latin typeface="Noto Sans SC"/>
                <a:ea typeface="Noto Sans SC"/>
                <a:cs typeface="Noto Sans SC"/>
                <a:sym typeface="Noto Sans SC"/>
              </a:rPr>
              <a:t>工业报警洪水治理系统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3530600"/>
            <a:ext cx="812800" cy="50800"/>
          </a:xfrm>
          <a:prstGeom prst="roundRect">
            <a:avLst>
              <a:gd name="adj" fmla="val 0"/>
            </a:avLst>
          </a:prstGeom>
          <a:solidFill>
            <a:srgbClr val="4C7A5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3810000"/>
            <a:ext cx="71120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800">
                <a:solidFill>
                  <a:srgbClr val="C6D0C8"/>
                </a:solidFill>
                <a:latin typeface="Noto Sans SC"/>
                <a:ea typeface="Noto Sans SC"/>
                <a:cs typeface="Noto Sans SC"/>
                <a:sym typeface="Noto Sans SC"/>
              </a:rPr>
              <a:t>把控制室里成千上万条报警，压缩成几十条说得清根因的提示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2277" flipH="false" flipV="false">
            <a:off x="1016011" y="5454650"/>
            <a:ext cx="355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788C80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16000" y="5664200"/>
            <a:ext cx="787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A8B2AA"/>
                </a:solidFill>
                <a:latin typeface="Noto Sans SC"/>
                <a:ea typeface="Noto Sans SC"/>
                <a:cs typeface="Noto Sans SC"/>
                <a:sym typeface="Noto Sans SC"/>
              </a:rPr>
              <a:t>团队名称：（待填写）　　成员姓名：（待填写）　　日期：2026 年 9 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4F6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5588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4C7A5A"/>
                </a:solidFill>
                <a:latin typeface="IBM Plex Sans"/>
                <a:ea typeface="IBM Plex Sans"/>
                <a:cs typeface="IBM Plex Sans"/>
                <a:sym typeface="IBM Plex Sans"/>
              </a:rPr>
              <a:t>01 · 项目定位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838200"/>
            <a:ext cx="1016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F2D24"/>
                </a:solidFill>
                <a:latin typeface="Noto Sans SC"/>
                <a:ea typeface="Noto Sans SC"/>
                <a:cs typeface="Noto Sans SC"/>
                <a:sym typeface="Noto Sans SC"/>
              </a:rPr>
              <a:t>把报警洪水，变成几十条说得清根因的提示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5684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C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2336800"/>
            <a:ext cx="2667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8DCD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445000" y="2336800"/>
            <a:ext cx="2667000" cy="1905000"/>
          </a:xfrm>
          <a:prstGeom prst="roundRect">
            <a:avLst>
              <a:gd name="adj" fmla="val 0"/>
            </a:avLst>
          </a:prstGeom>
          <a:solidFill>
            <a:srgbClr val="4C7A5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874000" y="2336800"/>
            <a:ext cx="3302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4C7A5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8" id="8"/>
          <p:cNvCxnSpPr/>
          <p:nvPr/>
        </p:nvCxnSpPr>
        <p:spPr>
          <a:xfrm rot="-66102" flipH="false" flipV="false">
            <a:off x="3733861" y="3282950"/>
            <a:ext cx="66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4C7A5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name="Connector 9" id="9"/>
          <p:cNvCxnSpPr/>
          <p:nvPr/>
        </p:nvCxnSpPr>
        <p:spPr>
          <a:xfrm rot="-66102" flipH="false" flipV="false">
            <a:off x="7162861" y="3282950"/>
            <a:ext cx="66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4C7A5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1244600" y="2540000"/>
            <a:ext cx="2286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8580"/>
                </a:solidFill>
                <a:latin typeface="IBM Plex Sans"/>
                <a:ea typeface="IBM Plex Sans"/>
                <a:cs typeface="IBM Plex Sans"/>
                <a:sym typeface="IBM Plex Sans"/>
              </a:rPr>
              <a:t>输入 · INPUT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244600" y="28702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D24"/>
                </a:solidFill>
                <a:latin typeface="Noto Sans SC"/>
                <a:ea typeface="Noto Sans SC"/>
                <a:cs typeface="Noto Sans SC"/>
                <a:sym typeface="Noto Sans SC"/>
              </a:rPr>
              <a:t>工业过程数据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244600" y="3378200"/>
            <a:ext cx="22606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TEP 过程 · 52 个传感器时序 · 20 类已知故障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673600" y="2540000"/>
            <a:ext cx="2286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D2E4D6"/>
                </a:solidFill>
                <a:latin typeface="IBM Plex Sans"/>
                <a:ea typeface="IBM Plex Sans"/>
                <a:cs typeface="IBM Plex Sans"/>
                <a:sym typeface="IBM Plex Sans"/>
              </a:rPr>
              <a:t>治理 · ENGINE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673600" y="28702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压缩 + 根因排序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673600" y="3378200"/>
            <a:ext cx="22606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E2ECE4"/>
                </a:solidFill>
                <a:latin typeface="Noto Sans SC"/>
                <a:ea typeface="Noto Sans SC"/>
                <a:cs typeface="Noto Sans SC"/>
                <a:sym typeface="Noto Sans SC"/>
              </a:rPr>
              <a:t>时间邻近聚类 · 因果检验 · 触发先后加权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102600" y="2540000"/>
            <a:ext cx="2921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4C7A5A"/>
                </a:solidFill>
                <a:latin typeface="IBM Plex Sans"/>
                <a:ea typeface="IBM Plex Sans"/>
                <a:cs typeface="IBM Plex Sans"/>
                <a:sym typeface="IBM Plex Sans"/>
              </a:rPr>
              <a:t>输出 · OUTPUT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102600" y="28702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D24"/>
                </a:solidFill>
                <a:latin typeface="Noto Sans SC"/>
                <a:ea typeface="Noto Sans SC"/>
                <a:cs typeface="Noto Sans SC"/>
                <a:sym typeface="Noto Sans SC"/>
              </a:rPr>
              <a:t>报警簇 + Top-3 根因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102600" y="3378200"/>
            <a:ext cx="28702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压缩后的报警簇，每簇给出可排序的 Top-3 根因候选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4297" flipH="false" flipV="false">
            <a:off x="1016004" y="5073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C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1016000" y="53086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核心命题 —— 现有异常检测止步于「给一个分数」；我们回答 </a:t>
            </a:r>
            <a:r>
              <a:rPr lang="en-US" b="true" i="false" strike="noStrike" u="none" sz="1500">
                <a:solidFill>
                  <a:srgbClr val="4C7A5A"/>
                </a:solidFill>
                <a:latin typeface="Noto Sans SC"/>
                <a:ea typeface="Noto Sans SC"/>
                <a:cs typeface="Noto Sans SC"/>
                <a:sym typeface="Noto Sans SC"/>
              </a:rPr>
              <a:t>「是谁引起的、先处理哪个」</a:t>
            </a:r>
            <a:r>
              <a:rPr lang="en-US" b="false" i="false" strike="noStrike" u="none" sz="150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0414000" y="6350000"/>
            <a:ext cx="762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9E98"/>
                </a:solidFill>
                <a:latin typeface="IBM Plex Sans"/>
                <a:ea typeface="IBM Plex Sans"/>
                <a:cs typeface="IBM Plex Sans"/>
                <a:sym typeface="IBM Plex Sans"/>
              </a:rPr>
              <a:t>02 / 10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4F6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5588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4C7A5A"/>
                </a:solidFill>
                <a:latin typeface="IBM Plex Sans"/>
                <a:ea typeface="IBM Plex Sans"/>
                <a:cs typeface="IBM Plex Sans"/>
                <a:sym typeface="IBM Plex Sans"/>
              </a:rPr>
              <a:t>02 · 问题背景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838200"/>
            <a:ext cx="1016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F2D24"/>
                </a:solidFill>
                <a:latin typeface="Noto Sans SC"/>
                <a:ea typeface="Noto Sans SC"/>
                <a:cs typeface="Noto Sans SC"/>
                <a:sym typeface="Noto Sans SC"/>
              </a:rPr>
              <a:t>装置一波动，关键报警就被几千条噪声淹没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5684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C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1905000"/>
            <a:ext cx="6096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4C7A5A"/>
                </a:solidFill>
                <a:latin typeface="Roboto Mono"/>
                <a:ea typeface="Roboto Mono"/>
                <a:cs typeface="Roboto Mono"/>
                <a:sym typeface="Roboto Mono"/>
              </a:rPr>
              <a:t>01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778000" y="1905000"/>
            <a:ext cx="9398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true" i="false" strike="noStrike" u="none" sz="1500">
                <a:solidFill>
                  <a:srgbClr val="1F2D24"/>
                </a:solidFill>
                <a:latin typeface="Noto Sans SC"/>
                <a:ea typeface="Noto Sans SC"/>
                <a:cs typeface="Noto Sans SC"/>
                <a:sym typeface="Noto Sans SC"/>
              </a:rPr>
              <a:t>报警淹没。</a:t>
            </a:r>
            <a:r>
              <a:rPr lang="en-US" b="false" i="false" strike="noStrike" u="none" sz="150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装置一波动，DCS 十几分钟刷出几千条报警，真正重要的几条被淹没在噪声里。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4645" flipH="false" flipV="false">
            <a:off x="1778004" y="2736850"/>
            <a:ext cx="939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0E4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2971800"/>
            <a:ext cx="6096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4C7A5A"/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778000" y="2971800"/>
            <a:ext cx="9398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true" i="false" strike="noStrike" u="none" sz="1500">
                <a:solidFill>
                  <a:srgbClr val="1F2D24"/>
                </a:solidFill>
                <a:latin typeface="Noto Sans SC"/>
                <a:ea typeface="Noto Sans SC"/>
                <a:cs typeface="Noto Sans SC"/>
                <a:sym typeface="Noto Sans SC"/>
              </a:rPr>
              <a:t>标准有硬指标。</a:t>
            </a:r>
            <a:r>
              <a:rPr lang="en-US" b="false" i="false" strike="noStrike" u="none" sz="150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EEMUA 191 / ISA 18.2 要求稳定工况平均 </a:t>
            </a:r>
            <a:r>
              <a:rPr lang="en-US" b="true" i="false" strike="noStrike" u="none" sz="1500">
                <a:solidFill>
                  <a:srgbClr val="4C7A5A"/>
                </a:solidFill>
                <a:latin typeface="Noto Sans SC"/>
                <a:ea typeface="Noto Sans SC"/>
                <a:cs typeface="Noto Sans SC"/>
                <a:sym typeface="Noto Sans SC"/>
              </a:rPr>
              <a:t>≤ 1 条 / 10 分钟</a:t>
            </a:r>
            <a:r>
              <a:rPr lang="en-US" b="false" i="false" strike="noStrike" u="none" sz="150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，现场实际常超标</a:t>
            </a:r>
            <a:r>
              <a:rPr lang="en-US" b="true" i="false" strike="noStrike" u="none" sz="1500">
                <a:solidFill>
                  <a:srgbClr val="C0392B"/>
                </a:solidFill>
                <a:latin typeface="Noto Sans SC"/>
                <a:ea typeface="Noto Sans SC"/>
                <a:cs typeface="Noto Sans SC"/>
                <a:sym typeface="Noto Sans SC"/>
              </a:rPr>
              <a:t>数十倍</a:t>
            </a:r>
            <a:r>
              <a:rPr lang="en-US" b="false" i="false" strike="noStrike" u="none" sz="150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4645" flipH="false" flipV="false">
            <a:off x="1778004" y="3803650"/>
            <a:ext cx="939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0E4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1016000" y="4038600"/>
            <a:ext cx="6096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4C7A5A"/>
                </a:solidFill>
                <a:latin typeface="Roboto Mono"/>
                <a:ea typeface="Roboto Mono"/>
                <a:cs typeface="Roboto Mono"/>
                <a:sym typeface="Roboto Mono"/>
              </a:rPr>
              <a:t>03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778000" y="4038600"/>
            <a:ext cx="9398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true" i="false" strike="noStrike" u="none" sz="1500">
                <a:solidFill>
                  <a:srgbClr val="1F2D24"/>
                </a:solidFill>
                <a:latin typeface="Noto Sans SC"/>
                <a:ea typeface="Noto Sans SC"/>
                <a:cs typeface="Noto Sans SC"/>
                <a:sym typeface="Noto Sans SC"/>
              </a:rPr>
              <a:t>事故有代价。</a:t>
            </a:r>
            <a:r>
              <a:rPr lang="en-US" b="false" i="false" strike="noStrike" u="none" sz="150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多起事故调查报告指出：操作员在报警洪水中没能识别关键报警，是事故扩大的直接原因。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4645" flipH="false" flipV="false">
            <a:off x="1778004" y="4870450"/>
            <a:ext cx="939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0E4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1016000" y="5105400"/>
            <a:ext cx="6096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4C7A5A"/>
                </a:solidFill>
                <a:latin typeface="Roboto Mono"/>
                <a:ea typeface="Roboto Mono"/>
                <a:cs typeface="Roboto Mono"/>
                <a:sym typeface="Roboto Mono"/>
              </a:rPr>
              <a:t>04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778000" y="5105400"/>
            <a:ext cx="9398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true" i="false" strike="noStrike" u="none" sz="1500">
                <a:solidFill>
                  <a:srgbClr val="1F2D24"/>
                </a:solidFill>
                <a:latin typeface="Noto Sans SC"/>
                <a:ea typeface="Noto Sans SC"/>
                <a:cs typeface="Noto Sans SC"/>
                <a:sym typeface="Noto Sans SC"/>
              </a:rPr>
              <a:t>治理成本高。</a:t>
            </a:r>
            <a:r>
              <a:rPr lang="en-US" b="false" i="false" strike="noStrike" u="none" sz="150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现在靠专家人工配规则抑制，换个装置就要重配一遍，配一次要几个月。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414000" y="6350000"/>
            <a:ext cx="762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9E98"/>
                </a:solidFill>
                <a:latin typeface="IBM Plex Sans"/>
                <a:ea typeface="IBM Plex Sans"/>
                <a:cs typeface="IBM Plex Sans"/>
                <a:sym typeface="IBM Plex Sans"/>
              </a:rPr>
              <a:t>03 / 10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4F6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5588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4C7A5A"/>
                </a:solidFill>
                <a:latin typeface="IBM Plex Sans"/>
                <a:ea typeface="IBM Plex Sans"/>
                <a:cs typeface="IBM Plex Sans"/>
                <a:sym typeface="IBM Plex Sans"/>
              </a:rPr>
              <a:t>03 · 预调研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838200"/>
            <a:ext cx="1016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F2D24"/>
                </a:solidFill>
                <a:latin typeface="Noto Sans SC"/>
                <a:ea typeface="Noto Sans SC"/>
                <a:cs typeface="Noto Sans SC"/>
                <a:sym typeface="Noto Sans SC"/>
              </a:rPr>
              <a:t>标准有编号、方法有空白、数据与工具都已就绪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5684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C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1905000"/>
            <a:ext cx="152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4C7A5A"/>
                </a:solidFill>
                <a:latin typeface="Noto Sans SC"/>
                <a:ea typeface="Noto Sans SC"/>
                <a:cs typeface="Noto Sans SC"/>
                <a:sym typeface="Noto Sans SC"/>
              </a:rPr>
              <a:t>标准侧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794000" y="1879600"/>
            <a:ext cx="838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报警洪水是有国际标准编号的真实工程问题，压缩率有客观对标口径。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4297" flipH="false" flipV="false">
            <a:off x="1016004" y="25844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0E4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2819400"/>
            <a:ext cx="152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4C7A5A"/>
                </a:solidFill>
                <a:latin typeface="Noto Sans SC"/>
                <a:ea typeface="Noto Sans SC"/>
                <a:cs typeface="Noto Sans SC"/>
                <a:sym typeface="Noto Sans SC"/>
              </a:rPr>
              <a:t>研究侧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794000" y="2794000"/>
            <a:ext cx="83820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报警管理偏统计与规则，没跟上现代机器学习；时序异常检测论文极多、算法先进，却几乎都止步于「给一个异常分数」，没人回答</a:t>
            </a:r>
            <a:r>
              <a:rPr lang="en-US" b="true" i="false" strike="noStrike" u="none" sz="1400">
                <a:solidFill>
                  <a:srgbClr val="1F2D24"/>
                </a:solidFill>
                <a:latin typeface="Noto Sans SC"/>
                <a:ea typeface="Noto Sans SC"/>
                <a:cs typeface="Noto Sans SC"/>
                <a:sym typeface="Noto Sans SC"/>
              </a:rPr>
              <a:t>「是谁引起的」</a:t>
            </a:r>
            <a:r>
              <a:rPr lang="en-US" b="false" i="false" strike="noStrike" u="none" sz="140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——这块空白就是我们要填的。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4297" flipH="false" flipV="false">
            <a:off x="1016004" y="3803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0E4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1016000" y="4038600"/>
            <a:ext cx="152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4C7A5A"/>
                </a:solidFill>
                <a:latin typeface="Noto Sans SC"/>
                <a:ea typeface="Noto Sans SC"/>
                <a:cs typeface="Noto Sans SC"/>
                <a:sym typeface="Noto Sans SC"/>
              </a:rPr>
              <a:t>数据侧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2794000" y="4013200"/>
            <a:ext cx="838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TEP（田纳西-伊斯曼过程）：52 个传感器、20 种已知故障、工艺流程公开；完全开放，不用申请、不用等审批。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4297" flipH="false" flipV="false">
            <a:off x="1016004" y="4718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0E4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1016000" y="4953000"/>
            <a:ext cx="152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4C7A5A"/>
                </a:solidFill>
                <a:latin typeface="Noto Sans SC"/>
                <a:ea typeface="Noto Sans SC"/>
                <a:cs typeface="Noto Sans SC"/>
                <a:sym typeface="Noto Sans SC"/>
              </a:rPr>
              <a:t>工具侧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2794000" y="4927600"/>
            <a:ext cx="83820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D4246"/>
                </a:solidFill>
                <a:latin typeface="Roboto Mono"/>
                <a:ea typeface="Roboto Mono"/>
                <a:cs typeface="Roboto Mono"/>
                <a:sym typeface="Roboto Mono"/>
              </a:rPr>
              <a:t>fddbenchmark</a:t>
            </a:r>
            <a:r>
              <a:rPr lang="en-US" b="false" i="false" strike="noStrike" u="none" sz="140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 开箱即用，</a:t>
            </a:r>
            <a:r>
              <a:rPr lang="en-US" b="false" i="false" strike="noStrike" u="none" sz="1400">
                <a:solidFill>
                  <a:srgbClr val="3D4246"/>
                </a:solidFill>
                <a:latin typeface="Roboto Mono"/>
                <a:ea typeface="Roboto Mono"/>
                <a:cs typeface="Roboto Mono"/>
                <a:sym typeface="Roboto Mono"/>
              </a:rPr>
              <a:t>small_tep</a:t>
            </a:r>
            <a:r>
              <a:rPr lang="en-US" b="false" i="false" strike="noStrike" u="none" sz="140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 仅 18.9 MB；</a:t>
            </a:r>
            <a:r>
              <a:rPr lang="en-US" b="false" i="false" strike="noStrike" u="none" sz="1400">
                <a:solidFill>
                  <a:srgbClr val="3D4246"/>
                </a:solidFill>
                <a:latin typeface="Roboto Mono"/>
                <a:ea typeface="Roboto Mono"/>
                <a:cs typeface="Roboto Mono"/>
                <a:sym typeface="Roboto Mono"/>
              </a:rPr>
              <a:t>TSB-AD</a:t>
            </a:r>
            <a:r>
              <a:rPr lang="en-US" b="false" i="false" strike="noStrike" u="none" sz="140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（NeurIPS 2024）收录 40 个现成异常检测算法；两者都提供工业指标 ADD、CDR。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414000" y="6350000"/>
            <a:ext cx="762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9E98"/>
                </a:solidFill>
                <a:latin typeface="IBM Plex Sans"/>
                <a:ea typeface="IBM Plex Sans"/>
                <a:cs typeface="IBM Plex Sans"/>
                <a:sym typeface="IBM Plex Sans"/>
              </a:rPr>
              <a:t>04 / 10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4F6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5588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4C7A5A"/>
                </a:solidFill>
                <a:latin typeface="IBM Plex Sans"/>
                <a:ea typeface="IBM Plex Sans"/>
                <a:cs typeface="IBM Plex Sans"/>
                <a:sym typeface="IBM Plex Sans"/>
              </a:rPr>
              <a:t>04 · 项目目标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838200"/>
            <a:ext cx="1016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F2D24"/>
                </a:solidFill>
                <a:latin typeface="Noto Sans SC"/>
                <a:ea typeface="Noto Sans SC"/>
                <a:cs typeface="Noto Sans SC"/>
                <a:sym typeface="Noto Sans SC"/>
              </a:rPr>
              <a:t>三个硬目标：可演示、可解释、可落地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5684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C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2057400"/>
            <a:ext cx="2540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800">
                <a:solidFill>
                  <a:srgbClr val="4C7A5A"/>
                </a:solidFill>
                <a:latin typeface="Noto Sans SC"/>
                <a:ea typeface="Noto Sans SC"/>
                <a:cs typeface="Noto Sans SC"/>
                <a:sym typeface="Noto Sans SC"/>
              </a:rPr>
              <a:t>可演示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66800" y="2717800"/>
            <a:ext cx="254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9E98"/>
                </a:solidFill>
                <a:latin typeface="IBM Plex Sans"/>
                <a:ea typeface="IBM Plex Sans"/>
                <a:cs typeface="IBM Plex Sans"/>
                <a:sym typeface="IBM Plex Sans"/>
              </a:rPr>
              <a:t>DEMONSTRABLE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810000" y="2260600"/>
            <a:ext cx="736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70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一条命令跑通全流程，看板现场演示。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4297" flipH="false" flipV="false">
            <a:off x="1016004" y="3168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0E4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16000" y="3403600"/>
            <a:ext cx="2540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800">
                <a:solidFill>
                  <a:srgbClr val="4C7A5A"/>
                </a:solidFill>
                <a:latin typeface="Noto Sans SC"/>
                <a:ea typeface="Noto Sans SC"/>
                <a:cs typeface="Noto Sans SC"/>
                <a:sym typeface="Noto Sans SC"/>
              </a:rPr>
              <a:t>可解释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66800" y="4064000"/>
            <a:ext cx="254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9E98"/>
                </a:solidFill>
                <a:latin typeface="IBM Plex Sans"/>
                <a:ea typeface="IBM Plex Sans"/>
                <a:cs typeface="IBM Plex Sans"/>
                <a:sym typeface="IBM Plex Sans"/>
              </a:rPr>
              <a:t>EXPLAINABLE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810000" y="3606800"/>
            <a:ext cx="736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70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每个根因结论都能说清依据，不是黑箱打分。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4297" flipH="false" flipV="false">
            <a:off x="1016004" y="4514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0E4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1016000" y="4749800"/>
            <a:ext cx="2540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800">
                <a:solidFill>
                  <a:srgbClr val="4C7A5A"/>
                </a:solidFill>
                <a:latin typeface="Noto Sans SC"/>
                <a:ea typeface="Noto Sans SC"/>
                <a:cs typeface="Noto Sans SC"/>
                <a:sym typeface="Noto Sans SC"/>
              </a:rPr>
              <a:t>可落地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66800" y="5410200"/>
            <a:ext cx="254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9E98"/>
                </a:solidFill>
                <a:latin typeface="IBM Plex Sans"/>
                <a:ea typeface="IBM Plex Sans"/>
                <a:cs typeface="IBM Plex Sans"/>
                <a:sym typeface="IBM Plex Sans"/>
              </a:rPr>
              <a:t>DEPENDABLE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810000" y="4953000"/>
            <a:ext cx="736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70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只用公开数据与开源库，不依赖任何专有平台。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414000" y="6350000"/>
            <a:ext cx="762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9E98"/>
                </a:solidFill>
                <a:latin typeface="IBM Plex Sans"/>
                <a:ea typeface="IBM Plex Sans"/>
                <a:cs typeface="IBM Plex Sans"/>
                <a:sym typeface="IBM Plex Sans"/>
              </a:rPr>
              <a:t>05 / 10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4F6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5588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4C7A5A"/>
                </a:solidFill>
                <a:latin typeface="IBM Plex Sans"/>
                <a:ea typeface="IBM Plex Sans"/>
                <a:cs typeface="IBM Plex Sans"/>
                <a:sym typeface="IBM Plex Sans"/>
              </a:rPr>
              <a:t>05 · 功能设计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838200"/>
            <a:ext cx="1016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F2D24"/>
                </a:solidFill>
                <a:latin typeface="Noto Sans SC"/>
                <a:ea typeface="Noto Sans SC"/>
                <a:cs typeface="Noto Sans SC"/>
                <a:sym typeface="Noto Sans SC"/>
              </a:rPr>
              <a:t>四个功能串成一条流水线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5684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C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16000" y="1905000"/>
          <a:ext cx="10160000" cy="36322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660400"/>
                <a:gridCol w="2006600"/>
                <a:gridCol w="4318000"/>
                <a:gridCol w="3175000"/>
              </a:tblGrid>
              <a:tr h="482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#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7A5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功能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7A5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做什么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7A5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产出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7A5A">
                        <a:alpha val="100000"/>
                      </a:srgbClr>
                    </a:solidFill>
                  </a:tcPr>
                </a:tc>
              </a:tr>
              <a:tr h="787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4C7A5A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1F2D2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报警日志生成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按测点上下限做越限判定，注入抖动报警与重复报警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贴近真实现场的报警日志表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87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4C7A5A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3F1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1F2D2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报警压缩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3F1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时间邻近 + 工艺相关的报警聚成簇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3F1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报警簇 + 压缩率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3F1">
                        <a:alpha val="100000"/>
                      </a:srgbClr>
                    </a:solidFill>
                  </a:tcPr>
                </a:tc>
              </a:tr>
              <a:tr h="787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4C7A5A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1F2D2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根因排序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簇内异常测点做因果检验，结合触发先后加权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每个簇的 Top-3 候选根因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87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4C7A5A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3F1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1F2D2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可视化看板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3F1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报警洪水时间轴、簇详情、根因排序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3F1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可现场演示的网页看板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3F1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AutoShape 6" id="6"/>
          <p:cNvSpPr/>
          <p:nvPr/>
        </p:nvSpPr>
        <p:spPr>
          <a:xfrm rot="0" flipH="false" flipV="false">
            <a:off x="1016000" y="58674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8580"/>
                </a:solidFill>
                <a:latin typeface="Noto Sans SC"/>
                <a:ea typeface="Noto Sans SC"/>
                <a:cs typeface="Noto Sans SC"/>
                <a:sym typeface="Noto Sans SC"/>
              </a:rPr>
              <a:t>顺序即数据流：日志生成 → 压缩成簇 → 根因排序 → 看板呈现，环环相扣。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414000" y="6350000"/>
            <a:ext cx="762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9E98"/>
                </a:solidFill>
                <a:latin typeface="IBM Plex Sans"/>
                <a:ea typeface="IBM Plex Sans"/>
                <a:cs typeface="IBM Plex Sans"/>
                <a:sym typeface="IBM Plex Sans"/>
              </a:rPr>
              <a:t>06 / 10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4F6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5588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4C7A5A"/>
                </a:solidFill>
                <a:latin typeface="IBM Plex Sans"/>
                <a:ea typeface="IBM Plex Sans"/>
                <a:cs typeface="IBM Plex Sans"/>
                <a:sym typeface="IBM Plex Sans"/>
              </a:rPr>
              <a:t>06 · 创新点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838200"/>
            <a:ext cx="1016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F2D24"/>
                </a:solidFill>
                <a:latin typeface="Noto Sans SC"/>
                <a:ea typeface="Noto Sans SC"/>
                <a:cs typeface="Noto Sans SC"/>
                <a:sym typeface="Noto Sans SC"/>
              </a:rPr>
              <a:t>四个创新：从「压报警」到「给根因」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5684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C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5" id="5"/>
          <p:cNvCxnSpPr/>
          <p:nvPr/>
        </p:nvCxnSpPr>
        <p:spPr>
          <a:xfrm rot="5389257" flipH="false" flipV="false">
            <a:off x="4064000" y="3930660"/>
            <a:ext cx="40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0E4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6" id="6"/>
          <p:cNvCxnSpPr/>
          <p:nvPr/>
        </p:nvCxnSpPr>
        <p:spPr>
          <a:xfrm rot="-4297" flipH="false" flipV="false">
            <a:off x="1016004" y="3956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0E4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2006600"/>
            <a:ext cx="5588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4C7A5A"/>
                </a:solidFill>
                <a:latin typeface="Roboto Mono"/>
                <a:ea typeface="Roboto Mono"/>
                <a:cs typeface="Roboto Mono"/>
                <a:sym typeface="Roboto Mono"/>
              </a:rPr>
              <a:t>01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676400" y="2032000"/>
            <a:ext cx="406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1F2D24"/>
                </a:solidFill>
                <a:latin typeface="Noto Sans SC"/>
                <a:ea typeface="Noto Sans SC"/>
                <a:cs typeface="Noto Sans SC"/>
                <a:sym typeface="Noto Sans SC"/>
              </a:rPr>
              <a:t>双指标约束的压缩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676400" y="2489200"/>
            <a:ext cx="4089400" cy="1219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只看压缩率没意义——全扔掉就是 100%；要求压缩率与关键报警保留率同时达标。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350000" y="2006600"/>
            <a:ext cx="5588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4C7A5A"/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010400" y="2032000"/>
            <a:ext cx="406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1F2D24"/>
                </a:solidFill>
                <a:latin typeface="Noto Sans SC"/>
                <a:ea typeface="Noto Sans SC"/>
                <a:cs typeface="Noto Sans SC"/>
                <a:sym typeface="Noto Sans SC"/>
              </a:rPr>
              <a:t>从「检测」推进到「根因」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010400" y="2489200"/>
            <a:ext cx="4089400" cy="1219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现有工作止步于一个异常分数，我们输出可排序、可解释的根因候选。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16000" y="4318000"/>
            <a:ext cx="5588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4C7A5A"/>
                </a:solidFill>
                <a:latin typeface="Roboto Mono"/>
                <a:ea typeface="Roboto Mono"/>
                <a:cs typeface="Roboto Mono"/>
                <a:sym typeface="Roboto Mono"/>
              </a:rPr>
              <a:t>03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676400" y="4343400"/>
            <a:ext cx="406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1F2D24"/>
                </a:solidFill>
                <a:latin typeface="Noto Sans SC"/>
                <a:ea typeface="Noto Sans SC"/>
                <a:cs typeface="Noto Sans SC"/>
                <a:sym typeface="Noto Sans SC"/>
              </a:rPr>
              <a:t>反向生成报警日志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676400" y="4800600"/>
            <a:ext cx="4089400" cy="1219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真实工厂拿不到「哪条报警与真根因有关」的标注，我们靠反向生成换来完备 ground truth。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350000" y="4318000"/>
            <a:ext cx="5588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4C7A5A"/>
                </a:solidFill>
                <a:latin typeface="Roboto Mono"/>
                <a:ea typeface="Roboto Mono"/>
                <a:cs typeface="Roboto Mono"/>
                <a:sym typeface="Roboto Mono"/>
              </a:rPr>
              <a:t>04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010400" y="4343400"/>
            <a:ext cx="406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1F2D24"/>
                </a:solidFill>
                <a:latin typeface="Noto Sans SC"/>
                <a:ea typeface="Noto Sans SC"/>
                <a:cs typeface="Noto Sans SC"/>
                <a:sym typeface="Noto Sans SC"/>
              </a:rPr>
              <a:t>物理与时序先验融合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010400" y="4800600"/>
            <a:ext cx="4089400" cy="1219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不只看统计相关性，还叠加「簇里谁先触发」的工艺常识，结论让工艺工程师看得懂。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414000" y="6350000"/>
            <a:ext cx="762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9E98"/>
                </a:solidFill>
                <a:latin typeface="IBM Plex Sans"/>
                <a:ea typeface="IBM Plex Sans"/>
                <a:cs typeface="IBM Plex Sans"/>
                <a:sym typeface="IBM Plex Sans"/>
              </a:rPr>
              <a:t>07 / 10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4F6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5588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4C7A5A"/>
                </a:solidFill>
                <a:latin typeface="IBM Plex Sans"/>
                <a:ea typeface="IBM Plex Sans"/>
                <a:cs typeface="IBM Plex Sans"/>
                <a:sym typeface="IBM Plex Sans"/>
              </a:rPr>
              <a:t>07 · 项目干系人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838200"/>
            <a:ext cx="1016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F2D24"/>
                </a:solidFill>
                <a:latin typeface="Noto Sans SC"/>
                <a:ea typeface="Noto Sans SC"/>
                <a:cs typeface="Noto Sans SC"/>
                <a:sym typeface="Noto Sans SC"/>
              </a:rPr>
              <a:t>七类干系人，核心诉求其实互相拉扯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5684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C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16000" y="1905000"/>
          <a:ext cx="6604000" cy="36576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362200"/>
                <a:gridCol w="4241800"/>
              </a:tblGrid>
              <a:tr h="4064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干系人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7A5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关注重点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7A5A">
                        <a:alpha val="100000"/>
                      </a:srgbClr>
                    </a:solidFill>
                  </a:tcPr>
                </a:tc>
              </a:tr>
              <a:tr h="4699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1F2D2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工厂操作员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报警是否真变少、根因准不准、会不会增加负担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699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1F2D2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仪表 / 自动化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3F1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能否接入现有 DCS、误报率、维护成本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3F1">
                        <a:alpha val="100000"/>
                      </a:srgbClr>
                    </a:solidFill>
                  </a:tcPr>
                </a:tc>
              </a:tr>
              <a:tr h="4699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1F2D2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工艺工程师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根因排序是否符合工艺常识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699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1F2D2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工厂管理层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3F1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非计划停机减少、投入产出比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3F1">
                        <a:alpha val="100000"/>
                      </a:srgbClr>
                    </a:solidFill>
                  </a:tcPr>
                </a:tc>
              </a:tr>
              <a:tr h="4699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1F2D2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指导老师 / 助教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方法规范、工作量饱满、结果可复现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699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1F2D2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任课老师 / 评审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3F1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创新点是否成立、演示是否完整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3F1">
                        <a:alpha val="100000"/>
                      </a:srgbClr>
                    </a:solidFill>
                  </a:tcPr>
                </a:tc>
              </a:tr>
              <a:tr h="4318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1F2D2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开源社区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TEP / TSB-AD / fddbenchmark 是否被回馈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6" id="6"/>
          <p:cNvSpPr/>
          <p:nvPr/>
        </p:nvSpPr>
        <p:spPr>
          <a:xfrm rot="0" flipH="false" flipV="false">
            <a:off x="8077200" y="2006600"/>
            <a:ext cx="50800" cy="3048000"/>
          </a:xfrm>
          <a:prstGeom prst="roundRect">
            <a:avLst>
              <a:gd name="adj" fmla="val 0"/>
            </a:avLst>
          </a:prstGeom>
          <a:solidFill>
            <a:srgbClr val="4C7A5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331200" y="2006600"/>
            <a:ext cx="28448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D24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关键张力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331200" y="2489200"/>
            <a:ext cx="28448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30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操作员要</a:t>
            </a:r>
            <a:r>
              <a:rPr lang="en-US" b="true" i="false" strike="noStrike" u="none" sz="1300">
                <a:solidFill>
                  <a:srgbClr val="1F2D24"/>
                </a:solidFill>
                <a:latin typeface="Noto Sans SC"/>
                <a:ea typeface="Noto Sans SC"/>
                <a:cs typeface="Noto Sans SC"/>
                <a:sym typeface="Noto Sans SC"/>
              </a:rPr>
              <a:t>「别再来一堆报警」</a:t>
            </a:r>
            <a:r>
              <a:rPr lang="en-US" b="false" i="false" strike="noStrike" u="none" sz="130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，工程师要</a:t>
            </a:r>
            <a:r>
              <a:rPr lang="en-US" b="true" i="false" strike="noStrike" u="none" sz="1300">
                <a:solidFill>
                  <a:srgbClr val="1F2D24"/>
                </a:solidFill>
                <a:latin typeface="Noto Sans SC"/>
                <a:ea typeface="Noto Sans SC"/>
                <a:cs typeface="Noto Sans SC"/>
                <a:sym typeface="Noto Sans SC"/>
              </a:rPr>
              <a:t>「别误报」</a:t>
            </a:r>
            <a:r>
              <a:rPr lang="en-US" b="false" i="false" strike="noStrike" u="none" sz="130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——两个诉求互相冲突。</a:t>
            </a:r>
            <a:endParaRPr lang="en-US" sz="1100"/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30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正因如此，我们才把压缩率和保留率设成一对</a:t>
            </a:r>
            <a:r>
              <a:rPr lang="en-US" b="true" i="false" strike="noStrike" u="none" sz="1300">
                <a:solidFill>
                  <a:srgbClr val="4C7A5A"/>
                </a:solidFill>
                <a:latin typeface="Noto Sans SC"/>
                <a:ea typeface="Noto Sans SC"/>
                <a:cs typeface="Noto Sans SC"/>
                <a:sym typeface="Noto Sans SC"/>
              </a:rPr>
              <a:t>必须同时满足</a:t>
            </a:r>
            <a:r>
              <a:rPr lang="en-US" b="false" i="false" strike="noStrike" u="none" sz="130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的指标。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414000" y="6350000"/>
            <a:ext cx="762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9E98"/>
                </a:solidFill>
                <a:latin typeface="IBM Plex Sans"/>
                <a:ea typeface="IBM Plex Sans"/>
                <a:cs typeface="IBM Plex Sans"/>
                <a:sym typeface="IBM Plex Sans"/>
              </a:rPr>
              <a:t>08 / 10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4F6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5588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4C7A5A"/>
                </a:solidFill>
                <a:latin typeface="IBM Plex Sans"/>
                <a:ea typeface="IBM Plex Sans"/>
                <a:cs typeface="IBM Plex Sans"/>
                <a:sym typeface="IBM Plex Sans"/>
              </a:rPr>
              <a:t>08 · Scrum 角色与分工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838200"/>
            <a:ext cx="1016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F2D24"/>
                </a:solidFill>
                <a:latin typeface="Noto Sans SC"/>
                <a:ea typeface="Noto Sans SC"/>
                <a:cs typeface="Noto Sans SC"/>
                <a:sym typeface="Noto Sans SC"/>
              </a:rPr>
              <a:t>每个 Sprint 交可运行的 Demo，不是 PPT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5684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C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16000" y="1905000"/>
          <a:ext cx="10160000" cy="36068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921000"/>
                <a:gridCol w="1651000"/>
                <a:gridCol w="5588000"/>
              </a:tblGrid>
              <a:tr h="4572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角色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7A5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成员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7A5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职责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7A5A">
                        <a:alpha val="100000"/>
                      </a:srgbClr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1F2D2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Product Owner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C7A5A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需求优先级、评测口径、对外沟通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1F2D2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Scrum Master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3F1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C7A5A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3F1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站会主持、障碍清除、过程记录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3F1">
                        <a:alpha val="100000"/>
                      </a:srgbClr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1F2D2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开发：数据与报警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C7A5A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P2 + P3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TEP 接入、报警日志生成器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1F2D2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开发：压缩与根因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3F1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C7A5A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P4 + P5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3F1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报警压缩、根因排序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3F1">
                        <a:alpha val="100000"/>
                      </a:srgbClr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1F2D2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开发：看板与集成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C7A5A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P6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Streamlit 看板、端到端联调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6" id="6"/>
          <p:cNvSpPr/>
          <p:nvPr/>
        </p:nvSpPr>
        <p:spPr>
          <a:xfrm rot="0" flipH="false" flipV="false">
            <a:off x="1016000" y="5791200"/>
            <a:ext cx="50800" cy="431800"/>
          </a:xfrm>
          <a:prstGeom prst="roundRect">
            <a:avLst>
              <a:gd name="adj" fmla="val 0"/>
            </a:avLst>
          </a:prstGeom>
          <a:solidFill>
            <a:srgbClr val="4C7A5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19200" y="5816600"/>
            <a:ext cx="99568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纪律：每个 Sprint 结束交</a:t>
            </a:r>
            <a:r>
              <a:rPr lang="en-US" b="true" i="false" strike="noStrike" u="none" sz="1400">
                <a:solidFill>
                  <a:srgbClr val="1F2D24"/>
                </a:solidFill>
                <a:latin typeface="Noto Sans SC"/>
                <a:ea typeface="Noto Sans SC"/>
                <a:cs typeface="Noto Sans SC"/>
                <a:sym typeface="Noto Sans SC"/>
              </a:rPr>
              <a:t>可运行的 Demo</a:t>
            </a:r>
            <a:r>
              <a:rPr lang="en-US" b="false" i="false" strike="noStrike" u="none" sz="140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，不是 PPT。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414000" y="6350000"/>
            <a:ext cx="762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9E98"/>
                </a:solidFill>
                <a:latin typeface="IBM Plex Sans"/>
                <a:ea typeface="IBM Plex Sans"/>
                <a:cs typeface="IBM Plex Sans"/>
                <a:sym typeface="IBM Plex Sans"/>
              </a:rPr>
              <a:t>09 / 10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5588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4C7A5A"/>
                </a:solidFill>
                <a:latin typeface="IBM Plex Sans"/>
                <a:ea typeface="IBM Plex Sans"/>
                <a:cs typeface="IBM Plex Sans"/>
                <a:sym typeface="IBM Plex Sans"/>
              </a:rPr>
              <a:t>09 · 计划与验收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838200"/>
            <a:ext cx="1016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F2D24"/>
                </a:solidFill>
                <a:latin typeface="Noto Sans SC"/>
                <a:ea typeface="Noto Sans SC"/>
                <a:cs typeface="Noto Sans SC"/>
                <a:sym typeface="Noto Sans SC"/>
              </a:rPr>
              <a:t>四周交付：从数据接入到完整演示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5684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C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1905000"/>
            <a:ext cx="482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A8580"/>
                </a:solidFill>
                <a:latin typeface="IBM Plex Sans"/>
                <a:ea typeface="IBM Plex Sans"/>
                <a:cs typeface="IBM Plex Sans"/>
                <a:sym typeface="IBM Plex Sans"/>
              </a:rPr>
              <a:t>四周排期 · 4-WEEK PLAN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362200"/>
            <a:ext cx="533400" cy="381000"/>
          </a:xfrm>
          <a:prstGeom prst="roundRect">
            <a:avLst>
              <a:gd name="adj" fmla="val 0"/>
            </a:avLst>
          </a:prstGeom>
          <a:solidFill>
            <a:srgbClr val="4C7A5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413000"/>
            <a:ext cx="5334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W1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727200" y="2413000"/>
            <a:ext cx="41148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数据接入 + 报警日志生成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2971800"/>
            <a:ext cx="533400" cy="381000"/>
          </a:xfrm>
          <a:prstGeom prst="roundRect">
            <a:avLst>
              <a:gd name="adj" fmla="val 0"/>
            </a:avLst>
          </a:prstGeom>
          <a:solidFill>
            <a:srgbClr val="4C7A5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3022600"/>
            <a:ext cx="5334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W2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727200" y="3022600"/>
            <a:ext cx="41148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报警压缩 + 根因排序首版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3581400"/>
            <a:ext cx="533400" cy="381000"/>
          </a:xfrm>
          <a:prstGeom prst="roundRect">
            <a:avLst>
              <a:gd name="adj" fmla="val 0"/>
            </a:avLst>
          </a:prstGeom>
          <a:solidFill>
            <a:srgbClr val="4C7A5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16000" y="3632200"/>
            <a:ext cx="5334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W3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727200" y="3632200"/>
            <a:ext cx="41148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看板 + 端到端联调（冻结功能）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4191000"/>
            <a:ext cx="533400" cy="381000"/>
          </a:xfrm>
          <a:prstGeom prst="roundRect">
            <a:avLst>
              <a:gd name="adj" fmla="val 0"/>
            </a:avLst>
          </a:prstGeom>
          <a:solidFill>
            <a:srgbClr val="4C7A5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16000" y="4241800"/>
            <a:ext cx="5334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W4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727200" y="4241800"/>
            <a:ext cx="41148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调优、验收、演示材料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5385053" flipH="false" flipV="false">
            <a:off x="4635500" y="3359164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0E4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6350000" y="1905000"/>
            <a:ext cx="482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A8580"/>
                </a:solidFill>
                <a:latin typeface="IBM Plex Sans"/>
                <a:ea typeface="IBM Plex Sans"/>
                <a:cs typeface="IBM Plex Sans"/>
                <a:sym typeface="IBM Plex Sans"/>
              </a:rPr>
              <a:t>验收指标 · ACCEPTANCE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350000" y="2362200"/>
            <a:ext cx="292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报警压缩率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347200" y="2336800"/>
            <a:ext cx="18288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4C7A5A"/>
                </a:solidFill>
                <a:latin typeface="Roboto Mono"/>
                <a:ea typeface="Roboto Mono"/>
                <a:cs typeface="Roboto Mono"/>
                <a:sym typeface="Roboto Mono"/>
              </a:rPr>
              <a:t>≥ 90%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-9046" flipH="false" flipV="false">
            <a:off x="6350008" y="27622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0E4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6350000" y="2921000"/>
            <a:ext cx="292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关键报警保留率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9347200" y="2895600"/>
            <a:ext cx="18288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4C7A5A"/>
                </a:solidFill>
                <a:latin typeface="Roboto Mono"/>
                <a:ea typeface="Roboto Mono"/>
                <a:cs typeface="Roboto Mono"/>
                <a:sym typeface="Roboto Mono"/>
              </a:rPr>
              <a:t>≥ 98%</a:t>
            </a:r>
            <a:endParaRPr lang="en-US" sz="1100"/>
          </a:p>
        </p:txBody>
      </p:sp>
      <p:cxnSp>
        <p:nvCxnSpPr>
          <p:cNvPr name="Connector 25" id="25"/>
          <p:cNvCxnSpPr/>
          <p:nvPr/>
        </p:nvCxnSpPr>
        <p:spPr>
          <a:xfrm rot="-9046" flipH="false" flipV="false">
            <a:off x="6350008" y="33210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0E4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6" id="26"/>
          <p:cNvSpPr/>
          <p:nvPr/>
        </p:nvSpPr>
        <p:spPr>
          <a:xfrm rot="0" flipH="false" flipV="false">
            <a:off x="6350000" y="3479800"/>
            <a:ext cx="292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根因 Top-1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9347200" y="3454400"/>
            <a:ext cx="18288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4C7A5A"/>
                </a:solidFill>
                <a:latin typeface="Roboto Mono"/>
                <a:ea typeface="Roboto Mono"/>
                <a:cs typeface="Roboto Mono"/>
                <a:sym typeface="Roboto Mono"/>
              </a:rPr>
              <a:t>≥ 50%</a:t>
            </a:r>
            <a:endParaRPr lang="en-US" sz="1100"/>
          </a:p>
        </p:txBody>
      </p:sp>
      <p:cxnSp>
        <p:nvCxnSpPr>
          <p:cNvPr name="Connector 28" id="28"/>
          <p:cNvCxnSpPr/>
          <p:nvPr/>
        </p:nvCxnSpPr>
        <p:spPr>
          <a:xfrm rot="-9046" flipH="false" flipV="false">
            <a:off x="6350008" y="38798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0E4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9" id="29"/>
          <p:cNvSpPr/>
          <p:nvPr/>
        </p:nvSpPr>
        <p:spPr>
          <a:xfrm rot="0" flipH="false" flipV="false">
            <a:off x="6350000" y="4038600"/>
            <a:ext cx="292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根因 Top-3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9347200" y="4013200"/>
            <a:ext cx="18288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4C7A5A"/>
                </a:solidFill>
                <a:latin typeface="Roboto Mono"/>
                <a:ea typeface="Roboto Mono"/>
                <a:cs typeface="Roboto Mono"/>
                <a:sym typeface="Roboto Mono"/>
              </a:rPr>
              <a:t>≥ 80%</a:t>
            </a:r>
            <a:endParaRPr lang="en-US" sz="1100"/>
          </a:p>
        </p:txBody>
      </p:sp>
      <p:cxnSp>
        <p:nvCxnSpPr>
          <p:cNvPr name="Connector 31" id="31"/>
          <p:cNvCxnSpPr/>
          <p:nvPr/>
        </p:nvCxnSpPr>
        <p:spPr>
          <a:xfrm rot="-9046" flipH="false" flipV="false">
            <a:off x="6350008" y="4438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0E4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2" id="32"/>
          <p:cNvSpPr/>
          <p:nvPr/>
        </p:nvSpPr>
        <p:spPr>
          <a:xfrm rot="0" flipH="false" flipV="false">
            <a:off x="6350000" y="4597400"/>
            <a:ext cx="292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端到端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8890000" y="46228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C7A5A"/>
                </a:solidFill>
                <a:latin typeface="Noto Sans SC"/>
                <a:ea typeface="Noto Sans SC"/>
                <a:cs typeface="Noto Sans SC"/>
                <a:sym typeface="Noto Sans SC"/>
              </a:rPr>
              <a:t>看板完整演示一遍</a:t>
            </a:r>
            <a:endParaRPr lang="en-US" sz="1100"/>
          </a:p>
        </p:txBody>
      </p:sp>
      <p:cxnSp>
        <p:nvCxnSpPr>
          <p:cNvPr name="Connector 34" id="34"/>
          <p:cNvCxnSpPr/>
          <p:nvPr/>
        </p:nvCxnSpPr>
        <p:spPr>
          <a:xfrm rot="-4297" flipH="false" flipV="false">
            <a:off x="1016004" y="53784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C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5" id="35"/>
          <p:cNvSpPr/>
          <p:nvPr/>
        </p:nvSpPr>
        <p:spPr>
          <a:xfrm rot="0" flipH="false" flipV="false">
            <a:off x="1016000" y="56134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D24"/>
                </a:solidFill>
                <a:latin typeface="Noto Sans SC"/>
                <a:ea typeface="Noto Sans SC"/>
                <a:cs typeface="Noto Sans SC"/>
                <a:sym typeface="Noto Sans SC"/>
              </a:rPr>
              <a:t>收尾：把几千条报警，变成</a:t>
            </a:r>
            <a:r>
              <a:rPr lang="en-US" b="true" i="false" strike="noStrike" u="none" sz="1800">
                <a:solidFill>
                  <a:srgbClr val="4C7A5A"/>
                </a:solidFill>
                <a:latin typeface="Noto Sans SC"/>
                <a:ea typeface="Noto Sans SC"/>
                <a:cs typeface="Noto Sans SC"/>
                <a:sym typeface="Noto Sans SC"/>
              </a:rPr>
              <a:t>几十条说得清根因</a:t>
            </a:r>
            <a:r>
              <a:rPr lang="en-US" b="true" i="false" strike="noStrike" u="none" sz="1800">
                <a:solidFill>
                  <a:srgbClr val="1F2D24"/>
                </a:solidFill>
                <a:latin typeface="Noto Sans SC"/>
                <a:ea typeface="Noto Sans SC"/>
                <a:cs typeface="Noto Sans SC"/>
                <a:sym typeface="Noto Sans SC"/>
              </a:rPr>
              <a:t>的提示。　欢迎提问。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10414000" y="6350000"/>
            <a:ext cx="762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9E98"/>
                </a:solidFill>
                <a:latin typeface="IBM Plex Sans"/>
                <a:ea typeface="IBM Plex Sans"/>
                <a:cs typeface="IBM Plex Sans"/>
                <a:sym typeface="IBM Plex Sans"/>
              </a:rPr>
              <a:t>10 / 10</a:t>
            </a:r>
            <a:endParaRPr lang="en-US" sz="1100"/>
          </a:p>
        </p:txBody>
      </p:sp>
      <p:pic>
        <p:nvPicPr>
          <p:cNvPr name="Picture 37" id="3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{"Label":"1","ContentProducer":"001191110102MACQD9K64010000","ProduceID":"7687483834371673312","ReservedCode1":"","ContentPropagator":"","PropagateID":"","ReservedCode2":""}</vt:lpwstr>
  </property>
</Properties>
</file>