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  <p:sldMasterId id="2147483660" r:id="rId3"/>
  </p:sldMasterIdLst>
  <p:notesMasterIdLst>
    <p:notesMasterId r:id="rId5"/>
  </p:notesMasterIdLst>
  <p:sldIdLst>
    <p:sldId id="256" r:id="rId4"/>
    <p:sldId id="257" r:id="rId6"/>
    <p:sldId id="258" r:id="rId7"/>
    <p:sldId id="259" r:id="rId8"/>
    <p:sldId id="260" r:id="rId9"/>
    <p:sldId id="263" r:id="rId10"/>
    <p:sldId id="261" r:id="rId11"/>
    <p:sldId id="262" r:id="rId12"/>
    <p:sldId id="264" r:id="rId13"/>
    <p:sldId id="265" r:id="rId14"/>
    <p:sldId id="266" r:id="rId15"/>
    <p:sldId id="267" r:id="rId16"/>
    <p:sldId id="268" r:id="rId17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L="0"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L="457200"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L="914400"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L="1371600"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L="1828800"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L="2286000"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L="2743200"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L="3200400"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L="3657600"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747775"/>
          </p15:clr>
        </p15:guide>
        <p15:guide id="2" pos="2880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>
    <p:restoredLeft sz="15620"/>
    <p:restoredTop sz="94660"/>
  </p:normalViewPr>
  <p:slideViewPr>
    <p:cSldViewPr snapToGrid="0" showGuides="1">
      <p:cViewPr varScale="1">
        <p:scale>
          <a:sx n="100" d="100"/>
          <a:sy n="100" d="100"/>
        </p:scale>
        <p:origin x="0" y="0"/>
      </p:cViewPr>
      <p:guideLst>
        <p:guide orient="horz" pos="1620"/>
        <p:guide pos="2880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0" Type="http://schemas.openxmlformats.org/officeDocument/2006/relationships/tableStyles" Target="tableStyles.xml"/><Relationship Id="rId2" Type="http://schemas.openxmlformats.org/officeDocument/2006/relationships/theme" Target="theme/theme1.xml"/><Relationship Id="rId19" Type="http://schemas.openxmlformats.org/officeDocument/2006/relationships/viewProps" Target="viewProps.xml"/><Relationship Id="rId18" Type="http://schemas.openxmlformats.org/officeDocument/2006/relationships/presProps" Target="presProps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标题幻灯片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标题和内容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节标题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两栏内容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比较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39" name="Shape 37"/>
          <p:cNvSpPr txBox="1"/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41" name="Shape 39"/>
          <p:cNvSpPr txBox="1"/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仅标题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空白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内容与标题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图片与标题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标题和竖排文字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竖排标题与文本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 panose="020B0604020202020204"/>
              <a:buNone/>
              <a:defRPr sz="33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 panose="020B0604020202020204"/>
              <a:buChar char="•"/>
              <a:defRPr sz="2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Char char="•"/>
              <a:defRPr sz="15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8" name="Shape 3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9" name="Shape 4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10" name="Shape 5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5" Type="http://schemas.openxmlformats.org/officeDocument/2006/relationships/notesSlide" Target="../notesSlides/notesSlide3.xml"/><Relationship Id="rId24" Type="http://schemas.openxmlformats.org/officeDocument/2006/relationships/slideLayout" Target="../slideLayouts/slideLayout12.xml"/><Relationship Id="rId23" Type="http://schemas.openxmlformats.org/officeDocument/2006/relationships/tags" Target="../tags/tag23.xml"/><Relationship Id="rId22" Type="http://schemas.openxmlformats.org/officeDocument/2006/relationships/tags" Target="../tags/tag22.xml"/><Relationship Id="rId21" Type="http://schemas.openxmlformats.org/officeDocument/2006/relationships/tags" Target="../tags/tag21.xml"/><Relationship Id="rId20" Type="http://schemas.openxmlformats.org/officeDocument/2006/relationships/tags" Target="../tags/tag20.xml"/><Relationship Id="rId2" Type="http://schemas.openxmlformats.org/officeDocument/2006/relationships/tags" Target="../tags/tag2.xml"/><Relationship Id="rId19" Type="http://schemas.openxmlformats.org/officeDocument/2006/relationships/tags" Target="../tags/tag19.xml"/><Relationship Id="rId18" Type="http://schemas.openxmlformats.org/officeDocument/2006/relationships/tags" Target="../tags/tag18.xml"/><Relationship Id="rId17" Type="http://schemas.openxmlformats.org/officeDocument/2006/relationships/tags" Target="../tags/tag17.xml"/><Relationship Id="rId16" Type="http://schemas.openxmlformats.org/officeDocument/2006/relationships/tags" Target="../tags/tag16.xml"/><Relationship Id="rId15" Type="http://schemas.openxmlformats.org/officeDocument/2006/relationships/tags" Target="../tags/tag15.xml"/><Relationship Id="rId14" Type="http://schemas.openxmlformats.org/officeDocument/2006/relationships/tags" Target="../tags/tag14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6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0" y="0"/>
            <a:ext cx="4572000" cy="6858000"/>
          </a:xfrm>
          <a:prstGeom prst="roundRect">
            <a:avLst>
              <a:gd name="adj" fmla="val 0"/>
            </a:avLst>
          </a:prstGeom>
          <a:solidFill>
            <a:srgbClr val="1F4E5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 anchorCtr="0"/>
          <a:lstStyle/>
          <a:p>
            <a:pPr algn="ctr">
              <a:defRPr/>
            </a:pPr>
          </a:p>
        </p:txBody>
      </p:sp>
      <p:sp>
        <p:nvSpPr>
          <p:cNvPr id="3" name="AutoShape 3"/>
          <p:cNvSpPr txBox="1"/>
          <p:nvPr/>
        </p:nvSpPr>
        <p:spPr>
          <a:xfrm>
            <a:off x="7874000" y="508000"/>
            <a:ext cx="4064000" cy="190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r">
              <a:lnSpc>
                <a:spcPct val="117000"/>
              </a:lnSpc>
              <a:defRPr/>
            </a:pPr>
            <a:r>
              <a:rPr lang="en-US" sz="12000" b="1" i="0" u="none" strike="noStrike">
                <a:solidFill>
                  <a:srgbClr val="FFFFFF">
                    <a:alpha val="12157"/>
                  </a:srgbClr>
                </a:solidFill>
                <a:latin typeface="MiSans" charset="-122"/>
                <a:ea typeface="MiSans" charset="-122"/>
                <a:cs typeface="MiSans" charset="-122"/>
                <a:sym typeface="MiSans" charset="-122"/>
              </a:rPr>
              <a:t>03</a:t>
            </a:r>
            <a:endParaRPr lang="en-US" sz="1100"/>
          </a:p>
        </p:txBody>
      </p:sp>
      <p:sp>
        <p:nvSpPr>
          <p:cNvPr id="4" name="AutoShape 4"/>
          <p:cNvSpPr txBox="1"/>
          <p:nvPr/>
        </p:nvSpPr>
        <p:spPr>
          <a:xfrm>
            <a:off x="8128000" y="2794000"/>
            <a:ext cx="3556000" cy="330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208000"/>
              </a:lnSpc>
              <a:defRPr/>
            </a:pPr>
            <a:r>
              <a:rPr lang="en-US" sz="1000" b="0" i="0" u="none" strike="noStrike">
                <a:solidFill>
                  <a:srgbClr val="FFFFFF">
                    <a:alpha val="34902"/>
                  </a:srgbClr>
                </a:solidFill>
                <a:latin typeface="MiSans" charset="-122"/>
                <a:ea typeface="MiSans" charset="-122"/>
                <a:cs typeface="MiSans" charset="-122"/>
                <a:sym typeface="MiSans" charset="-122"/>
              </a:rPr>
              <a:t>10:02:13 XMEAS(12) HI</a:t>
            </a:r>
            <a:endParaRPr lang="en-US" sz="1100"/>
          </a:p>
          <a:p>
            <a:pPr marL="0" indent="0" algn="l">
              <a:lnSpc>
                <a:spcPct val="208000"/>
              </a:lnSpc>
            </a:pPr>
            <a:r>
              <a:rPr lang="en-US" sz="1000" b="0" i="0" u="none" strike="noStrike">
                <a:solidFill>
                  <a:srgbClr val="FFFFFF">
                    <a:alpha val="34902"/>
                  </a:srgbClr>
                </a:solidFill>
                <a:latin typeface="MiSans" charset="-122"/>
                <a:ea typeface="MiSans" charset="-122"/>
                <a:cs typeface="MiSans" charset="-122"/>
                <a:sym typeface="MiSans" charset="-122"/>
              </a:rPr>
              <a:t>10:02:13 XMEAS(7) HIHI</a:t>
            </a:r>
            <a:endParaRPr lang="en-US" sz="1000" b="0" i="0" u="none" strike="noStrike">
              <a:solidFill>
                <a:srgbClr val="FFFFFF">
                  <a:alpha val="34902"/>
                </a:srgbClr>
              </a:solidFill>
              <a:latin typeface="MiSans" charset="-122"/>
              <a:ea typeface="MiSans" charset="-122"/>
              <a:cs typeface="MiSans" charset="-122"/>
              <a:sym typeface="MiSans" charset="-122"/>
            </a:endParaRPr>
          </a:p>
          <a:p>
            <a:pPr marL="0" indent="0" algn="l">
              <a:lnSpc>
                <a:spcPct val="208000"/>
              </a:lnSpc>
            </a:pPr>
            <a:r>
              <a:rPr lang="en-US" sz="1000" b="0" i="0" u="none" strike="noStrike">
                <a:solidFill>
                  <a:srgbClr val="FFFFFF">
                    <a:alpha val="34902"/>
                  </a:srgbClr>
                </a:solidFill>
                <a:latin typeface="MiSans" charset="-122"/>
                <a:ea typeface="MiSans" charset="-122"/>
                <a:cs typeface="MiSans" charset="-122"/>
                <a:sym typeface="MiSans" charset="-122"/>
              </a:rPr>
              <a:t>10:02:14 XMEAS(31) LO</a:t>
            </a:r>
            <a:endParaRPr lang="en-US" sz="1000" b="0" i="0" u="none" strike="noStrike">
              <a:solidFill>
                <a:srgbClr val="FFFFFF">
                  <a:alpha val="34902"/>
                </a:srgbClr>
              </a:solidFill>
              <a:latin typeface="MiSans" charset="-122"/>
              <a:ea typeface="MiSans" charset="-122"/>
              <a:cs typeface="MiSans" charset="-122"/>
              <a:sym typeface="MiSans" charset="-122"/>
            </a:endParaRPr>
          </a:p>
          <a:p>
            <a:pPr marL="0" indent="0" algn="l">
              <a:lnSpc>
                <a:spcPct val="208000"/>
              </a:lnSpc>
            </a:pPr>
            <a:r>
              <a:rPr lang="en-US" sz="1000" b="0" i="0" u="none" strike="noStrike">
                <a:solidFill>
                  <a:srgbClr val="FFFFFF">
                    <a:alpha val="34902"/>
                  </a:srgbClr>
                </a:solidFill>
                <a:latin typeface="MiSans" charset="-122"/>
                <a:ea typeface="MiSans" charset="-122"/>
                <a:cs typeface="MiSans" charset="-122"/>
                <a:sym typeface="MiSans" charset="-122"/>
              </a:rPr>
              <a:t>10:02:14 XMEAS(12) HI</a:t>
            </a:r>
            <a:endParaRPr lang="en-US" sz="1000" b="0" i="0" u="none" strike="noStrike">
              <a:solidFill>
                <a:srgbClr val="FFFFFF">
                  <a:alpha val="34902"/>
                </a:srgbClr>
              </a:solidFill>
              <a:latin typeface="MiSans" charset="-122"/>
              <a:ea typeface="MiSans" charset="-122"/>
              <a:cs typeface="MiSans" charset="-122"/>
              <a:sym typeface="MiSans" charset="-122"/>
            </a:endParaRPr>
          </a:p>
          <a:p>
            <a:pPr marL="0" indent="0" algn="l">
              <a:lnSpc>
                <a:spcPct val="208000"/>
              </a:lnSpc>
            </a:pPr>
            <a:r>
              <a:rPr lang="en-US" sz="1000" b="0" i="0" u="none" strike="noStrike">
                <a:solidFill>
                  <a:srgbClr val="FFFFFF">
                    <a:alpha val="34902"/>
                  </a:srgbClr>
                </a:solidFill>
                <a:latin typeface="MiSans" charset="-122"/>
                <a:ea typeface="MiSans" charset="-122"/>
                <a:cs typeface="MiSans" charset="-122"/>
                <a:sym typeface="MiSans" charset="-122"/>
              </a:rPr>
              <a:t>10:02:15 XMEAS(18) HI</a:t>
            </a:r>
            <a:endParaRPr lang="en-US" sz="1000" b="0" i="0" u="none" strike="noStrike">
              <a:solidFill>
                <a:srgbClr val="FFFFFF">
                  <a:alpha val="34902"/>
                </a:srgbClr>
              </a:solidFill>
              <a:latin typeface="MiSans" charset="-122"/>
              <a:ea typeface="MiSans" charset="-122"/>
              <a:cs typeface="MiSans" charset="-122"/>
              <a:sym typeface="MiSans" charset="-122"/>
            </a:endParaRPr>
          </a:p>
          <a:p>
            <a:pPr marL="0" indent="0" algn="l">
              <a:lnSpc>
                <a:spcPct val="208000"/>
              </a:lnSpc>
            </a:pPr>
            <a:r>
              <a:rPr lang="en-US" sz="1000" b="0" i="0" u="none" strike="noStrike">
                <a:solidFill>
                  <a:srgbClr val="FFFFFF">
                    <a:alpha val="34902"/>
                  </a:srgbClr>
                </a:solidFill>
                <a:latin typeface="MiSans" charset="-122"/>
                <a:ea typeface="MiSans" charset="-122"/>
                <a:cs typeface="MiSans" charset="-122"/>
                <a:sym typeface="MiSans" charset="-122"/>
              </a:rPr>
              <a:t>10:02:15 XMEAS(4) LOLO</a:t>
            </a:r>
            <a:endParaRPr lang="en-US" sz="1000" b="0" i="0" u="none" strike="noStrike">
              <a:solidFill>
                <a:srgbClr val="FFFFFF">
                  <a:alpha val="34902"/>
                </a:srgbClr>
              </a:solidFill>
              <a:latin typeface="MiSans" charset="-122"/>
              <a:ea typeface="MiSans" charset="-122"/>
              <a:cs typeface="MiSans" charset="-122"/>
              <a:sym typeface="MiSans" charset="-122"/>
            </a:endParaRPr>
          </a:p>
          <a:p>
            <a:pPr marL="0" indent="0" algn="l">
              <a:lnSpc>
                <a:spcPct val="208000"/>
              </a:lnSpc>
            </a:pPr>
            <a:r>
              <a:rPr lang="en-US" sz="1000" b="0" i="0" u="none" strike="noStrike">
                <a:solidFill>
                  <a:srgbClr val="FFFFFF">
                    <a:alpha val="34902"/>
                  </a:srgbClr>
                </a:solidFill>
                <a:latin typeface="MiSans" charset="-122"/>
                <a:ea typeface="MiSans" charset="-122"/>
                <a:cs typeface="MiSans" charset="-122"/>
                <a:sym typeface="MiSans" charset="-122"/>
              </a:rPr>
              <a:t>10:02:16 XMEAS(25) HI</a:t>
            </a:r>
            <a:endParaRPr lang="en-US" sz="1000" b="0" i="0" u="none" strike="noStrike">
              <a:solidFill>
                <a:srgbClr val="FFFFFF">
                  <a:alpha val="34902"/>
                </a:srgbClr>
              </a:solidFill>
              <a:latin typeface="MiSans" charset="-122"/>
              <a:ea typeface="MiSans" charset="-122"/>
              <a:cs typeface="MiSans" charset="-122"/>
              <a:sym typeface="MiSans" charset="-122"/>
            </a:endParaRPr>
          </a:p>
          <a:p>
            <a:pPr marL="0" indent="0" algn="l">
              <a:lnSpc>
                <a:spcPct val="208000"/>
              </a:lnSpc>
            </a:pPr>
            <a:r>
              <a:rPr lang="en-US" sz="1000" b="0" i="0" u="none" strike="noStrike">
                <a:solidFill>
                  <a:srgbClr val="FFFFFF">
                    <a:alpha val="34902"/>
                  </a:srgbClr>
                </a:solidFill>
                <a:latin typeface="MiSans" charset="-122"/>
                <a:ea typeface="MiSans" charset="-122"/>
                <a:cs typeface="MiSans" charset="-122"/>
                <a:sym typeface="MiSans" charset="-122"/>
              </a:rPr>
              <a:t>10:02:16 XMEAS(12) HI</a:t>
            </a:r>
            <a:endParaRPr lang="en-US" sz="1000" b="0" i="0" u="none" strike="noStrike">
              <a:solidFill>
                <a:srgbClr val="FFFFFF">
                  <a:alpha val="34902"/>
                </a:srgbClr>
              </a:solidFill>
              <a:latin typeface="MiSans" charset="-122"/>
              <a:ea typeface="MiSans" charset="-122"/>
              <a:cs typeface="MiSans" charset="-122"/>
              <a:sym typeface="MiSans" charset="-122"/>
            </a:endParaRPr>
          </a:p>
          <a:p>
            <a:pPr marL="0" indent="0" algn="l">
              <a:lnSpc>
                <a:spcPct val="208000"/>
              </a:lnSpc>
            </a:pPr>
            <a:r>
              <a:rPr lang="en-US" sz="1000" b="0" i="0" u="none" strike="noStrike">
                <a:solidFill>
                  <a:srgbClr val="FFFFFF">
                    <a:alpha val="34902"/>
                  </a:srgbClr>
                </a:solidFill>
                <a:latin typeface="MiSans" charset="-122"/>
                <a:ea typeface="MiSans" charset="-122"/>
                <a:cs typeface="MiSans" charset="-122"/>
                <a:sym typeface="MiSans" charset="-122"/>
              </a:rPr>
              <a:t>……波动期间每秒数条</a:t>
            </a:r>
            <a:endParaRPr lang="en-US" sz="1000" b="0" i="0" u="none" strike="noStrike">
              <a:solidFill>
                <a:srgbClr val="FFFFFF">
                  <a:alpha val="34902"/>
                </a:srgbClr>
              </a:solidFill>
              <a:latin typeface="MiSans" charset="-122"/>
              <a:ea typeface="MiSans" charset="-122"/>
              <a:cs typeface="MiSans" charset="-122"/>
              <a:sym typeface="MiSans" charset="-122"/>
            </a:endParaRPr>
          </a:p>
        </p:txBody>
      </p:sp>
      <p:sp>
        <p:nvSpPr>
          <p:cNvPr id="5" name="AutoShape 5"/>
          <p:cNvSpPr txBox="1"/>
          <p:nvPr/>
        </p:nvSpPr>
        <p:spPr>
          <a:xfrm>
            <a:off x="762000" y="1524000"/>
            <a:ext cx="6350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000" b="0" i="0" u="none" strike="noStrike" spc="200">
                <a:solidFill>
                  <a:srgbClr val="7A766C"/>
                </a:solidFill>
                <a:latin typeface="MiSans" charset="-122"/>
                <a:ea typeface="MiSans" charset="-122"/>
                <a:cs typeface="MiSans" charset="-122"/>
                <a:sym typeface="MiSans" charset="-122"/>
              </a:rPr>
              <a:t>课程讨论 · 第 3 次</a:t>
            </a:r>
            <a:endParaRPr lang="en-US" sz="1100"/>
          </a:p>
        </p:txBody>
      </p:sp>
      <p:sp>
        <p:nvSpPr>
          <p:cNvPr id="6" name="AutoShape 6"/>
          <p:cNvSpPr txBox="1"/>
          <p:nvPr/>
        </p:nvSpPr>
        <p:spPr>
          <a:xfrm>
            <a:off x="762000" y="1917700"/>
            <a:ext cx="6604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4200" b="1" i="0" u="none" strike="noStrike">
                <a:solidFill>
                  <a:srgbClr val="1F4E56"/>
                </a:solidFill>
                <a:latin typeface="MiSans" charset="-122"/>
                <a:ea typeface="MiSans" charset="-122"/>
                <a:cs typeface="MiSans" charset="-122"/>
                <a:sym typeface="MiSans" charset="-122"/>
              </a:rPr>
              <a:t>讨论 3：项目计划</a:t>
            </a:r>
            <a:endParaRPr lang="en-US" sz="1100"/>
          </a:p>
        </p:txBody>
      </p:sp>
      <p:sp>
        <p:nvSpPr>
          <p:cNvPr id="7" name="AutoShape 7"/>
          <p:cNvSpPr txBox="1"/>
          <p:nvPr/>
        </p:nvSpPr>
        <p:spPr>
          <a:xfrm>
            <a:off x="762000" y="2819400"/>
            <a:ext cx="660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2000" b="0" i="0" u="none" strike="noStrike">
                <a:solidFill>
                  <a:srgbClr val="2C2A26"/>
                </a:solidFill>
                <a:latin typeface="MiSans" charset="-122"/>
                <a:ea typeface="MiSans" charset="-122"/>
                <a:cs typeface="MiSans" charset="-122"/>
                <a:sym typeface="MiSans" charset="-122"/>
              </a:rPr>
              <a:t>项目名称：工业报警洪水治理系统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762000" y="3454400"/>
            <a:ext cx="1016000" cy="50800"/>
          </a:xfrm>
          <a:prstGeom prst="roundRect">
            <a:avLst>
              <a:gd name="adj" fmla="val 0"/>
            </a:avLst>
          </a:prstGeom>
          <a:solidFill>
            <a:srgbClr val="C46A2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 anchorCtr="0"/>
          <a:lstStyle/>
          <a:p>
            <a:pPr algn="ctr">
              <a:defRPr/>
            </a:pPr>
          </a:p>
        </p:txBody>
      </p:sp>
      <p:sp>
        <p:nvSpPr>
          <p:cNvPr id="9" name="AutoShape 9"/>
          <p:cNvSpPr txBox="1"/>
          <p:nvPr/>
        </p:nvSpPr>
        <p:spPr>
          <a:xfrm>
            <a:off x="762000" y="3810000"/>
            <a:ext cx="6604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83000"/>
              </a:lnSpc>
              <a:defRPr/>
            </a:pPr>
            <a:r>
              <a:rPr lang="en-US" sz="1100" b="0" i="0" u="none" strike="noStrike">
                <a:solidFill>
                  <a:srgbClr val="7A766C"/>
                </a:solidFill>
                <a:latin typeface="MiSans" charset="-122"/>
                <a:ea typeface="MiSans" charset="-122"/>
                <a:cs typeface="MiSans" charset="-122"/>
                <a:sym typeface="MiSans" charset="-122"/>
              </a:rPr>
              <a:t>小组成员：</a:t>
            </a:r>
            <a:r>
              <a:rPr lang="zh-CN" altLang="en-US" sz="1100" b="0" i="0" u="none" strike="noStrike">
                <a:solidFill>
                  <a:srgbClr val="7A766C"/>
                </a:solidFill>
                <a:latin typeface="MiSans" charset="-122"/>
                <a:ea typeface="MiSans" charset="-122"/>
                <a:cs typeface="MiSans" charset="-122"/>
                <a:sym typeface="MiSans" charset="-122"/>
              </a:rPr>
              <a:t>郑子唯</a:t>
            </a:r>
            <a:r>
              <a:rPr lang="en-US" altLang="zh-CN" sz="1100" b="0" i="0" u="none" strike="noStrike">
                <a:solidFill>
                  <a:srgbClr val="7A766C"/>
                </a:solidFill>
                <a:latin typeface="MiSans" charset="-122"/>
                <a:ea typeface="MiSans" charset="-122"/>
                <a:cs typeface="MiSans" charset="-122"/>
                <a:sym typeface="MiSans" charset="-122"/>
              </a:rPr>
              <a:t> </a:t>
            </a:r>
            <a:r>
              <a:rPr lang="zh-CN" altLang="en-US" sz="1100" b="0" i="0" u="none" strike="noStrike">
                <a:solidFill>
                  <a:srgbClr val="7A766C"/>
                </a:solidFill>
                <a:latin typeface="MiSans" charset="-122"/>
                <a:ea typeface="MiSans" charset="-122"/>
                <a:cs typeface="MiSans" charset="-122"/>
                <a:sym typeface="MiSans" charset="-122"/>
              </a:rPr>
              <a:t>吕子豪</a:t>
            </a:r>
            <a:r>
              <a:rPr lang="en-US" altLang="zh-CN" sz="1100" b="0" i="0" u="none" strike="noStrike">
                <a:solidFill>
                  <a:srgbClr val="7A766C"/>
                </a:solidFill>
                <a:latin typeface="MiSans" charset="-122"/>
                <a:ea typeface="MiSans" charset="-122"/>
                <a:cs typeface="MiSans" charset="-122"/>
                <a:sym typeface="MiSans" charset="-122"/>
              </a:rPr>
              <a:t> </a:t>
            </a:r>
            <a:r>
              <a:rPr lang="zh-CN" altLang="en-US" sz="1100" b="0" i="0" u="none" strike="noStrike">
                <a:solidFill>
                  <a:srgbClr val="7A766C"/>
                </a:solidFill>
                <a:latin typeface="MiSans" charset="-122"/>
                <a:ea typeface="MiSans" charset="-122"/>
                <a:cs typeface="MiSans" charset="-122"/>
                <a:sym typeface="MiSans" charset="-122"/>
              </a:rPr>
              <a:t>滕艺斐</a:t>
            </a:r>
            <a:r>
              <a:rPr lang="en-US" altLang="zh-CN" sz="1100" b="0" i="0" u="none" strike="noStrike">
                <a:solidFill>
                  <a:srgbClr val="7A766C"/>
                </a:solidFill>
                <a:latin typeface="MiSans" charset="-122"/>
                <a:ea typeface="MiSans" charset="-122"/>
                <a:cs typeface="MiSans" charset="-122"/>
                <a:sym typeface="MiSans" charset="-122"/>
              </a:rPr>
              <a:t> </a:t>
            </a:r>
            <a:r>
              <a:rPr lang="zh-CN" altLang="en-US" sz="1100" b="0" i="0" u="none" strike="noStrike">
                <a:solidFill>
                  <a:srgbClr val="7A766C"/>
                </a:solidFill>
                <a:latin typeface="MiSans" charset="-122"/>
                <a:ea typeface="MiSans" charset="-122"/>
                <a:cs typeface="MiSans" charset="-122"/>
                <a:sym typeface="MiSans" charset="-122"/>
              </a:rPr>
              <a:t>吴焕石</a:t>
            </a:r>
            <a:r>
              <a:rPr lang="en-US" altLang="zh-CN" sz="1100" b="0" i="0" u="none" strike="noStrike">
                <a:solidFill>
                  <a:srgbClr val="7A766C"/>
                </a:solidFill>
                <a:latin typeface="MiSans" charset="-122"/>
                <a:ea typeface="MiSans" charset="-122"/>
                <a:cs typeface="MiSans" charset="-122"/>
                <a:sym typeface="MiSans" charset="-122"/>
              </a:rPr>
              <a:t> </a:t>
            </a:r>
            <a:r>
              <a:rPr lang="zh-CN" altLang="en-US" sz="1100" b="0" i="0" u="none" strike="noStrike">
                <a:solidFill>
                  <a:srgbClr val="7A766C"/>
                </a:solidFill>
                <a:latin typeface="MiSans" charset="-122"/>
                <a:ea typeface="MiSans" charset="-122"/>
                <a:cs typeface="MiSans" charset="-122"/>
                <a:sym typeface="MiSans" charset="-122"/>
              </a:rPr>
              <a:t>李明轩</a:t>
            </a:r>
            <a:r>
              <a:rPr lang="en-US" altLang="zh-CN" sz="1100" b="0" i="0" u="none" strike="noStrike">
                <a:solidFill>
                  <a:srgbClr val="7A766C"/>
                </a:solidFill>
                <a:latin typeface="MiSans" charset="-122"/>
                <a:ea typeface="MiSans" charset="-122"/>
                <a:cs typeface="MiSans" charset="-122"/>
                <a:sym typeface="MiSans" charset="-122"/>
              </a:rPr>
              <a:t> </a:t>
            </a:r>
            <a:r>
              <a:rPr lang="zh-CN" altLang="en-US" sz="1100" b="0" i="0" u="none" strike="noStrike">
                <a:solidFill>
                  <a:srgbClr val="7A766C"/>
                </a:solidFill>
                <a:latin typeface="MiSans" charset="-122"/>
                <a:ea typeface="MiSans" charset="-122"/>
                <a:cs typeface="MiSans" charset="-122"/>
                <a:sym typeface="MiSans" charset="-122"/>
              </a:rPr>
              <a:t>张泽</a:t>
            </a:r>
            <a:r>
              <a:rPr lang="zh-CN" altLang="en-US" sz="1100" b="0" i="0" u="none" strike="noStrike">
                <a:solidFill>
                  <a:srgbClr val="7A766C"/>
                </a:solidFill>
                <a:latin typeface="MiSans" charset="-122"/>
                <a:ea typeface="MiSans" charset="-122"/>
                <a:cs typeface="MiSans" charset="-122"/>
                <a:sym typeface="MiSans" charset="-122"/>
              </a:rPr>
              <a:t>旺</a:t>
            </a:r>
            <a:endParaRPr lang="zh-CN" altLang="en-US" sz="1100" b="0" i="0" u="none" strike="noStrike">
              <a:solidFill>
                <a:srgbClr val="7A766C"/>
              </a:solidFill>
              <a:latin typeface="MiSans" charset="-122"/>
              <a:ea typeface="MiSans" charset="-122"/>
              <a:cs typeface="MiSans" charset="-122"/>
              <a:sym typeface="MiSans" charset="-122"/>
            </a:endParaRPr>
          </a:p>
          <a:p>
            <a:pPr marL="0" indent="0" algn="l">
              <a:lnSpc>
                <a:spcPct val="183000"/>
              </a:lnSpc>
              <a:defRPr/>
            </a:pPr>
            <a:r>
              <a:rPr lang="en-US" sz="1100" b="0" i="0" u="none" strike="noStrike">
                <a:solidFill>
                  <a:srgbClr val="7A766C"/>
                </a:solidFill>
                <a:latin typeface="MiSans" charset="-122"/>
                <a:ea typeface="MiSans" charset="-122"/>
                <a:cs typeface="MiSans" charset="-122"/>
                <a:sym typeface="MiSans" charset="-122"/>
              </a:rPr>
              <a:t>汇报日期：2026 年 10 月</a:t>
            </a:r>
            <a:endParaRPr lang="en-US" sz="1100" b="0" i="0" u="none" strike="noStrike">
              <a:solidFill>
                <a:srgbClr val="7A766C"/>
              </a:solidFill>
              <a:latin typeface="MiSans" charset="-122"/>
              <a:ea typeface="MiSans" charset="-122"/>
              <a:cs typeface="MiSans" charset="-122"/>
              <a:sym typeface="MiSans" charset="-122"/>
            </a:endParaRPr>
          </a:p>
        </p:txBody>
      </p:sp>
      <p:sp>
        <p:nvSpPr>
          <p:cNvPr id="10" name="AutoShape 10"/>
          <p:cNvSpPr txBox="1"/>
          <p:nvPr/>
        </p:nvSpPr>
        <p:spPr>
          <a:xfrm>
            <a:off x="762000" y="6350000"/>
            <a:ext cx="63500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900" b="0" i="0" u="none" strike="noStrike">
                <a:solidFill>
                  <a:srgbClr val="7A766C"/>
                </a:solidFill>
                <a:latin typeface="MiSans" charset="-122"/>
                <a:ea typeface="MiSans" charset="-122"/>
                <a:cs typeface="MiSans" charset="-122"/>
                <a:sym typeface="MiSans" charset="-122"/>
              </a:rPr>
              <a:t>报警管理标准依据：EEMUA 191 · ISA 18.2 ｜ 数据集：TEP（田纳西-伊斯曼过程）</a:t>
            </a:r>
            <a:endParaRPr lang="en-US" sz="11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6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 txBox="1"/>
          <p:nvPr/>
        </p:nvSpPr>
        <p:spPr>
          <a:xfrm>
            <a:off x="508000" y="304800"/>
            <a:ext cx="38100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000" b="0" i="0" u="none" strike="noStrike" spc="200">
                <a:solidFill>
                  <a:srgbClr val="7A766C"/>
                </a:solidFill>
                <a:latin typeface="MiSans" charset="-122"/>
                <a:ea typeface="MiSans" charset="-122"/>
                <a:cs typeface="MiSans" charset="-122"/>
                <a:sym typeface="MiSans" charset="-122"/>
              </a:rPr>
              <a:t>讨论 3 · 项目计划</a:t>
            </a:r>
            <a:endParaRPr lang="en-US" sz="1100"/>
          </a:p>
        </p:txBody>
      </p:sp>
      <p:sp>
        <p:nvSpPr>
          <p:cNvPr id="3" name="AutoShape 3"/>
          <p:cNvSpPr txBox="1"/>
          <p:nvPr/>
        </p:nvSpPr>
        <p:spPr>
          <a:xfrm>
            <a:off x="10922000" y="304800"/>
            <a:ext cx="7620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r">
              <a:lnSpc>
                <a:spcPct val="117000"/>
              </a:lnSpc>
              <a:defRPr/>
            </a:pPr>
            <a:r>
              <a:rPr lang="en-US" sz="1000" b="0" i="0" u="none" strike="noStrike">
                <a:solidFill>
                  <a:srgbClr val="7A766C"/>
                </a:solidFill>
                <a:latin typeface="MiSans" charset="-122"/>
                <a:ea typeface="MiSans" charset="-122"/>
                <a:cs typeface="MiSans" charset="-122"/>
                <a:sym typeface="MiSans" charset="-122"/>
              </a:rPr>
              <a:t>02 / 13</a:t>
            </a:r>
            <a:endParaRPr lang="en-US" sz="1100"/>
          </a:p>
        </p:txBody>
      </p:sp>
      <p:sp>
        <p:nvSpPr>
          <p:cNvPr id="4" name="AutoShape 4"/>
          <p:cNvSpPr txBox="1"/>
          <p:nvPr/>
        </p:nvSpPr>
        <p:spPr>
          <a:xfrm>
            <a:off x="508000" y="558800"/>
            <a:ext cx="11176000" cy="431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2400" b="1" i="0" u="none" strike="noStrike">
                <a:solidFill>
                  <a:srgbClr val="1F4E56"/>
                </a:solidFill>
                <a:latin typeface="MiSans" charset="-122"/>
                <a:ea typeface="MiSans" charset="-122"/>
                <a:cs typeface="MiSans" charset="-122"/>
                <a:sym typeface="MiSans" charset="-122"/>
              </a:rPr>
              <a:t>项目介绍：报警洪水淹没了关键信息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508000" y="1117600"/>
            <a:ext cx="11176000" cy="12700"/>
          </a:xfrm>
          <a:prstGeom prst="roundRect">
            <a:avLst>
              <a:gd name="adj" fmla="val 0"/>
            </a:avLst>
          </a:prstGeom>
          <a:solidFill>
            <a:srgbClr val="DDD9C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 anchorCtr="0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508000" y="1422400"/>
            <a:ext cx="50800" cy="177800"/>
          </a:xfrm>
          <a:prstGeom prst="roundRect">
            <a:avLst>
              <a:gd name="adj" fmla="val 0"/>
            </a:avLst>
          </a:prstGeom>
          <a:solidFill>
            <a:srgbClr val="C46A2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 anchorCtr="0"/>
          <a:lstStyle/>
          <a:p>
            <a:pPr algn="ctr">
              <a:defRPr/>
            </a:pPr>
          </a:p>
        </p:txBody>
      </p:sp>
      <p:sp>
        <p:nvSpPr>
          <p:cNvPr id="7" name="AutoShape 7"/>
          <p:cNvSpPr txBox="1"/>
          <p:nvPr/>
        </p:nvSpPr>
        <p:spPr>
          <a:xfrm>
            <a:off x="660400" y="1397000"/>
            <a:ext cx="2540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1" i="0" u="none" strike="noStrike">
                <a:solidFill>
                  <a:srgbClr val="2C2A26"/>
                </a:solidFill>
                <a:latin typeface="MiSans" charset="-122"/>
                <a:ea typeface="MiSans" charset="-122"/>
                <a:cs typeface="MiSans" charset="-122"/>
                <a:sym typeface="MiSans" charset="-122"/>
              </a:rPr>
              <a:t>要解决的问题</a:t>
            </a:r>
            <a:endParaRPr lang="en-US" sz="1100"/>
          </a:p>
        </p:txBody>
      </p:sp>
      <p:sp>
        <p:nvSpPr>
          <p:cNvPr id="8" name="AutoShape 8"/>
          <p:cNvSpPr txBox="1"/>
          <p:nvPr/>
        </p:nvSpPr>
        <p:spPr>
          <a:xfrm>
            <a:off x="508000" y="1727200"/>
            <a:ext cx="6350000" cy="167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50000"/>
              </a:lnSpc>
              <a:defRPr/>
            </a:pPr>
            <a:r>
              <a:rPr lang="en-US" sz="1200" b="0" i="0" u="none" strike="noStrike">
                <a:solidFill>
                  <a:srgbClr val="2C2A26"/>
                </a:solidFill>
                <a:latin typeface="MiSans" charset="-122"/>
                <a:ea typeface="MiSans" charset="-122"/>
                <a:cs typeface="MiSans" charset="-122"/>
                <a:sym typeface="MiSans" charset="-122"/>
              </a:rPr>
              <a:t>流程工业的生产装置在运行波动时，集散控制系统（DCS）会在短时间内产生大量报警。EEMUA 191 与 ISA 18.2 两项报警管理标准规定：稳定运行时平均报警率不超过 </a:t>
            </a:r>
            <a:r>
              <a:rPr lang="en-US" sz="1200" b="1" i="0" u="none" strike="noStrike">
                <a:solidFill>
                  <a:srgbClr val="C46A2B"/>
                </a:solidFill>
                <a:latin typeface="MiSans" charset="-122"/>
                <a:ea typeface="MiSans" charset="-122"/>
                <a:cs typeface="MiSans" charset="-122"/>
                <a:sym typeface="MiSans" charset="-122"/>
              </a:rPr>
              <a:t>1 条 / 10 分钟</a:t>
            </a:r>
            <a:r>
              <a:rPr lang="en-US" sz="1200" b="0" i="0" u="none" strike="noStrike">
                <a:solidFill>
                  <a:srgbClr val="2C2A26"/>
                </a:solidFill>
                <a:latin typeface="MiSans" charset="-122"/>
                <a:ea typeface="MiSans" charset="-122"/>
                <a:cs typeface="MiSans" charset="-122"/>
                <a:sym typeface="MiSans" charset="-122"/>
              </a:rPr>
              <a:t>，波动后峰值不超过 </a:t>
            </a:r>
            <a:r>
              <a:rPr lang="en-US" sz="1200" b="1" i="0" u="none" strike="noStrike">
                <a:solidFill>
                  <a:srgbClr val="C46A2B"/>
                </a:solidFill>
                <a:latin typeface="MiSans" charset="-122"/>
                <a:ea typeface="MiSans" charset="-122"/>
                <a:cs typeface="MiSans" charset="-122"/>
                <a:sym typeface="MiSans" charset="-122"/>
              </a:rPr>
              <a:t>10 条 / 10 分钟</a:t>
            </a:r>
            <a:r>
              <a:rPr lang="en-US" sz="1200" b="0" i="0" u="none" strike="noStrike">
                <a:solidFill>
                  <a:srgbClr val="2C2A26"/>
                </a:solidFill>
                <a:latin typeface="MiSans" charset="-122"/>
                <a:ea typeface="MiSans" charset="-122"/>
                <a:cs typeface="MiSans" charset="-122"/>
                <a:sym typeface="MiSans" charset="-122"/>
              </a:rPr>
              <a:t>；而实际运行中，波动期间常达到</a:t>
            </a:r>
            <a:r>
              <a:rPr lang="en-US" sz="1200" b="1" i="0" u="none" strike="noStrike">
                <a:solidFill>
                  <a:srgbClr val="2C2A26"/>
                </a:solidFill>
                <a:latin typeface="MiSans" charset="-122"/>
                <a:ea typeface="MiSans" charset="-122"/>
                <a:cs typeface="MiSans" charset="-122"/>
                <a:sym typeface="MiSans" charset="-122"/>
              </a:rPr>
              <a:t>每秒数条</a:t>
            </a:r>
            <a:r>
              <a:rPr lang="en-US" sz="1200" b="0" i="0" u="none" strike="noStrike">
                <a:solidFill>
                  <a:srgbClr val="2C2A26"/>
                </a:solidFill>
                <a:latin typeface="MiSans" charset="-122"/>
                <a:ea typeface="MiSans" charset="-122"/>
                <a:cs typeface="MiSans" charset="-122"/>
                <a:sym typeface="MiSans" charset="-122"/>
              </a:rPr>
              <a:t>。</a:t>
            </a:r>
            <a:endParaRPr lang="en-US" sz="1100"/>
          </a:p>
          <a:p>
            <a:pPr marL="0" indent="0" algn="l">
              <a:lnSpc>
                <a:spcPct val="150000"/>
              </a:lnSpc>
              <a:spcBef>
                <a:spcPts val="800"/>
              </a:spcBef>
            </a:pPr>
            <a:r>
              <a:rPr lang="en-US" sz="1200" b="0" i="0" u="none" strike="noStrike">
                <a:solidFill>
                  <a:srgbClr val="2C2A26"/>
                </a:solidFill>
                <a:latin typeface="MiSans" charset="-122"/>
                <a:ea typeface="MiSans" charset="-122"/>
                <a:cs typeface="MiSans" charset="-122"/>
                <a:sym typeface="MiSans" charset="-122"/>
              </a:rPr>
              <a:t>多份事故调查报告指出，操作人员在大量报警中未能及时识别关键信息，是事故扩大的原因之一。</a:t>
            </a:r>
            <a:endParaRPr lang="en-US" sz="1200" b="0" i="0" u="none" strike="noStrike">
              <a:solidFill>
                <a:srgbClr val="2C2A26"/>
              </a:solidFill>
              <a:latin typeface="MiSans" charset="-122"/>
              <a:ea typeface="MiSans" charset="-122"/>
              <a:cs typeface="MiSans" charset="-122"/>
              <a:sym typeface="MiSans" charset="-122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508000" y="3657600"/>
            <a:ext cx="50800" cy="177800"/>
          </a:xfrm>
          <a:prstGeom prst="roundRect">
            <a:avLst>
              <a:gd name="adj" fmla="val 0"/>
            </a:avLst>
          </a:prstGeom>
          <a:solidFill>
            <a:srgbClr val="C46A2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 anchorCtr="0"/>
          <a:lstStyle/>
          <a:p>
            <a:pPr algn="ctr">
              <a:defRPr/>
            </a:pPr>
          </a:p>
        </p:txBody>
      </p:sp>
      <p:sp>
        <p:nvSpPr>
          <p:cNvPr id="10" name="AutoShape 10"/>
          <p:cNvSpPr txBox="1"/>
          <p:nvPr/>
        </p:nvSpPr>
        <p:spPr>
          <a:xfrm>
            <a:off x="660400" y="3632200"/>
            <a:ext cx="2540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1" i="0" u="none" strike="noStrike">
                <a:solidFill>
                  <a:srgbClr val="2C2A26"/>
                </a:solidFill>
                <a:latin typeface="MiSans" charset="-122"/>
                <a:ea typeface="MiSans" charset="-122"/>
                <a:cs typeface="MiSans" charset="-122"/>
                <a:sym typeface="MiSans" charset="-122"/>
              </a:rPr>
              <a:t>现有做法的局限</a:t>
            </a:r>
            <a:endParaRPr lang="en-US" sz="1100"/>
          </a:p>
        </p:txBody>
      </p:sp>
      <p:sp>
        <p:nvSpPr>
          <p:cNvPr id="11" name="AutoShape 11"/>
          <p:cNvSpPr txBox="1"/>
          <p:nvPr/>
        </p:nvSpPr>
        <p:spPr>
          <a:xfrm>
            <a:off x="508000" y="3962400"/>
            <a:ext cx="6350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50000"/>
              </a:lnSpc>
              <a:defRPr/>
            </a:pPr>
            <a:r>
              <a:rPr lang="en-US" sz="1200" b="0" i="0" u="none" strike="noStrike">
                <a:solidFill>
                  <a:srgbClr val="2C2A26"/>
                </a:solidFill>
                <a:latin typeface="MiSans" charset="-122"/>
                <a:ea typeface="MiSans" charset="-122"/>
                <a:cs typeface="MiSans" charset="-122"/>
                <a:sym typeface="MiSans" charset="-122"/>
              </a:rPr>
              <a:t>工厂目前依靠专业人员</a:t>
            </a:r>
            <a:r>
              <a:rPr lang="en-US" sz="1200" b="1" i="0" u="none" strike="noStrike">
                <a:solidFill>
                  <a:srgbClr val="2C2A26"/>
                </a:solidFill>
                <a:latin typeface="MiSans" charset="-122"/>
                <a:ea typeface="MiSans" charset="-122"/>
                <a:cs typeface="MiSans" charset="-122"/>
                <a:sym typeface="MiSans" charset="-122"/>
              </a:rPr>
              <a:t>逐条配置抑制规则</a:t>
            </a:r>
            <a:r>
              <a:rPr lang="en-US" sz="1200" b="0" i="0" u="none" strike="noStrike">
                <a:solidFill>
                  <a:srgbClr val="2C2A26"/>
                </a:solidFill>
                <a:latin typeface="MiSans" charset="-122"/>
                <a:ea typeface="MiSans" charset="-122"/>
                <a:cs typeface="MiSans" charset="-122"/>
                <a:sym typeface="MiSans" charset="-122"/>
              </a:rPr>
              <a:t>：该方式与具体装置绑定，更换装置后需重新配置；单次配置周期可达数月；规则数量持续累积，后期维护困难。</a:t>
            </a:r>
            <a:endParaRPr lang="en-US" sz="1100"/>
          </a:p>
        </p:txBody>
      </p:sp>
      <p:sp>
        <p:nvSpPr>
          <p:cNvPr id="12" name="AutoShape 12"/>
          <p:cNvSpPr txBox="1"/>
          <p:nvPr/>
        </p:nvSpPr>
        <p:spPr>
          <a:xfrm>
            <a:off x="508000" y="5969000"/>
            <a:ext cx="635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50000"/>
              </a:lnSpc>
              <a:defRPr/>
            </a:pPr>
            <a:r>
              <a:rPr lang="en-US" sz="1000" b="0" i="0" u="none" strike="noStrike">
                <a:solidFill>
                  <a:srgbClr val="7A766C"/>
                </a:solidFill>
                <a:latin typeface="MiSans" charset="-122"/>
                <a:ea typeface="MiSans" charset="-122"/>
                <a:cs typeface="MiSans" charset="-122"/>
                <a:sym typeface="MiSans" charset="-122"/>
              </a:rPr>
              <a:t>本项目不追求全自动：系统负责压缩与提示，最终判断权仍在操作人员。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7366000" y="1422400"/>
            <a:ext cx="50800" cy="177800"/>
          </a:xfrm>
          <a:prstGeom prst="roundRect">
            <a:avLst>
              <a:gd name="adj" fmla="val 0"/>
            </a:avLst>
          </a:prstGeom>
          <a:solidFill>
            <a:srgbClr val="C46A2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 anchorCtr="0"/>
          <a:lstStyle/>
          <a:p>
            <a:pPr algn="ctr">
              <a:defRPr/>
            </a:pPr>
          </a:p>
        </p:txBody>
      </p:sp>
      <p:sp>
        <p:nvSpPr>
          <p:cNvPr id="14" name="AutoShape 14"/>
          <p:cNvSpPr txBox="1"/>
          <p:nvPr/>
        </p:nvSpPr>
        <p:spPr>
          <a:xfrm>
            <a:off x="7518400" y="1397000"/>
            <a:ext cx="2540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1" i="0" u="none" strike="noStrike">
                <a:solidFill>
                  <a:srgbClr val="2C2A26"/>
                </a:solidFill>
                <a:latin typeface="MiSans" charset="-122"/>
                <a:ea typeface="MiSans" charset="-122"/>
                <a:cs typeface="MiSans" charset="-122"/>
                <a:sym typeface="MiSans" charset="-122"/>
              </a:rPr>
              <a:t>项目的价值</a:t>
            </a:r>
            <a:endParaRPr lang="en-US" sz="1100"/>
          </a:p>
        </p:txBody>
      </p:sp>
      <p:graphicFrame>
        <p:nvGraphicFramePr>
          <p:cNvPr id="15" name="Table 15"/>
          <p:cNvGraphicFramePr>
            <a:graphicFrameLocks noGrp="1"/>
          </p:cNvGraphicFramePr>
          <p:nvPr/>
        </p:nvGraphicFramePr>
        <p:xfrm>
          <a:off x="7366000" y="1727200"/>
          <a:ext cx="4318000" cy="24130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1122680"/>
                <a:gridCol w="3195320"/>
              </a:tblGrid>
              <a:tr h="386080"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受益方</a:t>
                      </a:r>
                      <a:endParaRPr lang="en-US" sz="1100"/>
                    </a:p>
                  </a:txBody>
                  <a:tcPr anchor="t" anchorCtr="0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56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收益</a:t>
                      </a:r>
                      <a:endParaRPr lang="en-US" sz="1100"/>
                    </a:p>
                  </a:txBody>
                  <a:tcPr anchor="t" anchorCtr="0">
                    <a:lnL>
                      <a:noFill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56">
                        <a:alpha val="100000"/>
                      </a:srgbClr>
                    </a:solidFill>
                  </a:tcPr>
                </a:tc>
              </a:tr>
              <a:tr h="675640"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000" b="1" i="0" u="none" strike="noStrike">
                          <a:solidFill>
                            <a:srgbClr val="2C2A26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操作人员</a:t>
                      </a:r>
                      <a:endParaRPr lang="en-US" sz="1100"/>
                    </a:p>
                  </a:txBody>
                  <a:tcPr anchor="t" anchorCtr="0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000" b="0" i="0" u="none" strike="noStrike">
                          <a:solidFill>
                            <a:srgbClr val="2C2A26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面对数十组有意义的报警，而非数千条原始报警</a:t>
                      </a:r>
                      <a:endParaRPr lang="en-US" sz="1100"/>
                    </a:p>
                  </a:txBody>
                  <a:tcPr anchor="t" anchorCtr="0">
                    <a:lnL>
                      <a:noFill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675640"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000" b="1" i="0" u="none" strike="noStrike">
                          <a:solidFill>
                            <a:srgbClr val="2C2A26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装置运行</a:t>
                      </a:r>
                      <a:endParaRPr lang="en-US" sz="1100"/>
                    </a:p>
                  </a:txBody>
                  <a:tcPr anchor="t" anchorCtr="0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000" b="0" i="0" u="none" strike="noStrike">
                          <a:solidFill>
                            <a:srgbClr val="2C2A26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缩短从异常发生到定位问题点的时间，减少非计划停机时长</a:t>
                      </a:r>
                      <a:endParaRPr lang="en-US" sz="1100"/>
                    </a:p>
                  </a:txBody>
                  <a:tcPr anchor="t" anchorCtr="0">
                    <a:lnL>
                      <a:noFill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675640"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000" b="1" i="0" u="none" strike="noStrike">
                          <a:solidFill>
                            <a:srgbClr val="2C2A26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工厂投入</a:t>
                      </a:r>
                      <a:endParaRPr lang="en-US" sz="1100"/>
                    </a:p>
                  </a:txBody>
                  <a:tcPr anchor="t" anchorCtr="0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000" b="0" i="0" u="none" strike="noStrike">
                          <a:solidFill>
                            <a:srgbClr val="2C2A26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无需采购商用报警管理套件，先用公开数据与开源工具验证可行性</a:t>
                      </a:r>
                      <a:endParaRPr lang="en-US" sz="1100"/>
                    </a:p>
                  </a:txBody>
                  <a:tcPr anchor="t" anchorCtr="0">
                    <a:lnL>
                      <a:noFill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6" name="AutoShape 16"/>
          <p:cNvSpPr/>
          <p:nvPr/>
        </p:nvSpPr>
        <p:spPr>
          <a:xfrm>
            <a:off x="7366000" y="4521200"/>
            <a:ext cx="50800" cy="1117600"/>
          </a:xfrm>
          <a:prstGeom prst="roundRect">
            <a:avLst>
              <a:gd name="adj" fmla="val 0"/>
            </a:avLst>
          </a:prstGeom>
          <a:solidFill>
            <a:srgbClr val="1F4E5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 anchorCtr="0"/>
          <a:lstStyle/>
          <a:p>
            <a:pPr algn="ctr">
              <a:defRPr/>
            </a:pPr>
          </a:p>
        </p:txBody>
      </p:sp>
      <p:sp>
        <p:nvSpPr>
          <p:cNvPr id="17" name="AutoShape 17"/>
          <p:cNvSpPr txBox="1"/>
          <p:nvPr/>
        </p:nvSpPr>
        <p:spPr>
          <a:xfrm>
            <a:off x="7569200" y="4521200"/>
            <a:ext cx="41148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200" b="1" i="0" u="none" strike="noStrike">
                <a:solidFill>
                  <a:srgbClr val="1F4E56"/>
                </a:solidFill>
                <a:latin typeface="MiSans" charset="-122"/>
                <a:ea typeface="MiSans" charset="-122"/>
                <a:cs typeface="MiSans" charset="-122"/>
                <a:sym typeface="MiSans" charset="-122"/>
              </a:rPr>
              <a:t>本项目的定位</a:t>
            </a:r>
            <a:endParaRPr lang="en-US" sz="1100"/>
          </a:p>
        </p:txBody>
      </p:sp>
      <p:sp>
        <p:nvSpPr>
          <p:cNvPr id="18" name="AutoShape 18"/>
          <p:cNvSpPr txBox="1"/>
          <p:nvPr/>
        </p:nvSpPr>
        <p:spPr>
          <a:xfrm>
            <a:off x="7569200" y="4800600"/>
            <a:ext cx="4114800" cy="838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50000"/>
              </a:lnSpc>
              <a:defRPr/>
            </a:pPr>
            <a:r>
              <a:rPr lang="en-US" sz="1100" b="0" i="0" u="none" strike="noStrike">
                <a:solidFill>
                  <a:srgbClr val="2C2A26"/>
                </a:solidFill>
                <a:latin typeface="MiSans" charset="-122"/>
                <a:ea typeface="MiSans" charset="-122"/>
                <a:cs typeface="MiSans" charset="-122"/>
                <a:sym typeface="MiSans" charset="-122"/>
              </a:rPr>
              <a:t>把过量报警自动压缩，并指出问题最可能从哪个测点开始——先压缩、再定位、最后由人判断。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7366000" y="5969000"/>
            <a:ext cx="4318000" cy="12700"/>
          </a:xfrm>
          <a:prstGeom prst="roundRect">
            <a:avLst>
              <a:gd name="adj" fmla="val 0"/>
            </a:avLst>
          </a:prstGeom>
          <a:solidFill>
            <a:srgbClr val="DDD9C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 anchorCtr="0"/>
          <a:lstStyle/>
          <a:p>
            <a:pPr algn="ctr">
              <a:defRPr/>
            </a:pPr>
          </a:p>
        </p:txBody>
      </p:sp>
      <p:sp>
        <p:nvSpPr>
          <p:cNvPr id="20" name="AutoShape 20"/>
          <p:cNvSpPr txBox="1"/>
          <p:nvPr/>
        </p:nvSpPr>
        <p:spPr>
          <a:xfrm>
            <a:off x="7366000" y="6096000"/>
            <a:ext cx="431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42000"/>
              </a:lnSpc>
              <a:defRPr/>
            </a:pPr>
            <a:r>
              <a:rPr lang="en-US" sz="900" b="0" i="0" u="none" strike="noStrike">
                <a:solidFill>
                  <a:srgbClr val="7A766C"/>
                </a:solidFill>
                <a:latin typeface="MiSans" charset="-122"/>
                <a:ea typeface="MiSans" charset="-122"/>
                <a:cs typeface="MiSans" charset="-122"/>
                <a:sym typeface="MiSans" charset="-122"/>
              </a:rPr>
              <a:t>数据来源：TEP 公开数据集；工具链：开源组件，无商用软件采购。</a:t>
            </a: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6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 txBox="1"/>
          <p:nvPr/>
        </p:nvSpPr>
        <p:spPr>
          <a:xfrm>
            <a:off x="508000" y="304800"/>
            <a:ext cx="38100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000" b="0" i="0" u="none" strike="noStrike" spc="200">
                <a:solidFill>
                  <a:srgbClr val="7A766C"/>
                </a:solidFill>
                <a:latin typeface="MiSans" charset="-122"/>
                <a:ea typeface="MiSans" charset="-122"/>
                <a:cs typeface="MiSans" charset="-122"/>
                <a:sym typeface="MiSans" charset="-122"/>
              </a:rPr>
              <a:t>讨论 3 · 项目计划</a:t>
            </a:r>
            <a:endParaRPr lang="en-US" sz="1100"/>
          </a:p>
        </p:txBody>
      </p:sp>
      <p:sp>
        <p:nvSpPr>
          <p:cNvPr id="3" name="AutoShape 3"/>
          <p:cNvSpPr txBox="1"/>
          <p:nvPr/>
        </p:nvSpPr>
        <p:spPr>
          <a:xfrm>
            <a:off x="10922000" y="304800"/>
            <a:ext cx="7620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r">
              <a:lnSpc>
                <a:spcPct val="117000"/>
              </a:lnSpc>
              <a:defRPr/>
            </a:pPr>
            <a:r>
              <a:rPr lang="en-US" sz="1000" b="0" i="0" u="none" strike="noStrike">
                <a:solidFill>
                  <a:srgbClr val="7A766C"/>
                </a:solidFill>
                <a:latin typeface="MiSans" charset="-122"/>
                <a:ea typeface="MiSans" charset="-122"/>
                <a:cs typeface="MiSans" charset="-122"/>
                <a:sym typeface="MiSans" charset="-122"/>
              </a:rPr>
              <a:t>03 / 13</a:t>
            </a:r>
            <a:endParaRPr lang="en-US" sz="1100"/>
          </a:p>
        </p:txBody>
      </p:sp>
      <p:sp>
        <p:nvSpPr>
          <p:cNvPr id="4" name="AutoShape 4"/>
          <p:cNvSpPr txBox="1"/>
          <p:nvPr/>
        </p:nvSpPr>
        <p:spPr>
          <a:xfrm>
            <a:off x="508000" y="558800"/>
            <a:ext cx="11176000" cy="431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2400" b="1" i="0" u="none" strike="noStrike">
                <a:solidFill>
                  <a:srgbClr val="1F4E56"/>
                </a:solidFill>
                <a:latin typeface="MiSans" charset="-122"/>
                <a:ea typeface="MiSans" charset="-122"/>
                <a:cs typeface="MiSans" charset="-122"/>
                <a:sym typeface="MiSans" charset="-122"/>
              </a:rPr>
              <a:t>项目功能：一条处理流水线 + 一个展示层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508000" y="1117600"/>
            <a:ext cx="11176000" cy="12700"/>
          </a:xfrm>
          <a:prstGeom prst="roundRect">
            <a:avLst>
              <a:gd name="adj" fmla="val 0"/>
            </a:avLst>
          </a:prstGeom>
          <a:solidFill>
            <a:srgbClr val="DDD9C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 anchorCtr="0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>
            <p:custDataLst>
              <p:tags r:id="rId1"/>
            </p:custDataLst>
          </p:nvPr>
        </p:nvSpPr>
        <p:spPr>
          <a:xfrm>
            <a:off x="508000" y="1905000"/>
            <a:ext cx="2413000" cy="76200"/>
          </a:xfrm>
          <a:prstGeom prst="roundRect">
            <a:avLst>
              <a:gd name="adj" fmla="val 0"/>
            </a:avLst>
          </a:prstGeom>
          <a:solidFill>
            <a:srgbClr val="7A766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 anchorCtr="0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>
            <p:custDataLst>
              <p:tags r:id="rId2"/>
            </p:custDataLst>
          </p:nvPr>
        </p:nvSpPr>
        <p:spPr>
          <a:xfrm>
            <a:off x="508000" y="1981200"/>
            <a:ext cx="2413000" cy="1905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DDD9CF">
                <a:alpha val="100000"/>
              </a:srgbClr>
            </a:solidFill>
            <a:prstDash val="solid"/>
            <a:miter lim="1000000"/>
          </a:ln>
        </p:spPr>
        <p:txBody>
          <a:bodyPr vert="horz" wrap="square" lIns="91440" tIns="45720" rIns="91440" bIns="45720" rtlCol="0" anchor="t" anchorCtr="0"/>
          <a:lstStyle/>
          <a:p>
            <a:pPr algn="ctr">
              <a:defRPr/>
            </a:pPr>
          </a:p>
        </p:txBody>
      </p:sp>
      <p:sp>
        <p:nvSpPr>
          <p:cNvPr id="8" name="AutoShape 8"/>
          <p:cNvSpPr txBox="1"/>
          <p:nvPr>
            <p:custDataLst>
              <p:tags r:id="rId3"/>
            </p:custDataLst>
          </p:nvPr>
        </p:nvSpPr>
        <p:spPr>
          <a:xfrm>
            <a:off x="685800" y="2133600"/>
            <a:ext cx="2159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1" i="0" u="none" strike="noStrike">
                <a:solidFill>
                  <a:srgbClr val="2C2A26"/>
                </a:solidFill>
                <a:latin typeface="MiSans" charset="-122"/>
                <a:ea typeface="MiSans" charset="-122"/>
                <a:cs typeface="MiSans" charset="-122"/>
                <a:sym typeface="MiSans" charset="-122"/>
              </a:rPr>
              <a:t>① 报警日志生成</a:t>
            </a:r>
            <a:endParaRPr lang="en-US" sz="1100"/>
          </a:p>
        </p:txBody>
      </p:sp>
      <p:sp>
        <p:nvSpPr>
          <p:cNvPr id="9" name="AutoShape 9"/>
          <p:cNvSpPr txBox="1"/>
          <p:nvPr>
            <p:custDataLst>
              <p:tags r:id="rId4"/>
            </p:custDataLst>
          </p:nvPr>
        </p:nvSpPr>
        <p:spPr>
          <a:xfrm>
            <a:off x="685800" y="2463800"/>
            <a:ext cx="20828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42000"/>
              </a:lnSpc>
              <a:defRPr/>
            </a:pPr>
            <a:r>
              <a:rPr lang="en-US" sz="1000" b="0" i="0" u="none" strike="noStrike">
                <a:solidFill>
                  <a:srgbClr val="2C2A26"/>
                </a:solidFill>
                <a:latin typeface="MiSans" charset="-122"/>
                <a:ea typeface="MiSans" charset="-122"/>
                <a:cs typeface="MiSans" charset="-122"/>
                <a:sym typeface="MiSans" charset="-122"/>
              </a:rPr>
              <a:t>按测量点上下限判定越限，生成报警记录，并注入抖动报警与重复报警。</a:t>
            </a:r>
            <a:endParaRPr lang="en-US" sz="1100"/>
          </a:p>
        </p:txBody>
      </p:sp>
      <p:sp>
        <p:nvSpPr>
          <p:cNvPr id="10" name="AutoShape 10"/>
          <p:cNvSpPr txBox="1"/>
          <p:nvPr>
            <p:custDataLst>
              <p:tags r:id="rId5"/>
            </p:custDataLst>
          </p:nvPr>
        </p:nvSpPr>
        <p:spPr>
          <a:xfrm>
            <a:off x="685800" y="3454400"/>
            <a:ext cx="20828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000" b="0" i="0" u="none" strike="noStrike">
                <a:solidFill>
                  <a:srgbClr val="7A766C"/>
                </a:solidFill>
                <a:latin typeface="MiSans" charset="-122"/>
                <a:ea typeface="MiSans" charset="-122"/>
                <a:cs typeface="MiSans" charset="-122"/>
                <a:sym typeface="MiSans" charset="-122"/>
              </a:rPr>
              <a:t>产出：报警日志表</a:t>
            </a:r>
            <a:endParaRPr lang="en-US" sz="1100"/>
          </a:p>
        </p:txBody>
      </p:sp>
      <p:sp>
        <p:nvSpPr>
          <p:cNvPr id="11" name="Freeform 11"/>
          <p:cNvSpPr/>
          <p:nvPr>
            <p:custDataLst>
              <p:tags r:id="rId6"/>
            </p:custDataLst>
          </p:nvPr>
        </p:nvSpPr>
        <p:spPr>
          <a:xfrm>
            <a:off x="2971800" y="2895600"/>
            <a:ext cx="482600" cy="0"/>
          </a:xfrm>
          <a:custGeom>
            <a:avLst/>
            <a:gdLst/>
            <a:ahLst/>
            <a:cxnLst/>
            <a:rect l="l" t="t" r="r" b="b"/>
            <a:pathLst>
              <a:path w="482600">
                <a:moveTo>
                  <a:pt x="0" y="0"/>
                </a:moveTo>
                <a:lnTo>
                  <a:pt x="482600" y="0"/>
                </a:lnTo>
              </a:path>
            </a:pathLst>
          </a:custGeom>
          <a:noFill/>
          <a:ln w="25400" cap="rnd" cmpd="sng">
            <a:solidFill>
              <a:srgbClr val="1F4E56">
                <a:alpha val="100000"/>
              </a:srgbClr>
            </a:solidFill>
            <a:prstDash val="solid"/>
            <a:round/>
          </a:ln>
        </p:spPr>
        <p:txBody>
          <a:bodyPr vert="horz" wrap="square" lIns="91440" tIns="45720" rIns="91440" bIns="45720" rtlCol="0" anchor="t" anchorCtr="0"/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>
            <p:custDataLst>
              <p:tags r:id="rId7"/>
            </p:custDataLst>
          </p:nvPr>
        </p:nvSpPr>
        <p:spPr>
          <a:xfrm>
            <a:off x="3505200" y="1905000"/>
            <a:ext cx="2413000" cy="76200"/>
          </a:xfrm>
          <a:prstGeom prst="roundRect">
            <a:avLst>
              <a:gd name="adj" fmla="val 0"/>
            </a:avLst>
          </a:prstGeom>
          <a:solidFill>
            <a:srgbClr val="1F4E5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 anchorCtr="0"/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>
            <p:custDataLst>
              <p:tags r:id="rId8"/>
            </p:custDataLst>
          </p:nvPr>
        </p:nvSpPr>
        <p:spPr>
          <a:xfrm>
            <a:off x="3505200" y="1981200"/>
            <a:ext cx="2413000" cy="1905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1F4E56">
                <a:alpha val="100000"/>
              </a:srgbClr>
            </a:solidFill>
            <a:prstDash val="solid"/>
            <a:miter lim="1000000"/>
          </a:ln>
        </p:spPr>
        <p:txBody>
          <a:bodyPr vert="horz" wrap="square" lIns="91440" tIns="45720" rIns="91440" bIns="45720" rtlCol="0" anchor="t" anchorCtr="0"/>
          <a:lstStyle/>
          <a:p>
            <a:pPr algn="ctr">
              <a:defRPr/>
            </a:pPr>
          </a:p>
        </p:txBody>
      </p:sp>
      <p:sp>
        <p:nvSpPr>
          <p:cNvPr id="14" name="AutoShape 14"/>
          <p:cNvSpPr txBox="1"/>
          <p:nvPr>
            <p:custDataLst>
              <p:tags r:id="rId9"/>
            </p:custDataLst>
          </p:nvPr>
        </p:nvSpPr>
        <p:spPr>
          <a:xfrm>
            <a:off x="3683000" y="2133600"/>
            <a:ext cx="2159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1" i="0" u="none" strike="noStrike">
                <a:solidFill>
                  <a:srgbClr val="1F4E56"/>
                </a:solidFill>
                <a:latin typeface="MiSans" charset="-122"/>
                <a:ea typeface="MiSans" charset="-122"/>
                <a:cs typeface="MiSans" charset="-122"/>
                <a:sym typeface="MiSans" charset="-122"/>
              </a:rPr>
              <a:t>② 报警压缩</a:t>
            </a:r>
            <a:endParaRPr lang="en-US" sz="1100"/>
          </a:p>
        </p:txBody>
      </p:sp>
      <p:sp>
        <p:nvSpPr>
          <p:cNvPr id="15" name="AutoShape 15"/>
          <p:cNvSpPr txBox="1"/>
          <p:nvPr>
            <p:custDataLst>
              <p:tags r:id="rId10"/>
            </p:custDataLst>
          </p:nvPr>
        </p:nvSpPr>
        <p:spPr>
          <a:xfrm>
            <a:off x="3683000" y="2463800"/>
            <a:ext cx="20828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42000"/>
              </a:lnSpc>
              <a:defRPr/>
            </a:pPr>
            <a:r>
              <a:rPr lang="en-US" sz="1000" b="0" i="0" u="none" strike="noStrike">
                <a:solidFill>
                  <a:srgbClr val="2C2A26"/>
                </a:solidFill>
                <a:latin typeface="MiSans" charset="-122"/>
                <a:ea typeface="MiSans" charset="-122"/>
                <a:cs typeface="MiSans" charset="-122"/>
                <a:sym typeface="MiSans" charset="-122"/>
              </a:rPr>
              <a:t>把短时间内大量产生的报警，合并成数量很少的报警组。</a:t>
            </a:r>
            <a:endParaRPr lang="en-US" sz="1100"/>
          </a:p>
        </p:txBody>
      </p:sp>
      <p:sp>
        <p:nvSpPr>
          <p:cNvPr id="16" name="AutoShape 16"/>
          <p:cNvSpPr txBox="1"/>
          <p:nvPr>
            <p:custDataLst>
              <p:tags r:id="rId11"/>
            </p:custDataLst>
          </p:nvPr>
        </p:nvSpPr>
        <p:spPr>
          <a:xfrm>
            <a:off x="3683000" y="3454400"/>
            <a:ext cx="20828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000" b="0" i="0" u="none" strike="noStrike">
                <a:solidFill>
                  <a:srgbClr val="7A766C"/>
                </a:solidFill>
                <a:latin typeface="MiSans" charset="-122"/>
                <a:ea typeface="MiSans" charset="-122"/>
                <a:cs typeface="MiSans" charset="-122"/>
                <a:sym typeface="MiSans" charset="-122"/>
              </a:rPr>
              <a:t>产出：报警组表</a:t>
            </a:r>
            <a:endParaRPr lang="en-US" sz="1100"/>
          </a:p>
        </p:txBody>
      </p:sp>
      <p:sp>
        <p:nvSpPr>
          <p:cNvPr id="17" name="Freeform 17"/>
          <p:cNvSpPr/>
          <p:nvPr>
            <p:custDataLst>
              <p:tags r:id="rId12"/>
            </p:custDataLst>
          </p:nvPr>
        </p:nvSpPr>
        <p:spPr>
          <a:xfrm>
            <a:off x="5969000" y="2895600"/>
            <a:ext cx="482600" cy="0"/>
          </a:xfrm>
          <a:custGeom>
            <a:avLst/>
            <a:gdLst/>
            <a:ahLst/>
            <a:cxnLst/>
            <a:rect l="l" t="t" r="r" b="b"/>
            <a:pathLst>
              <a:path w="482600">
                <a:moveTo>
                  <a:pt x="0" y="0"/>
                </a:moveTo>
                <a:lnTo>
                  <a:pt x="482600" y="0"/>
                </a:lnTo>
              </a:path>
            </a:pathLst>
          </a:custGeom>
          <a:noFill/>
          <a:ln w="25400" cap="rnd" cmpd="sng">
            <a:solidFill>
              <a:srgbClr val="1F4E56">
                <a:alpha val="100000"/>
              </a:srgbClr>
            </a:solidFill>
            <a:prstDash val="solid"/>
            <a:round/>
          </a:ln>
        </p:spPr>
        <p:txBody>
          <a:bodyPr vert="horz" wrap="square" lIns="91440" tIns="45720" rIns="91440" bIns="45720" rtlCol="0" anchor="t" anchorCtr="0"/>
          <a:lstStyle/>
          <a:p>
            <a:pPr algn="ctr">
              <a:defRPr/>
            </a:pPr>
          </a:p>
        </p:txBody>
      </p:sp>
      <p:sp>
        <p:nvSpPr>
          <p:cNvPr id="18" name="AutoShape 18"/>
          <p:cNvSpPr/>
          <p:nvPr>
            <p:custDataLst>
              <p:tags r:id="rId13"/>
            </p:custDataLst>
          </p:nvPr>
        </p:nvSpPr>
        <p:spPr>
          <a:xfrm>
            <a:off x="6502400" y="1905000"/>
            <a:ext cx="2413000" cy="76200"/>
          </a:xfrm>
          <a:prstGeom prst="roundRect">
            <a:avLst>
              <a:gd name="adj" fmla="val 0"/>
            </a:avLst>
          </a:prstGeom>
          <a:solidFill>
            <a:srgbClr val="1F4E5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 anchorCtr="0"/>
          <a:lstStyle/>
          <a:p>
            <a:pPr algn="ctr">
              <a:defRPr/>
            </a:pPr>
          </a:p>
        </p:txBody>
      </p:sp>
      <p:sp>
        <p:nvSpPr>
          <p:cNvPr id="19" name="AutoShape 19"/>
          <p:cNvSpPr/>
          <p:nvPr>
            <p:custDataLst>
              <p:tags r:id="rId14"/>
            </p:custDataLst>
          </p:nvPr>
        </p:nvSpPr>
        <p:spPr>
          <a:xfrm>
            <a:off x="6502400" y="1981200"/>
            <a:ext cx="2413000" cy="1905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1F4E56">
                <a:alpha val="100000"/>
              </a:srgbClr>
            </a:solidFill>
            <a:prstDash val="solid"/>
            <a:miter lim="1000000"/>
          </a:ln>
        </p:spPr>
        <p:txBody>
          <a:bodyPr vert="horz" wrap="square" lIns="91440" tIns="45720" rIns="91440" bIns="45720" rtlCol="0" anchor="t" anchorCtr="0"/>
          <a:lstStyle/>
          <a:p>
            <a:pPr algn="ctr">
              <a:defRPr/>
            </a:pPr>
          </a:p>
        </p:txBody>
      </p:sp>
      <p:sp>
        <p:nvSpPr>
          <p:cNvPr id="20" name="AutoShape 20"/>
          <p:cNvSpPr txBox="1"/>
          <p:nvPr>
            <p:custDataLst>
              <p:tags r:id="rId15"/>
            </p:custDataLst>
          </p:nvPr>
        </p:nvSpPr>
        <p:spPr>
          <a:xfrm>
            <a:off x="6680200" y="2133600"/>
            <a:ext cx="2159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1" i="0" u="none" strike="noStrike">
                <a:solidFill>
                  <a:srgbClr val="1F4E56"/>
                </a:solidFill>
                <a:latin typeface="MiSans" charset="-122"/>
                <a:ea typeface="MiSans" charset="-122"/>
                <a:cs typeface="MiSans" charset="-122"/>
                <a:sym typeface="MiSans" charset="-122"/>
              </a:rPr>
              <a:t>③ 源头定位</a:t>
            </a:r>
            <a:endParaRPr lang="en-US" sz="1100"/>
          </a:p>
        </p:txBody>
      </p:sp>
      <p:sp>
        <p:nvSpPr>
          <p:cNvPr id="21" name="AutoShape 21"/>
          <p:cNvSpPr txBox="1"/>
          <p:nvPr>
            <p:custDataLst>
              <p:tags r:id="rId16"/>
            </p:custDataLst>
          </p:nvPr>
        </p:nvSpPr>
        <p:spPr>
          <a:xfrm>
            <a:off x="6680200" y="2463800"/>
            <a:ext cx="20828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42000"/>
              </a:lnSpc>
              <a:defRPr/>
            </a:pPr>
            <a:r>
              <a:rPr lang="en-US" sz="1000" b="0" i="0" u="none" strike="noStrike">
                <a:solidFill>
                  <a:srgbClr val="2C2A26"/>
                </a:solidFill>
                <a:latin typeface="MiSans" charset="-122"/>
                <a:ea typeface="MiSans" charset="-122"/>
                <a:cs typeface="MiSans" charset="-122"/>
                <a:sym typeface="MiSans" charset="-122"/>
              </a:rPr>
              <a:t>指出每组报警最可能从哪个测量点开始，给出排序前三的候选。</a:t>
            </a:r>
            <a:endParaRPr lang="en-US" sz="1100"/>
          </a:p>
        </p:txBody>
      </p:sp>
      <p:sp>
        <p:nvSpPr>
          <p:cNvPr id="22" name="AutoShape 22"/>
          <p:cNvSpPr txBox="1"/>
          <p:nvPr>
            <p:custDataLst>
              <p:tags r:id="rId17"/>
            </p:custDataLst>
          </p:nvPr>
        </p:nvSpPr>
        <p:spPr>
          <a:xfrm>
            <a:off x="6680200" y="3454400"/>
            <a:ext cx="20828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000" b="0" i="0" u="none" strike="noStrike">
                <a:solidFill>
                  <a:srgbClr val="7A766C"/>
                </a:solidFill>
                <a:latin typeface="MiSans" charset="-122"/>
                <a:ea typeface="MiSans" charset="-122"/>
                <a:cs typeface="MiSans" charset="-122"/>
                <a:sym typeface="MiSans" charset="-122"/>
              </a:rPr>
              <a:t>产出：根因 Top-3 表</a:t>
            </a:r>
            <a:endParaRPr lang="en-US" sz="1100"/>
          </a:p>
        </p:txBody>
      </p:sp>
      <p:sp>
        <p:nvSpPr>
          <p:cNvPr id="23" name="Freeform 23"/>
          <p:cNvSpPr/>
          <p:nvPr>
            <p:custDataLst>
              <p:tags r:id="rId18"/>
            </p:custDataLst>
          </p:nvPr>
        </p:nvSpPr>
        <p:spPr>
          <a:xfrm>
            <a:off x="8966200" y="2895600"/>
            <a:ext cx="482600" cy="0"/>
          </a:xfrm>
          <a:custGeom>
            <a:avLst/>
            <a:gdLst/>
            <a:ahLst/>
            <a:cxnLst/>
            <a:rect l="l" t="t" r="r" b="b"/>
            <a:pathLst>
              <a:path w="482600">
                <a:moveTo>
                  <a:pt x="0" y="0"/>
                </a:moveTo>
                <a:lnTo>
                  <a:pt x="482600" y="0"/>
                </a:lnTo>
              </a:path>
            </a:pathLst>
          </a:custGeom>
          <a:noFill/>
          <a:ln w="25400" cap="rnd" cmpd="sng">
            <a:solidFill>
              <a:srgbClr val="1F4E56">
                <a:alpha val="100000"/>
              </a:srgbClr>
            </a:solidFill>
            <a:prstDash val="solid"/>
            <a:round/>
          </a:ln>
        </p:spPr>
        <p:txBody>
          <a:bodyPr vert="horz" wrap="square" lIns="91440" tIns="45720" rIns="91440" bIns="45720" rtlCol="0" anchor="t" anchorCtr="0"/>
          <a:lstStyle/>
          <a:p>
            <a:pPr algn="ctr">
              <a:defRPr/>
            </a:pPr>
          </a:p>
        </p:txBody>
      </p:sp>
      <p:sp>
        <p:nvSpPr>
          <p:cNvPr id="24" name="AutoShape 24"/>
          <p:cNvSpPr/>
          <p:nvPr>
            <p:custDataLst>
              <p:tags r:id="rId19"/>
            </p:custDataLst>
          </p:nvPr>
        </p:nvSpPr>
        <p:spPr>
          <a:xfrm>
            <a:off x="9499600" y="1905000"/>
            <a:ext cx="2184400" cy="76200"/>
          </a:xfrm>
          <a:prstGeom prst="roundRect">
            <a:avLst>
              <a:gd name="adj" fmla="val 0"/>
            </a:avLst>
          </a:prstGeom>
          <a:solidFill>
            <a:srgbClr val="C46A2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 anchorCtr="0"/>
          <a:lstStyle/>
          <a:p>
            <a:pPr algn="ctr">
              <a:defRPr/>
            </a:pPr>
          </a:p>
        </p:txBody>
      </p:sp>
      <p:sp>
        <p:nvSpPr>
          <p:cNvPr id="25" name="AutoShape 25"/>
          <p:cNvSpPr/>
          <p:nvPr>
            <p:custDataLst>
              <p:tags r:id="rId20"/>
            </p:custDataLst>
          </p:nvPr>
        </p:nvSpPr>
        <p:spPr>
          <a:xfrm>
            <a:off x="9499600" y="1981200"/>
            <a:ext cx="2184400" cy="1905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DDD9CF">
                <a:alpha val="100000"/>
              </a:srgbClr>
            </a:solidFill>
            <a:prstDash val="solid"/>
            <a:miter lim="1000000"/>
          </a:ln>
        </p:spPr>
        <p:txBody>
          <a:bodyPr vert="horz" wrap="square" lIns="91440" tIns="45720" rIns="91440" bIns="45720" rtlCol="0" anchor="t" anchorCtr="0"/>
          <a:lstStyle/>
          <a:p>
            <a:pPr algn="ctr">
              <a:defRPr/>
            </a:pPr>
          </a:p>
        </p:txBody>
      </p:sp>
      <p:sp>
        <p:nvSpPr>
          <p:cNvPr id="26" name="AutoShape 26"/>
          <p:cNvSpPr txBox="1"/>
          <p:nvPr>
            <p:custDataLst>
              <p:tags r:id="rId21"/>
            </p:custDataLst>
          </p:nvPr>
        </p:nvSpPr>
        <p:spPr>
          <a:xfrm>
            <a:off x="9677400" y="2133600"/>
            <a:ext cx="1905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1" i="0" u="none" strike="noStrike">
                <a:solidFill>
                  <a:srgbClr val="2C2A26"/>
                </a:solidFill>
                <a:latin typeface="MiSans" charset="-122"/>
                <a:ea typeface="MiSans" charset="-122"/>
                <a:cs typeface="MiSans" charset="-122"/>
                <a:sym typeface="MiSans" charset="-122"/>
              </a:rPr>
              <a:t>④ 可视化看板</a:t>
            </a:r>
            <a:endParaRPr lang="en-US" sz="1100"/>
          </a:p>
        </p:txBody>
      </p:sp>
      <p:sp>
        <p:nvSpPr>
          <p:cNvPr id="27" name="AutoShape 27"/>
          <p:cNvSpPr txBox="1"/>
          <p:nvPr>
            <p:custDataLst>
              <p:tags r:id="rId22"/>
            </p:custDataLst>
          </p:nvPr>
        </p:nvSpPr>
        <p:spPr>
          <a:xfrm>
            <a:off x="9677400" y="2463800"/>
            <a:ext cx="18796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42000"/>
              </a:lnSpc>
              <a:defRPr/>
            </a:pPr>
            <a:r>
              <a:rPr lang="en-US" sz="1000" b="0" i="0" u="none" strike="noStrike">
                <a:solidFill>
                  <a:srgbClr val="2C2A26"/>
                </a:solidFill>
                <a:latin typeface="MiSans" charset="-122"/>
                <a:ea typeface="MiSans" charset="-122"/>
                <a:cs typeface="MiSans" charset="-122"/>
                <a:sym typeface="MiSans" charset="-122"/>
              </a:rPr>
              <a:t>把前三步的结果做成网页，用于现场演示。</a:t>
            </a:r>
            <a:endParaRPr lang="en-US" sz="1100"/>
          </a:p>
        </p:txBody>
      </p:sp>
      <p:sp>
        <p:nvSpPr>
          <p:cNvPr id="28" name="AutoShape 28"/>
          <p:cNvSpPr txBox="1"/>
          <p:nvPr>
            <p:custDataLst>
              <p:tags r:id="rId23"/>
            </p:custDataLst>
          </p:nvPr>
        </p:nvSpPr>
        <p:spPr>
          <a:xfrm>
            <a:off x="9677400" y="3454400"/>
            <a:ext cx="18796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000" b="0" i="0" u="none" strike="noStrike">
                <a:solidFill>
                  <a:srgbClr val="7A766C"/>
                </a:solidFill>
                <a:latin typeface="MiSans" charset="-122"/>
                <a:ea typeface="MiSans" charset="-122"/>
                <a:cs typeface="MiSans" charset="-122"/>
                <a:sym typeface="MiSans" charset="-122"/>
              </a:rPr>
              <a:t>产出：三个视图页面</a:t>
            </a:r>
            <a:endParaRPr lang="en-US" sz="1100"/>
          </a:p>
        </p:txBody>
      </p:sp>
      <p:sp>
        <p:nvSpPr>
          <p:cNvPr id="29" name="AutoShape 29"/>
          <p:cNvSpPr/>
          <p:nvPr/>
        </p:nvSpPr>
        <p:spPr>
          <a:xfrm>
            <a:off x="508000" y="4267200"/>
            <a:ext cx="11176000" cy="12700"/>
          </a:xfrm>
          <a:prstGeom prst="roundRect">
            <a:avLst>
              <a:gd name="adj" fmla="val 0"/>
            </a:avLst>
          </a:prstGeom>
          <a:solidFill>
            <a:srgbClr val="DDD9C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 anchorCtr="0"/>
          <a:lstStyle/>
          <a:p>
            <a:pPr algn="ctr">
              <a:defRPr/>
            </a:pPr>
          </a:p>
        </p:txBody>
      </p:sp>
      <p:sp>
        <p:nvSpPr>
          <p:cNvPr id="30" name="AutoShape 30"/>
          <p:cNvSpPr txBox="1"/>
          <p:nvPr/>
        </p:nvSpPr>
        <p:spPr>
          <a:xfrm>
            <a:off x="508000" y="4470400"/>
            <a:ext cx="11176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67000"/>
              </a:lnSpc>
              <a:defRPr/>
            </a:pPr>
            <a:r>
              <a:rPr lang="en-US" sz="1150" b="0" i="0" u="none" strike="noStrike">
                <a:solidFill>
                  <a:srgbClr val="7A766C"/>
                </a:solidFill>
                <a:latin typeface="MiSans" charset="-122"/>
                <a:ea typeface="MiSans" charset="-122"/>
                <a:cs typeface="MiSans" charset="-122"/>
                <a:sym typeface="MiSans" charset="-122"/>
              </a:rPr>
              <a:t>■</a:t>
            </a:r>
            <a:r>
              <a:rPr lang="en-US" sz="1150" b="0" i="0" u="none" strike="noStrike">
                <a:solidFill>
                  <a:srgbClr val="2C2A26"/>
                </a:solidFill>
                <a:latin typeface="MiSans" charset="-122"/>
                <a:ea typeface="MiSans" charset="-122"/>
                <a:cs typeface="MiSans" charset="-122"/>
                <a:sym typeface="MiSans" charset="-122"/>
              </a:rPr>
              <a:t> 功能① 为数据基础：为压缩与定位提供输入数据</a:t>
            </a:r>
            <a:endParaRPr lang="en-US" sz="1100"/>
          </a:p>
          <a:p>
            <a:pPr marL="0" indent="0" algn="l">
              <a:lnSpc>
                <a:spcPct val="167000"/>
              </a:lnSpc>
            </a:pPr>
            <a:r>
              <a:rPr lang="en-US" sz="1150" b="0" i="0" u="none" strike="noStrike">
                <a:solidFill>
                  <a:srgbClr val="1F4E56"/>
                </a:solidFill>
                <a:latin typeface="MiSans" charset="-122"/>
                <a:ea typeface="MiSans" charset="-122"/>
                <a:cs typeface="MiSans" charset="-122"/>
                <a:sym typeface="MiSans" charset="-122"/>
              </a:rPr>
              <a:t>■</a:t>
            </a:r>
            <a:r>
              <a:rPr lang="en-US" sz="1150" b="0" i="0" u="none" strike="noStrike">
                <a:solidFill>
                  <a:srgbClr val="2C2A26"/>
                </a:solidFill>
                <a:latin typeface="MiSans" charset="-122"/>
                <a:ea typeface="MiSans" charset="-122"/>
                <a:cs typeface="MiSans" charset="-122"/>
                <a:sym typeface="MiSans" charset="-122"/>
              </a:rPr>
              <a:t> 功能② 与功能③ 是</a:t>
            </a:r>
            <a:r>
              <a:rPr lang="en-US" sz="1150" b="1" i="0" u="none" strike="noStrike">
                <a:solidFill>
                  <a:srgbClr val="2C2A26"/>
                </a:solidFill>
                <a:latin typeface="MiSans" charset="-122"/>
                <a:ea typeface="MiSans" charset="-122"/>
                <a:cs typeface="MiSans" charset="-122"/>
                <a:sym typeface="MiSans" charset="-122"/>
              </a:rPr>
              <a:t>项目主体</a:t>
            </a:r>
            <a:r>
              <a:rPr lang="en-US" sz="1150" b="0" i="0" u="none" strike="noStrike">
                <a:solidFill>
                  <a:srgbClr val="2C2A26"/>
                </a:solidFill>
                <a:latin typeface="MiSans" charset="-122"/>
                <a:ea typeface="MiSans" charset="-122"/>
                <a:cs typeface="MiSans" charset="-122"/>
                <a:sym typeface="MiSans" charset="-122"/>
              </a:rPr>
              <a:t>：压缩决定操作员看到多少报警，定位决定能否快速找到问题起点</a:t>
            </a:r>
            <a:endParaRPr lang="en-US" sz="1150" b="0" i="0" u="none" strike="noStrike">
              <a:solidFill>
                <a:srgbClr val="2C2A26"/>
              </a:solidFill>
              <a:latin typeface="MiSans" charset="-122"/>
              <a:ea typeface="MiSans" charset="-122"/>
              <a:cs typeface="MiSans" charset="-122"/>
              <a:sym typeface="MiSans" charset="-122"/>
            </a:endParaRPr>
          </a:p>
          <a:p>
            <a:pPr marL="0" indent="0" algn="l">
              <a:lnSpc>
                <a:spcPct val="167000"/>
              </a:lnSpc>
            </a:pPr>
            <a:r>
              <a:rPr lang="en-US" sz="1150" b="0" i="0" u="none" strike="noStrike">
                <a:solidFill>
                  <a:srgbClr val="C46A2B"/>
                </a:solidFill>
                <a:latin typeface="MiSans" charset="-122"/>
                <a:ea typeface="MiSans" charset="-122"/>
                <a:cs typeface="MiSans" charset="-122"/>
                <a:sym typeface="MiSans" charset="-122"/>
              </a:rPr>
              <a:t>■</a:t>
            </a:r>
            <a:r>
              <a:rPr lang="en-US" sz="1150" b="0" i="0" u="none" strike="noStrike">
                <a:solidFill>
                  <a:srgbClr val="2C2A26"/>
                </a:solidFill>
                <a:latin typeface="MiSans" charset="-122"/>
                <a:ea typeface="MiSans" charset="-122"/>
                <a:cs typeface="MiSans" charset="-122"/>
                <a:sym typeface="MiSans" charset="-122"/>
              </a:rPr>
              <a:t> 功能④ 是展示层：不改动数据，只呈现前三个功能的结果</a:t>
            </a:r>
            <a:endParaRPr lang="en-US" sz="1150" b="0" i="0" u="none" strike="noStrike">
              <a:solidFill>
                <a:srgbClr val="2C2A26"/>
              </a:solidFill>
              <a:latin typeface="MiSans" charset="-122"/>
              <a:ea typeface="MiSans" charset="-122"/>
              <a:cs typeface="MiSans" charset="-122"/>
              <a:sym typeface="MiSans" charset="-122"/>
            </a:endParaRPr>
          </a:p>
        </p:txBody>
      </p:sp>
      <p:sp>
        <p:nvSpPr>
          <p:cNvPr id="31" name="AutoShape 31"/>
          <p:cNvSpPr txBox="1"/>
          <p:nvPr/>
        </p:nvSpPr>
        <p:spPr>
          <a:xfrm>
            <a:off x="508000" y="6350000"/>
            <a:ext cx="111760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900" b="0" i="0" u="none" strike="noStrike">
                <a:solidFill>
                  <a:srgbClr val="7A766C"/>
                </a:solidFill>
                <a:latin typeface="MiSans" charset="-122"/>
                <a:ea typeface="MiSans" charset="-122"/>
                <a:cs typeface="MiSans" charset="-122"/>
                <a:sym typeface="MiSans" charset="-122"/>
              </a:rPr>
              <a:t>四项功能按数据处理顺序排列，前一功能的产出即后一功能的输入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6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 txBox="1"/>
          <p:nvPr/>
        </p:nvSpPr>
        <p:spPr>
          <a:xfrm>
            <a:off x="508000" y="304800"/>
            <a:ext cx="38100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000" b="0" i="0" u="none" strike="noStrike" spc="200">
                <a:solidFill>
                  <a:srgbClr val="7A766C"/>
                </a:solidFill>
                <a:latin typeface="MiSans" charset="-122"/>
                <a:ea typeface="MiSans" charset="-122"/>
                <a:cs typeface="MiSans" charset="-122"/>
                <a:sym typeface="MiSans" charset="-122"/>
              </a:rPr>
              <a:t>讨论 3 · 项目计划</a:t>
            </a:r>
            <a:endParaRPr lang="en-US" sz="1100"/>
          </a:p>
        </p:txBody>
      </p:sp>
      <p:sp>
        <p:nvSpPr>
          <p:cNvPr id="3" name="AutoShape 3"/>
          <p:cNvSpPr txBox="1"/>
          <p:nvPr/>
        </p:nvSpPr>
        <p:spPr>
          <a:xfrm>
            <a:off x="10922000" y="304800"/>
            <a:ext cx="7620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r">
              <a:lnSpc>
                <a:spcPct val="117000"/>
              </a:lnSpc>
              <a:defRPr/>
            </a:pPr>
            <a:r>
              <a:rPr lang="en-US" sz="1000" b="0" i="0" u="none" strike="noStrike">
                <a:solidFill>
                  <a:srgbClr val="7A766C"/>
                </a:solidFill>
                <a:latin typeface="MiSans" charset="-122"/>
                <a:ea typeface="MiSans" charset="-122"/>
                <a:cs typeface="MiSans" charset="-122"/>
                <a:sym typeface="MiSans" charset="-122"/>
              </a:rPr>
              <a:t>04 / 13</a:t>
            </a:r>
            <a:endParaRPr lang="en-US" sz="1100"/>
          </a:p>
        </p:txBody>
      </p:sp>
      <p:sp>
        <p:nvSpPr>
          <p:cNvPr id="4" name="AutoShape 4"/>
          <p:cNvSpPr txBox="1"/>
          <p:nvPr/>
        </p:nvSpPr>
        <p:spPr>
          <a:xfrm>
            <a:off x="508000" y="558800"/>
            <a:ext cx="11176000" cy="431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2400" b="1" i="0" u="none" strike="noStrike">
                <a:solidFill>
                  <a:srgbClr val="1F4E56"/>
                </a:solidFill>
                <a:latin typeface="MiSans" charset="-122"/>
                <a:ea typeface="MiSans" charset="-122"/>
                <a:cs typeface="MiSans" charset="-122"/>
                <a:sym typeface="MiSans" charset="-122"/>
              </a:rPr>
              <a:t>项目范围：16 条用户故事纳入 10 条，共 31 个故事点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508000" y="1117600"/>
            <a:ext cx="11176000" cy="12700"/>
          </a:xfrm>
          <a:prstGeom prst="roundRect">
            <a:avLst>
              <a:gd name="adj" fmla="val 0"/>
            </a:avLst>
          </a:prstGeom>
          <a:solidFill>
            <a:srgbClr val="DDD9C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 anchorCtr="0"/>
          <a:lstStyle/>
          <a:p>
            <a:pPr algn="ctr">
              <a:defRPr/>
            </a:pPr>
          </a:p>
        </p:txBody>
      </p:sp>
      <p:sp>
        <p:nvSpPr>
          <p:cNvPr id="6" name="AutoShape 6"/>
          <p:cNvSpPr txBox="1"/>
          <p:nvPr/>
        </p:nvSpPr>
        <p:spPr>
          <a:xfrm>
            <a:off x="508000" y="1244600"/>
            <a:ext cx="11176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100" b="0" i="0" u="none" strike="noStrike">
                <a:solidFill>
                  <a:srgbClr val="2C2A26"/>
                </a:solidFill>
                <a:latin typeface="MiSans" charset="-122"/>
                <a:ea typeface="MiSans" charset="-122"/>
                <a:cs typeface="MiSans" charset="-122"/>
                <a:sym typeface="MiSans" charset="-122"/>
              </a:rPr>
              <a:t>团队 </a:t>
            </a:r>
            <a:r>
              <a:rPr lang="en-US" sz="1100" b="1" i="0" u="none" strike="noStrike">
                <a:solidFill>
                  <a:srgbClr val="2C2A26"/>
                </a:solidFill>
                <a:latin typeface="MiSans" charset="-122"/>
                <a:ea typeface="MiSans" charset="-122"/>
                <a:cs typeface="MiSans" charset="-122"/>
                <a:sym typeface="MiSans" charset="-122"/>
              </a:rPr>
              <a:t>6 人</a:t>
            </a:r>
            <a:r>
              <a:rPr lang="en-US" sz="1100" b="0" i="0" u="none" strike="noStrike">
                <a:solidFill>
                  <a:srgbClr val="2C2A26"/>
                </a:solidFill>
                <a:latin typeface="MiSans" charset="-122"/>
                <a:ea typeface="MiSans" charset="-122"/>
                <a:cs typeface="MiSans" charset="-122"/>
                <a:sym typeface="MiSans" charset="-122"/>
              </a:rPr>
              <a:t> · </a:t>
            </a:r>
            <a:r>
              <a:rPr lang="en-US" sz="1100" b="1" i="0" u="none" strike="noStrike">
                <a:solidFill>
                  <a:srgbClr val="2C2A26"/>
                </a:solidFill>
                <a:latin typeface="MiSans" charset="-122"/>
                <a:ea typeface="MiSans" charset="-122"/>
                <a:cs typeface="MiSans" charset="-122"/>
                <a:sym typeface="MiSans" charset="-122"/>
              </a:rPr>
              <a:t>3</a:t>
            </a:r>
            <a:r>
              <a:rPr lang="en-US" sz="1100" b="0" i="0" u="none" strike="noStrike">
                <a:solidFill>
                  <a:srgbClr val="2C2A26"/>
                </a:solidFill>
                <a:latin typeface="MiSans" charset="-122"/>
                <a:ea typeface="MiSans" charset="-122"/>
                <a:cs typeface="MiSans" charset="-122"/>
                <a:sym typeface="MiSans" charset="-122"/>
              </a:rPr>
              <a:t> 个迭代 × 每个 </a:t>
            </a:r>
            <a:r>
              <a:rPr lang="en-US" sz="1100" b="1" i="0" u="none" strike="noStrike">
                <a:solidFill>
                  <a:srgbClr val="2C2A26"/>
                </a:solidFill>
                <a:latin typeface="MiSans" charset="-122"/>
                <a:ea typeface="MiSans" charset="-122"/>
                <a:cs typeface="MiSans" charset="-122"/>
                <a:sym typeface="MiSans" charset="-122"/>
              </a:rPr>
              <a:t>2 天</a:t>
            </a:r>
            <a:r>
              <a:rPr lang="en-US" sz="1100" b="0" i="0" u="none" strike="noStrike">
                <a:solidFill>
                  <a:srgbClr val="2C2A26"/>
                </a:solidFill>
                <a:latin typeface="MiSans" charset="-122"/>
                <a:ea typeface="MiSans" charset="-122"/>
                <a:cs typeface="MiSans" charset="-122"/>
                <a:sym typeface="MiSans" charset="-122"/>
              </a:rPr>
              <a:t> · 可承载约 </a:t>
            </a:r>
            <a:r>
              <a:rPr lang="en-US" sz="1100" b="1" i="0" u="none" strike="noStrike">
                <a:solidFill>
                  <a:srgbClr val="C46A2B"/>
                </a:solidFill>
                <a:latin typeface="MiSans" charset="-122"/>
                <a:ea typeface="MiSans" charset="-122"/>
                <a:cs typeface="MiSans" charset="-122"/>
                <a:sym typeface="MiSans" charset="-122"/>
              </a:rPr>
              <a:t>36 点</a:t>
            </a:r>
            <a:r>
              <a:rPr lang="en-US" sz="1100" b="0" i="0" u="none" strike="noStrike">
                <a:solidFill>
                  <a:srgbClr val="2C2A26"/>
                </a:solidFill>
                <a:latin typeface="MiSans" charset="-122"/>
                <a:ea typeface="MiSans" charset="-122"/>
                <a:cs typeface="MiSans" charset="-122"/>
                <a:sym typeface="MiSans" charset="-122"/>
              </a:rPr>
              <a:t> · 纳入 </a:t>
            </a:r>
            <a:r>
              <a:rPr lang="en-US" sz="1100" b="1" i="0" u="none" strike="noStrike">
                <a:solidFill>
                  <a:srgbClr val="C46A2B"/>
                </a:solidFill>
                <a:latin typeface="MiSans" charset="-122"/>
                <a:ea typeface="MiSans" charset="-122"/>
                <a:cs typeface="MiSans" charset="-122"/>
                <a:sym typeface="MiSans" charset="-122"/>
              </a:rPr>
              <a:t>31 点</a:t>
            </a:r>
            <a:r>
              <a:rPr lang="en-US" sz="1100" b="0" i="0" u="none" strike="noStrike">
                <a:solidFill>
                  <a:srgbClr val="2C2A26"/>
                </a:solidFill>
                <a:latin typeface="MiSans" charset="-122"/>
                <a:ea typeface="MiSans" charset="-122"/>
                <a:cs typeface="MiSans" charset="-122"/>
                <a:sym typeface="MiSans" charset="-122"/>
              </a:rPr>
              <a:t> · 预留 </a:t>
            </a:r>
            <a:r>
              <a:rPr lang="en-US" sz="1100" b="1" i="0" u="none" strike="noStrike">
                <a:solidFill>
                  <a:srgbClr val="2C2A26"/>
                </a:solidFill>
                <a:latin typeface="MiSans" charset="-122"/>
                <a:ea typeface="MiSans" charset="-122"/>
                <a:cs typeface="MiSans" charset="-122"/>
                <a:sym typeface="MiSans" charset="-122"/>
              </a:rPr>
              <a:t>5 点</a:t>
            </a:r>
            <a:r>
              <a:rPr lang="en-US" sz="1100" b="0" i="0" u="none" strike="noStrike">
                <a:solidFill>
                  <a:srgbClr val="2C2A26"/>
                </a:solidFill>
                <a:latin typeface="MiSans" charset="-122"/>
                <a:ea typeface="MiSans" charset="-122"/>
                <a:cs typeface="MiSans" charset="-122"/>
                <a:sym typeface="MiSans" charset="-122"/>
              </a:rPr>
              <a:t>缓冲</a:t>
            </a:r>
            <a:endParaRPr lang="en-US" sz="1100"/>
          </a:p>
        </p:txBody>
      </p:sp>
      <p:graphicFrame>
        <p:nvGraphicFramePr>
          <p:cNvPr id="7" name="Table 7"/>
          <p:cNvGraphicFramePr>
            <a:graphicFrameLocks noGrp="1"/>
          </p:cNvGraphicFramePr>
          <p:nvPr/>
        </p:nvGraphicFramePr>
        <p:xfrm>
          <a:off x="508000" y="1625600"/>
          <a:ext cx="6477000" cy="4876806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1619250"/>
                <a:gridCol w="3562350"/>
                <a:gridCol w="1295400"/>
              </a:tblGrid>
              <a:tr h="341376"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迭代</a:t>
                      </a:r>
                      <a:endParaRPr lang="en-US" sz="1100"/>
                    </a:p>
                  </a:txBody>
                  <a:tcPr anchor="t" anchorCtr="0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56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用户故事</a:t>
                      </a:r>
                      <a:endParaRPr lang="en-US" sz="1100"/>
                    </a:p>
                  </a:txBody>
                  <a:tcPr anchor="t" anchorCtr="0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56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故事点</a:t>
                      </a:r>
                      <a:endParaRPr lang="en-US" sz="1100"/>
                    </a:p>
                  </a:txBody>
                  <a:tcPr anchor="t" anchorCtr="0">
                    <a:lnL>
                      <a:noFill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56">
                        <a:alpha val="100000"/>
                      </a:srgbClr>
                    </a:solidFill>
                  </a:tcPr>
                </a:tc>
              </a:tr>
              <a:tr h="323820">
                <a:tc rowSpan="4"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000" b="1" i="0" u="none" strike="noStrike">
                          <a:solidFill>
                            <a:srgbClr val="2C2A26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迭代一</a:t>
                      </a:r>
                      <a:endParaRPr lang="en-US" sz="1100"/>
                    </a:p>
                    <a:p>
                      <a:pPr marL="0" indent="0" algn="l">
                        <a:lnSpc>
                          <a:spcPct val="100000"/>
                        </a:lnSpc>
                      </a:pPr>
                      <a:r>
                        <a:rPr lang="en-US" sz="900" b="0" i="0" u="none" strike="noStrike">
                          <a:solidFill>
                            <a:srgbClr val="7A766C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第 1–2 天</a:t>
                      </a:r>
                      <a:endParaRPr lang="en-US" sz="900" b="0" i="0" u="none" strike="noStrike">
                        <a:solidFill>
                          <a:srgbClr val="7A766C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anchor="t" anchorCtr="0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000" b="0" i="0" u="none" strike="noStrike">
                          <a:solidFill>
                            <a:srgbClr val="2C2A26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US-01 报警记录生成</a:t>
                      </a:r>
                      <a:endParaRPr lang="en-US" sz="1100"/>
                    </a:p>
                  </a:txBody>
                  <a:tcPr anchor="t" anchorCtr="0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000" b="0" i="0" u="none" strike="noStrike">
                          <a:solidFill>
                            <a:srgbClr val="2C2A26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3</a:t>
                      </a:r>
                      <a:endParaRPr lang="en-US" sz="1100"/>
                    </a:p>
                  </a:txBody>
                  <a:tcPr anchor="t" anchorCtr="0">
                    <a:lnL>
                      <a:noFill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23820">
                <a:tc vMerge="1">
                  <a:tcPr marL="101600" marR="101600" marT="101600" marB="101600" anchor="ctr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000" b="0" i="0" u="none" strike="noStrike">
                          <a:solidFill>
                            <a:srgbClr val="2C2A26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US-02 抖动报警</a:t>
                      </a:r>
                      <a:endParaRPr lang="en-US" sz="1100"/>
                    </a:p>
                  </a:txBody>
                  <a:tcPr anchor="t" anchorCtr="0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000" b="0" i="0" u="none" strike="noStrike">
                          <a:solidFill>
                            <a:srgbClr val="2C2A26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2</a:t>
                      </a:r>
                      <a:endParaRPr lang="en-US" sz="1100"/>
                    </a:p>
                  </a:txBody>
                  <a:tcPr anchor="t" anchorCtr="0">
                    <a:lnL>
                      <a:noFill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23820">
                <a:tc vMerge="1">
                  <a:tcPr marL="101600" marR="101600" marT="101600" marB="101600" anchor="ctr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000" b="0" i="0" u="none" strike="noStrike">
                          <a:solidFill>
                            <a:srgbClr val="2C2A26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US-03 重复报警</a:t>
                      </a:r>
                      <a:endParaRPr lang="en-US" sz="1100"/>
                    </a:p>
                  </a:txBody>
                  <a:tcPr anchor="t" anchorCtr="0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000" b="0" i="0" u="none" strike="noStrike">
                          <a:solidFill>
                            <a:srgbClr val="2C2A26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2</a:t>
                      </a:r>
                      <a:endParaRPr lang="en-US" sz="1100"/>
                    </a:p>
                  </a:txBody>
                  <a:tcPr anchor="t" anchorCtr="0">
                    <a:lnL>
                      <a:noFill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23820">
                <a:tc vMerge="1">
                  <a:tcPr marL="101600" marR="101600" marT="101600" marB="101600" anchor="ctr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000" b="0" i="0" u="none" strike="noStrike">
                          <a:solidFill>
                            <a:srgbClr val="2C2A26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US-04 源头标注</a:t>
                      </a:r>
                      <a:endParaRPr lang="en-US" sz="1100"/>
                    </a:p>
                  </a:txBody>
                  <a:tcPr anchor="t" anchorCtr="0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000" b="0" i="0" u="none" strike="noStrike">
                          <a:solidFill>
                            <a:srgbClr val="2C2A26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2</a:t>
                      </a:r>
                      <a:endParaRPr lang="en-US" sz="1100"/>
                    </a:p>
                  </a:txBody>
                  <a:tcPr anchor="t" anchorCtr="0">
                    <a:lnL>
                      <a:noFill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23820">
                <a:tc gridSpan="2"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000" b="1" i="0" u="none" strike="noStrike">
                          <a:solidFill>
                            <a:srgbClr val="2C2A26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小计</a:t>
                      </a:r>
                      <a:endParaRPr lang="en-US" sz="1100"/>
                    </a:p>
                  </a:txBody>
                  <a:tcPr anchor="t" anchorCtr="0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5">
                        <a:alpha val="100000"/>
                      </a:srgbClr>
                    </a:solidFill>
                  </a:tcPr>
                </a:tc>
                <a:tc hMerge="1">
                  <a:tcPr marL="101600" marR="101600" marT="101600" marB="101600" anchor="ctr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000" b="1" i="0" u="none" strike="noStrike">
                          <a:solidFill>
                            <a:srgbClr val="2C2A26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9</a:t>
                      </a:r>
                      <a:endParaRPr lang="en-US" sz="1100"/>
                    </a:p>
                  </a:txBody>
                  <a:tcPr anchor="t" anchorCtr="0">
                    <a:lnL>
                      <a:noFill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5">
                        <a:alpha val="100000"/>
                      </a:srgbClr>
                    </a:solidFill>
                  </a:tcPr>
                </a:tc>
              </a:tr>
              <a:tr h="323820">
                <a:tc rowSpan="3"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000" b="1" i="0" u="none" strike="noStrike">
                          <a:solidFill>
                            <a:srgbClr val="2C2A26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迭代二</a:t>
                      </a:r>
                      <a:endParaRPr lang="en-US" sz="1100"/>
                    </a:p>
                    <a:p>
                      <a:pPr marL="0" indent="0" algn="l">
                        <a:lnSpc>
                          <a:spcPct val="100000"/>
                        </a:lnSpc>
                      </a:pPr>
                      <a:r>
                        <a:rPr lang="en-US" sz="900" b="0" i="0" u="none" strike="noStrike">
                          <a:solidFill>
                            <a:srgbClr val="7A766C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第 3–4 天</a:t>
                      </a:r>
                      <a:endParaRPr lang="en-US" sz="900" b="0" i="0" u="none" strike="noStrike">
                        <a:solidFill>
                          <a:srgbClr val="7A766C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anchor="t" anchorCtr="0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000" b="0" i="0" u="none" strike="noStrike">
                          <a:solidFill>
                            <a:srgbClr val="2C2A26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US-05 报警分组</a:t>
                      </a:r>
                      <a:endParaRPr lang="en-US" sz="1100"/>
                    </a:p>
                  </a:txBody>
                  <a:tcPr anchor="t" anchorCtr="0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000" b="0" i="0" u="none" strike="noStrike">
                          <a:solidFill>
                            <a:srgbClr val="2C2A26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5</a:t>
                      </a:r>
                      <a:endParaRPr lang="en-US" sz="1100"/>
                    </a:p>
                  </a:txBody>
                  <a:tcPr anchor="t" anchorCtr="0">
                    <a:lnL>
                      <a:noFill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23820">
                <a:tc vMerge="1">
                  <a:tcPr marL="101600" marR="101600" marT="101600" marB="101600" anchor="ctr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000" b="0" i="0" u="none" strike="noStrike">
                          <a:solidFill>
                            <a:srgbClr val="2C2A26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US-06 关键报警保留</a:t>
                      </a:r>
                      <a:endParaRPr lang="en-US" sz="1100"/>
                    </a:p>
                  </a:txBody>
                  <a:tcPr anchor="t" anchorCtr="0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000" b="0" i="0" u="none" strike="noStrike">
                          <a:solidFill>
                            <a:srgbClr val="2C2A26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3</a:t>
                      </a:r>
                      <a:endParaRPr lang="en-US" sz="1100"/>
                    </a:p>
                  </a:txBody>
                  <a:tcPr anchor="t" anchorCtr="0">
                    <a:lnL>
                      <a:noFill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23820">
                <a:tc vMerge="1">
                  <a:tcPr marL="101600" marR="101600" marT="101600" marB="101600" anchor="ctr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000" b="0" i="0" u="none" strike="noStrike">
                          <a:solidFill>
                            <a:srgbClr val="2C2A26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US-10 压缩效果对比</a:t>
                      </a:r>
                      <a:endParaRPr lang="en-US" sz="1100"/>
                    </a:p>
                  </a:txBody>
                  <a:tcPr anchor="t" anchorCtr="0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000" b="0" i="0" u="none" strike="noStrike">
                          <a:solidFill>
                            <a:srgbClr val="2C2A26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3</a:t>
                      </a:r>
                      <a:endParaRPr lang="en-US" sz="1100"/>
                    </a:p>
                  </a:txBody>
                  <a:tcPr anchor="t" anchorCtr="0">
                    <a:lnL>
                      <a:noFill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23820">
                <a:tc gridSpan="2"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000" b="1" i="0" u="none" strike="noStrike">
                          <a:solidFill>
                            <a:srgbClr val="2C2A26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小计</a:t>
                      </a:r>
                      <a:endParaRPr lang="en-US" sz="1100"/>
                    </a:p>
                  </a:txBody>
                  <a:tcPr anchor="t" anchorCtr="0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5">
                        <a:alpha val="100000"/>
                      </a:srgbClr>
                    </a:solidFill>
                  </a:tcPr>
                </a:tc>
                <a:tc hMerge="1">
                  <a:tcPr marL="101600" marR="101600" marT="101600" marB="101600" anchor="ctr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000" b="1" i="0" u="none" strike="noStrike">
                          <a:solidFill>
                            <a:srgbClr val="2C2A26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11</a:t>
                      </a:r>
                      <a:endParaRPr lang="en-US" sz="1100"/>
                    </a:p>
                  </a:txBody>
                  <a:tcPr anchor="t" anchorCtr="0">
                    <a:lnL>
                      <a:noFill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5">
                        <a:alpha val="100000"/>
                      </a:srgbClr>
                    </a:solidFill>
                  </a:tcPr>
                </a:tc>
              </a:tr>
              <a:tr h="323820">
                <a:tc rowSpan="3"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000" b="1" i="0" u="none" strike="noStrike">
                          <a:solidFill>
                            <a:srgbClr val="2C2A26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迭代三</a:t>
                      </a:r>
                      <a:endParaRPr lang="en-US" sz="1100"/>
                    </a:p>
                    <a:p>
                      <a:pPr marL="0" indent="0" algn="l">
                        <a:lnSpc>
                          <a:spcPct val="100000"/>
                        </a:lnSpc>
                      </a:pPr>
                      <a:r>
                        <a:rPr lang="en-US" sz="900" b="0" i="0" u="none" strike="noStrike">
                          <a:solidFill>
                            <a:srgbClr val="7A766C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第 5–6 天</a:t>
                      </a:r>
                      <a:endParaRPr lang="en-US" sz="900" b="0" i="0" u="none" strike="noStrike">
                        <a:solidFill>
                          <a:srgbClr val="7A766C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anchor="t" anchorCtr="0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000" b="0" i="0" u="none" strike="noStrike">
                          <a:solidFill>
                            <a:srgbClr val="2C2A26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US-08 问题起点排序</a:t>
                      </a:r>
                      <a:endParaRPr lang="en-US" sz="1100"/>
                    </a:p>
                  </a:txBody>
                  <a:tcPr anchor="t" anchorCtr="0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000" b="0" i="0" u="none" strike="noStrike">
                          <a:solidFill>
                            <a:srgbClr val="2C2A26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5</a:t>
                      </a:r>
                      <a:endParaRPr lang="en-US" sz="1100"/>
                    </a:p>
                  </a:txBody>
                  <a:tcPr anchor="t" anchorCtr="0">
                    <a:lnL>
                      <a:noFill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23820">
                <a:tc vMerge="1">
                  <a:tcPr marL="101600" marR="101600" marT="101600" marB="101600" anchor="ctr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000" b="0" i="0" u="none" strike="noStrike">
                          <a:solidFill>
                            <a:srgbClr val="2C2A26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US-12 问题起点展示</a:t>
                      </a:r>
                      <a:endParaRPr lang="en-US" sz="1100"/>
                    </a:p>
                  </a:txBody>
                  <a:tcPr anchor="t" anchorCtr="0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000" b="0" i="0" u="none" strike="noStrike">
                          <a:solidFill>
                            <a:srgbClr val="2C2A26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3</a:t>
                      </a:r>
                      <a:endParaRPr lang="en-US" sz="1100"/>
                    </a:p>
                  </a:txBody>
                  <a:tcPr anchor="t" anchorCtr="0">
                    <a:lnL>
                      <a:noFill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23820">
                <a:tc vMerge="1">
                  <a:tcPr marL="101600" marR="101600" marT="101600" marB="101600" anchor="ctr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000" b="0" i="0" u="none" strike="noStrike">
                          <a:solidFill>
                            <a:srgbClr val="2C2A26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US-13 完整流程演示</a:t>
                      </a:r>
                      <a:endParaRPr lang="en-US" sz="1100"/>
                    </a:p>
                  </a:txBody>
                  <a:tcPr anchor="t" anchorCtr="0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000" b="0" i="0" u="none" strike="noStrike">
                          <a:solidFill>
                            <a:srgbClr val="2C2A26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3</a:t>
                      </a:r>
                      <a:endParaRPr lang="en-US" sz="1100"/>
                    </a:p>
                  </a:txBody>
                  <a:tcPr anchor="t" anchorCtr="0">
                    <a:lnL>
                      <a:noFill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23820">
                <a:tc gridSpan="2"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000" b="1" i="0" u="none" strike="noStrike">
                          <a:solidFill>
                            <a:srgbClr val="2C2A26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小计</a:t>
                      </a:r>
                      <a:endParaRPr lang="en-US" sz="1100"/>
                    </a:p>
                  </a:txBody>
                  <a:tcPr anchor="t" anchorCtr="0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5">
                        <a:alpha val="100000"/>
                      </a:srgbClr>
                    </a:solidFill>
                  </a:tcPr>
                </a:tc>
                <a:tc hMerge="1">
                  <a:tcPr marL="101600" marR="101600" marT="101600" marB="101600" anchor="ctr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000" b="1" i="0" u="none" strike="noStrike">
                          <a:solidFill>
                            <a:srgbClr val="2C2A26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11</a:t>
                      </a:r>
                      <a:endParaRPr lang="en-US" sz="1100"/>
                    </a:p>
                  </a:txBody>
                  <a:tcPr anchor="t" anchorCtr="0">
                    <a:lnL>
                      <a:noFill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5">
                        <a:alpha val="100000"/>
                      </a:srgbClr>
                    </a:solidFill>
                  </a:tcPr>
                </a:tc>
              </a:tr>
              <a:tr h="325770">
                <a:tc gridSpan="2"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000" b="1" i="0" u="none" strike="noStrike">
                          <a:solidFill>
                            <a:srgbClr val="1F4E56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合计</a:t>
                      </a:r>
                      <a:endParaRPr lang="en-US" sz="1100"/>
                    </a:p>
                  </a:txBody>
                  <a:tcPr anchor="t" anchorCtr="0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BED">
                        <a:alpha val="100000"/>
                      </a:srgbClr>
                    </a:solidFill>
                  </a:tcPr>
                </a:tc>
                <a:tc hMerge="1">
                  <a:tcPr marL="101600" marR="101600" marT="101600" marB="101600" anchor="ctr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000" b="1" i="0" u="none" strike="noStrike">
                          <a:solidFill>
                            <a:srgbClr val="1F4E56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31</a:t>
                      </a:r>
                      <a:endParaRPr lang="en-US" sz="1100"/>
                    </a:p>
                  </a:txBody>
                  <a:tcPr anchor="t" anchorCtr="0">
                    <a:lnL>
                      <a:noFill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BED">
                        <a:alpha val="100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8" name="AutoShape 8"/>
          <p:cNvSpPr/>
          <p:nvPr/>
        </p:nvSpPr>
        <p:spPr>
          <a:xfrm>
            <a:off x="7366000" y="1651000"/>
            <a:ext cx="50800" cy="177800"/>
          </a:xfrm>
          <a:prstGeom prst="roundRect">
            <a:avLst>
              <a:gd name="adj" fmla="val 0"/>
            </a:avLst>
          </a:prstGeom>
          <a:solidFill>
            <a:srgbClr val="7A766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 anchorCtr="0"/>
          <a:lstStyle/>
          <a:p>
            <a:pPr algn="ctr">
              <a:defRPr/>
            </a:pPr>
          </a:p>
        </p:txBody>
      </p:sp>
      <p:sp>
        <p:nvSpPr>
          <p:cNvPr id="9" name="AutoShape 9"/>
          <p:cNvSpPr txBox="1"/>
          <p:nvPr/>
        </p:nvSpPr>
        <p:spPr>
          <a:xfrm>
            <a:off x="7518400" y="1625600"/>
            <a:ext cx="3810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200" b="1" i="0" u="none" strike="noStrike">
                <a:solidFill>
                  <a:srgbClr val="2C2A26"/>
                </a:solidFill>
                <a:latin typeface="MiSans" charset="-122"/>
                <a:ea typeface="MiSans" charset="-122"/>
                <a:cs typeface="MiSans" charset="-122"/>
                <a:sym typeface="MiSans" charset="-122"/>
              </a:rPr>
              <a:t>不纳入本期范围的 6 条</a:t>
            </a:r>
            <a:endParaRPr lang="en-US" sz="1100"/>
          </a:p>
        </p:txBody>
      </p:sp>
      <p:graphicFrame>
        <p:nvGraphicFramePr>
          <p:cNvPr id="10" name="Table 10"/>
          <p:cNvGraphicFramePr>
            <a:graphicFrameLocks noGrp="1"/>
          </p:cNvGraphicFramePr>
          <p:nvPr/>
        </p:nvGraphicFramePr>
        <p:xfrm>
          <a:off x="7366000" y="1955800"/>
          <a:ext cx="4318000" cy="40640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1813560"/>
                <a:gridCol w="2504440"/>
              </a:tblGrid>
              <a:tr h="406400"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故事</a:t>
                      </a:r>
                      <a:endParaRPr lang="en-US" sz="1100"/>
                    </a:p>
                  </a:txBody>
                  <a:tcPr anchor="t" anchorCtr="0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56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不纳入的理由</a:t>
                      </a:r>
                      <a:endParaRPr lang="en-US" sz="1100"/>
                    </a:p>
                  </a:txBody>
                  <a:tcPr anchor="t" anchorCtr="0">
                    <a:lnL>
                      <a:noFill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56">
                        <a:alpha val="100000"/>
                      </a:srgbClr>
                    </a:solidFill>
                  </a:tcPr>
                </a:tc>
              </a:tr>
              <a:tr h="609600"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900" b="0" i="0" u="none" strike="noStrike">
                          <a:solidFill>
                            <a:srgbClr val="2C2A26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US-07 按工艺关联分组</a:t>
                      </a:r>
                      <a:endParaRPr lang="en-US" sz="1100"/>
                    </a:p>
                  </a:txBody>
                  <a:tcPr anchor="t" anchorCtr="0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900" b="0" i="0" u="none" strike="noStrike">
                          <a:solidFill>
                            <a:srgbClr val="2C2A26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需先整理工艺拓扑关系，工作量不易估计</a:t>
                      </a:r>
                      <a:endParaRPr lang="en-US" sz="1100"/>
                    </a:p>
                  </a:txBody>
                  <a:tcPr anchor="t" anchorCtr="0">
                    <a:lnL>
                      <a:noFill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609600"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900" b="0" i="0" u="none" strike="noStrike">
                          <a:solidFill>
                            <a:srgbClr val="2C2A26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US-09 排序依据可查看</a:t>
                      </a:r>
                      <a:endParaRPr lang="en-US" sz="1100"/>
                    </a:p>
                  </a:txBody>
                  <a:tcPr anchor="t" anchorCtr="0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900" b="0" i="0" u="none" strike="noStrike">
                          <a:solidFill>
                            <a:srgbClr val="2C2A26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结果呈现细节，不影响核心结论</a:t>
                      </a:r>
                      <a:endParaRPr lang="en-US" sz="1100"/>
                    </a:p>
                  </a:txBody>
                  <a:tcPr anchor="t" anchorCtr="0">
                    <a:lnL>
                      <a:noFill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609600"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900" b="0" i="0" u="none" strike="noStrike">
                          <a:solidFill>
                            <a:srgbClr val="2C2A26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US-11 报警组明细</a:t>
                      </a:r>
                      <a:endParaRPr lang="en-US" sz="1100"/>
                    </a:p>
                  </a:txBody>
                  <a:tcPr anchor="t" anchorCtr="0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900" b="0" i="0" u="none" strike="noStrike">
                          <a:solidFill>
                            <a:srgbClr val="2C2A26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看板已有两个视图，优先级较低</a:t>
                      </a:r>
                      <a:endParaRPr lang="en-US" sz="1100"/>
                    </a:p>
                  </a:txBody>
                  <a:tcPr anchor="t" anchorCtr="0">
                    <a:lnL>
                      <a:noFill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609600"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900" b="0" i="0" u="none" strike="noStrike">
                          <a:solidFill>
                            <a:srgbClr val="2C2A26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US-14 首屏信息</a:t>
                      </a:r>
                      <a:endParaRPr lang="en-US" sz="1100"/>
                    </a:p>
                  </a:txBody>
                  <a:tcPr anchor="t" anchorCtr="0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900" b="0" i="0" u="none" strike="noStrike">
                          <a:solidFill>
                            <a:srgbClr val="2C2A26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界面优化，不影响功能</a:t>
                      </a:r>
                      <a:endParaRPr lang="en-US" sz="1100"/>
                    </a:p>
                  </a:txBody>
                  <a:tcPr anchor="t" anchorCtr="0">
                    <a:lnL>
                      <a:noFill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609600"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900" b="0" i="0" u="none" strike="noStrike">
                          <a:solidFill>
                            <a:srgbClr val="2C2A26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US-15 指标达标</a:t>
                      </a:r>
                      <a:endParaRPr lang="en-US" sz="1100"/>
                    </a:p>
                  </a:txBody>
                  <a:tcPr anchor="t" anchorCtr="0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900" b="0" i="0" u="none" strike="noStrike">
                          <a:solidFill>
                            <a:srgbClr val="2C2A26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属验收标准，并入各故事测试用例</a:t>
                      </a:r>
                      <a:endParaRPr lang="en-US" sz="1100"/>
                    </a:p>
                  </a:txBody>
                  <a:tcPr anchor="t" anchorCtr="0">
                    <a:lnL>
                      <a:noFill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609600"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900" b="0" i="0" u="none" strike="noStrike">
                          <a:solidFill>
                            <a:srgbClr val="2C2A26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US-16 效果对比</a:t>
                      </a:r>
                      <a:endParaRPr lang="en-US" sz="1100"/>
                    </a:p>
                  </a:txBody>
                  <a:tcPr anchor="t" anchorCtr="0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900" b="0" i="0" u="none" strike="noStrike">
                          <a:solidFill>
                            <a:srgbClr val="2C2A26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面向管理层的展示功能</a:t>
                      </a:r>
                      <a:endParaRPr lang="en-US" sz="1100"/>
                    </a:p>
                  </a:txBody>
                  <a:tcPr anchor="t" anchorCtr="0">
                    <a:lnL>
                      <a:noFill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1" name="AutoShape 11"/>
          <p:cNvSpPr txBox="1"/>
          <p:nvPr/>
        </p:nvSpPr>
        <p:spPr>
          <a:xfrm>
            <a:off x="7366000" y="6172200"/>
            <a:ext cx="431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42000"/>
              </a:lnSpc>
              <a:defRPr/>
            </a:pPr>
            <a:r>
              <a:rPr lang="en-US" sz="900" b="0" i="0" u="none" strike="noStrike">
                <a:solidFill>
                  <a:srgbClr val="7A766C"/>
                </a:solidFill>
                <a:latin typeface="MiSans" charset="-122"/>
                <a:ea typeface="MiSans" charset="-122"/>
                <a:cs typeface="MiSans" charset="-122"/>
                <a:sym typeface="MiSans" charset="-122"/>
              </a:rPr>
              <a:t>范围在迭代中途不追加；新需求进入下一期 backlog。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6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 txBox="1"/>
          <p:nvPr/>
        </p:nvSpPr>
        <p:spPr>
          <a:xfrm>
            <a:off x="508000" y="304800"/>
            <a:ext cx="38100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000" b="0" i="0" u="none" strike="noStrike" spc="200">
                <a:solidFill>
                  <a:srgbClr val="7A766C"/>
                </a:solidFill>
                <a:latin typeface="MiSans" charset="-122"/>
                <a:ea typeface="MiSans" charset="-122"/>
                <a:cs typeface="MiSans" charset="-122"/>
                <a:sym typeface="MiSans" charset="-122"/>
              </a:rPr>
              <a:t>讨论 3 · 项目计划</a:t>
            </a:r>
            <a:endParaRPr lang="en-US" sz="1100"/>
          </a:p>
        </p:txBody>
      </p:sp>
      <p:sp>
        <p:nvSpPr>
          <p:cNvPr id="3" name="AutoShape 3"/>
          <p:cNvSpPr txBox="1"/>
          <p:nvPr/>
        </p:nvSpPr>
        <p:spPr>
          <a:xfrm>
            <a:off x="10922000" y="304800"/>
            <a:ext cx="7620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r">
              <a:lnSpc>
                <a:spcPct val="117000"/>
              </a:lnSpc>
              <a:defRPr/>
            </a:pPr>
            <a:r>
              <a:rPr lang="en-US" sz="1000" b="0" i="0" u="none" strike="noStrike">
                <a:solidFill>
                  <a:srgbClr val="7A766C"/>
                </a:solidFill>
                <a:latin typeface="MiSans" charset="-122"/>
                <a:ea typeface="MiSans" charset="-122"/>
                <a:cs typeface="MiSans" charset="-122"/>
                <a:sym typeface="MiSans" charset="-122"/>
              </a:rPr>
              <a:t>05 / 13</a:t>
            </a:r>
            <a:endParaRPr lang="en-US" sz="1100"/>
          </a:p>
        </p:txBody>
      </p:sp>
      <p:sp>
        <p:nvSpPr>
          <p:cNvPr id="4" name="AutoShape 4"/>
          <p:cNvSpPr txBox="1"/>
          <p:nvPr/>
        </p:nvSpPr>
        <p:spPr>
          <a:xfrm>
            <a:off x="508000" y="558800"/>
            <a:ext cx="11176000" cy="431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2400" b="1" i="0" u="none" strike="noStrike">
                <a:solidFill>
                  <a:srgbClr val="1F4E56"/>
                </a:solidFill>
                <a:latin typeface="MiSans" charset="-122"/>
                <a:ea typeface="MiSans" charset="-122"/>
                <a:cs typeface="MiSans" charset="-122"/>
                <a:sym typeface="MiSans" charset="-122"/>
              </a:rPr>
              <a:t>用户故事优先级：按价值排序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508000" y="1117600"/>
            <a:ext cx="11176000" cy="12700"/>
          </a:xfrm>
          <a:prstGeom prst="roundRect">
            <a:avLst>
              <a:gd name="adj" fmla="val 0"/>
            </a:avLst>
          </a:prstGeom>
          <a:solidFill>
            <a:srgbClr val="DDD9C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 anchorCtr="0"/>
          <a:lstStyle/>
          <a:p>
            <a:pPr algn="ctr">
              <a:defRPr/>
            </a:pPr>
          </a:p>
        </p:txBody>
      </p:sp>
      <p:graphicFrame>
        <p:nvGraphicFramePr>
          <p:cNvPr id="6" name="Table 6"/>
          <p:cNvGraphicFramePr>
            <a:graphicFrameLocks noGrp="1"/>
          </p:cNvGraphicFramePr>
          <p:nvPr/>
        </p:nvGraphicFramePr>
        <p:xfrm>
          <a:off x="508000" y="1295400"/>
          <a:ext cx="11176000" cy="41910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894080"/>
                <a:gridCol w="2794000"/>
                <a:gridCol w="782320"/>
                <a:gridCol w="6705600"/>
              </a:tblGrid>
              <a:tr h="37719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优先级</a:t>
                      </a:r>
                      <a:endParaRPr lang="en-US" sz="1100"/>
                    </a:p>
                  </a:txBody>
                  <a:tcPr anchor="t" anchorCtr="0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56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用户故事</a:t>
                      </a:r>
                      <a:endParaRPr lang="en-US" sz="1100"/>
                    </a:p>
                  </a:txBody>
                  <a:tcPr anchor="t" anchorCtr="0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56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点</a:t>
                      </a:r>
                      <a:endParaRPr lang="en-US" sz="1100"/>
                    </a:p>
                  </a:txBody>
                  <a:tcPr anchor="t" anchorCtr="0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56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排序理由</a:t>
                      </a:r>
                      <a:endParaRPr lang="en-US" sz="1100"/>
                    </a:p>
                  </a:txBody>
                  <a:tcPr anchor="t" anchorCtr="0">
                    <a:lnL>
                      <a:noFill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56">
                        <a:alpha val="100000"/>
                      </a:srgbClr>
                    </a:solidFill>
                  </a:tcPr>
                </a:tc>
              </a:tr>
              <a:tr h="381381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000" b="1" i="0" u="none" strike="noStrike">
                          <a:solidFill>
                            <a:srgbClr val="1F4E56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1</a:t>
                      </a:r>
                      <a:endParaRPr lang="en-US" sz="1100"/>
                    </a:p>
                  </a:txBody>
                  <a:tcPr anchor="t" anchorCtr="0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000" b="0" i="0" u="none" strike="noStrike">
                          <a:solidFill>
                            <a:srgbClr val="2C2A26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US-01 报警记录生成</a:t>
                      </a:r>
                      <a:endParaRPr lang="en-US" sz="1100"/>
                    </a:p>
                  </a:txBody>
                  <a:tcPr anchor="t" anchorCtr="0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000" b="0" i="0" u="none" strike="noStrike">
                          <a:solidFill>
                            <a:srgbClr val="2C2A26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3</a:t>
                      </a:r>
                      <a:endParaRPr lang="en-US" sz="1100"/>
                    </a:p>
                  </a:txBody>
                  <a:tcPr anchor="t" anchorCtr="0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000" b="0" i="0" u="none" strike="noStrike">
                          <a:solidFill>
                            <a:srgbClr val="2C2A26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全部功能的数据前提</a:t>
                      </a:r>
                      <a:endParaRPr lang="en-US" sz="1100"/>
                    </a:p>
                  </a:txBody>
                  <a:tcPr anchor="t" anchorCtr="0">
                    <a:lnL>
                      <a:noFill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81381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000" b="1" i="0" u="none" strike="noStrike">
                          <a:solidFill>
                            <a:srgbClr val="1F4E56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2</a:t>
                      </a:r>
                      <a:endParaRPr lang="en-US" sz="1100"/>
                    </a:p>
                  </a:txBody>
                  <a:tcPr anchor="t" anchorCtr="0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000" b="0" i="0" u="none" strike="noStrike">
                          <a:solidFill>
                            <a:srgbClr val="2C2A26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US-04 源头标注</a:t>
                      </a:r>
                      <a:endParaRPr lang="en-US" sz="1100"/>
                    </a:p>
                  </a:txBody>
                  <a:tcPr anchor="t" anchorCtr="0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000" b="0" i="0" u="none" strike="noStrike">
                          <a:solidFill>
                            <a:srgbClr val="2C2A26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2</a:t>
                      </a:r>
                      <a:endParaRPr lang="en-US" sz="1100"/>
                    </a:p>
                  </a:txBody>
                  <a:tcPr anchor="t" anchorCtr="0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000" b="0" i="0" u="none" strike="noStrike">
                          <a:solidFill>
                            <a:srgbClr val="2C2A26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缺此标注无法计算命中率，US-08 的验收失去依据</a:t>
                      </a:r>
                      <a:endParaRPr lang="en-US" sz="1100"/>
                    </a:p>
                  </a:txBody>
                  <a:tcPr anchor="t" anchorCtr="0">
                    <a:lnL>
                      <a:noFill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81381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000" b="1" i="0" u="none" strike="noStrike">
                          <a:solidFill>
                            <a:srgbClr val="1F4E56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3</a:t>
                      </a:r>
                      <a:endParaRPr lang="en-US" sz="1100"/>
                    </a:p>
                  </a:txBody>
                  <a:tcPr anchor="t" anchorCtr="0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000" b="0" i="0" u="none" strike="noStrike">
                          <a:solidFill>
                            <a:srgbClr val="2C2A26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US-05 报警分组</a:t>
                      </a:r>
                      <a:endParaRPr lang="en-US" sz="1100"/>
                    </a:p>
                  </a:txBody>
                  <a:tcPr anchor="t" anchorCtr="0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000" b="0" i="0" u="none" strike="noStrike">
                          <a:solidFill>
                            <a:srgbClr val="2C2A26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5</a:t>
                      </a:r>
                      <a:endParaRPr lang="en-US" sz="1100"/>
                    </a:p>
                  </a:txBody>
                  <a:tcPr anchor="t" anchorCtr="0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000" b="0" i="0" u="none" strike="noStrike">
                          <a:solidFill>
                            <a:srgbClr val="2C2A26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第一项核心价值</a:t>
                      </a:r>
                      <a:endParaRPr lang="en-US" sz="1100"/>
                    </a:p>
                  </a:txBody>
                  <a:tcPr anchor="t" anchorCtr="0">
                    <a:lnL>
                      <a:noFill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81381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000" b="1" i="0" u="none" strike="noStrike">
                          <a:solidFill>
                            <a:srgbClr val="1F4E56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4</a:t>
                      </a:r>
                      <a:endParaRPr lang="en-US" sz="1100"/>
                    </a:p>
                  </a:txBody>
                  <a:tcPr anchor="t" anchorCtr="0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000" b="0" i="0" u="none" strike="noStrike">
                          <a:solidFill>
                            <a:srgbClr val="2C2A26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US-08 问题起点排序</a:t>
                      </a:r>
                      <a:endParaRPr lang="en-US" sz="1100"/>
                    </a:p>
                  </a:txBody>
                  <a:tcPr anchor="t" anchorCtr="0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000" b="0" i="0" u="none" strike="noStrike">
                          <a:solidFill>
                            <a:srgbClr val="2C2A26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5</a:t>
                      </a:r>
                      <a:endParaRPr lang="en-US" sz="1100"/>
                    </a:p>
                  </a:txBody>
                  <a:tcPr anchor="t" anchorCtr="0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000" b="0" i="0" u="none" strike="noStrike">
                          <a:solidFill>
                            <a:srgbClr val="2C2A26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第二项核心价值，与商用工具差别最大</a:t>
                      </a:r>
                      <a:endParaRPr lang="en-US" sz="1100"/>
                    </a:p>
                  </a:txBody>
                  <a:tcPr anchor="t" anchorCtr="0">
                    <a:lnL>
                      <a:noFill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81381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000" b="0" i="0" u="none" strike="noStrike">
                          <a:solidFill>
                            <a:srgbClr val="2C2A26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5</a:t>
                      </a:r>
                      <a:endParaRPr lang="en-US" sz="1100"/>
                    </a:p>
                  </a:txBody>
                  <a:tcPr anchor="t" anchorCtr="0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000" b="0" i="0" u="none" strike="noStrike">
                          <a:solidFill>
                            <a:srgbClr val="2C2A26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US-13 完整流程演示</a:t>
                      </a:r>
                      <a:endParaRPr lang="en-US" sz="1100"/>
                    </a:p>
                  </a:txBody>
                  <a:tcPr anchor="t" anchorCtr="0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000" b="0" i="0" u="none" strike="noStrike">
                          <a:solidFill>
                            <a:srgbClr val="2C2A26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3</a:t>
                      </a:r>
                      <a:endParaRPr lang="en-US" sz="1100"/>
                    </a:p>
                  </a:txBody>
                  <a:tcPr anchor="t" anchorCtr="0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000" b="0" i="0" u="none" strike="noStrike">
                          <a:solidFill>
                            <a:srgbClr val="2C2A26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交付形态</a:t>
                      </a:r>
                      <a:endParaRPr lang="en-US" sz="1100"/>
                    </a:p>
                  </a:txBody>
                  <a:tcPr anchor="t" anchorCtr="0">
                    <a:lnL>
                      <a:noFill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81381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000" b="0" i="0" u="none" strike="noStrike">
                          <a:solidFill>
                            <a:srgbClr val="2C2A26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6</a:t>
                      </a:r>
                      <a:endParaRPr lang="en-US" sz="1100"/>
                    </a:p>
                  </a:txBody>
                  <a:tcPr anchor="t" anchorCtr="0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000" b="0" i="0" u="none" strike="noStrike">
                          <a:solidFill>
                            <a:srgbClr val="2C2A26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US-10 压缩效果对比</a:t>
                      </a:r>
                      <a:endParaRPr lang="en-US" sz="1100"/>
                    </a:p>
                  </a:txBody>
                  <a:tcPr anchor="t" anchorCtr="0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000" b="0" i="0" u="none" strike="noStrike">
                          <a:solidFill>
                            <a:srgbClr val="2C2A26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3</a:t>
                      </a:r>
                      <a:endParaRPr lang="en-US" sz="1100"/>
                    </a:p>
                  </a:txBody>
                  <a:tcPr anchor="t" anchorCtr="0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000" b="0" i="0" u="none" strike="noStrike">
                          <a:solidFill>
                            <a:srgbClr val="2C2A26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压缩结果的可视化验证手段</a:t>
                      </a:r>
                      <a:endParaRPr lang="en-US" sz="1100"/>
                    </a:p>
                  </a:txBody>
                  <a:tcPr anchor="t" anchorCtr="0">
                    <a:lnL>
                      <a:noFill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81381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000" b="0" i="0" u="none" strike="noStrike">
                          <a:solidFill>
                            <a:srgbClr val="2C2A26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7</a:t>
                      </a:r>
                      <a:endParaRPr lang="en-US" sz="1100"/>
                    </a:p>
                  </a:txBody>
                  <a:tcPr anchor="t" anchorCtr="0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000" b="0" i="0" u="none" strike="noStrike">
                          <a:solidFill>
                            <a:srgbClr val="2C2A26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US-12 问题起点展示</a:t>
                      </a:r>
                      <a:endParaRPr lang="en-US" sz="1100"/>
                    </a:p>
                  </a:txBody>
                  <a:tcPr anchor="t" anchorCtr="0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000" b="0" i="0" u="none" strike="noStrike">
                          <a:solidFill>
                            <a:srgbClr val="2C2A26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3</a:t>
                      </a:r>
                      <a:endParaRPr lang="en-US" sz="1100"/>
                    </a:p>
                  </a:txBody>
                  <a:tcPr anchor="t" anchorCtr="0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000" b="0" i="0" u="none" strike="noStrike">
                          <a:solidFill>
                            <a:srgbClr val="2C2A26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定位结果的可视化验证手段</a:t>
                      </a:r>
                      <a:endParaRPr lang="en-US" sz="1100"/>
                    </a:p>
                  </a:txBody>
                  <a:tcPr anchor="t" anchorCtr="0">
                    <a:lnL>
                      <a:noFill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81381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000" b="0" i="0" u="none" strike="noStrike">
                          <a:solidFill>
                            <a:srgbClr val="2C2A26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8</a:t>
                      </a:r>
                      <a:endParaRPr lang="en-US" sz="1100"/>
                    </a:p>
                  </a:txBody>
                  <a:tcPr anchor="t" anchorCtr="0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000" b="0" i="0" u="none" strike="noStrike">
                          <a:solidFill>
                            <a:srgbClr val="2C2A26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US-06 关键报警保留</a:t>
                      </a:r>
                      <a:endParaRPr lang="en-US" sz="1100"/>
                    </a:p>
                  </a:txBody>
                  <a:tcPr anchor="t" anchorCtr="0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000" b="0" i="0" u="none" strike="noStrike">
                          <a:solidFill>
                            <a:srgbClr val="2C2A26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3</a:t>
                      </a:r>
                      <a:endParaRPr lang="en-US" sz="1100"/>
                    </a:p>
                  </a:txBody>
                  <a:tcPr anchor="t" anchorCtr="0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000" b="0" i="0" u="none" strike="noStrike">
                          <a:solidFill>
                            <a:srgbClr val="2C2A26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防止压缩误伤真实报警</a:t>
                      </a:r>
                      <a:endParaRPr lang="en-US" sz="1100"/>
                    </a:p>
                  </a:txBody>
                  <a:tcPr anchor="t" anchorCtr="0">
                    <a:lnL>
                      <a:noFill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81381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000" b="0" i="0" u="none" strike="noStrike">
                          <a:solidFill>
                            <a:srgbClr val="7A766C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9</a:t>
                      </a:r>
                      <a:endParaRPr lang="en-US" sz="1100"/>
                    </a:p>
                  </a:txBody>
                  <a:tcPr anchor="t" anchorCtr="0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000" b="0" i="0" u="none" strike="noStrike">
                          <a:solidFill>
                            <a:srgbClr val="7A766C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US-02 抖动报警</a:t>
                      </a:r>
                      <a:endParaRPr lang="en-US" sz="1100"/>
                    </a:p>
                  </a:txBody>
                  <a:tcPr anchor="t" anchorCtr="0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000" b="0" i="0" u="none" strike="noStrike">
                          <a:solidFill>
                            <a:srgbClr val="7A766C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2</a:t>
                      </a:r>
                      <a:endParaRPr lang="en-US" sz="1100"/>
                    </a:p>
                  </a:txBody>
                  <a:tcPr anchor="t" anchorCtr="0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000" b="0" i="0" u="none" strike="noStrike">
                          <a:solidFill>
                            <a:srgbClr val="7A766C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数据真实性，取消后不影响主流程</a:t>
                      </a:r>
                      <a:endParaRPr lang="en-US" sz="1100"/>
                    </a:p>
                  </a:txBody>
                  <a:tcPr anchor="t" anchorCtr="0">
                    <a:lnL>
                      <a:noFill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81381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000" b="0" i="0" u="none" strike="noStrike">
                          <a:solidFill>
                            <a:srgbClr val="7A766C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10</a:t>
                      </a:r>
                      <a:endParaRPr lang="en-US" sz="1100"/>
                    </a:p>
                  </a:txBody>
                  <a:tcPr anchor="t" anchorCtr="0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000" b="0" i="0" u="none" strike="noStrike">
                          <a:solidFill>
                            <a:srgbClr val="7A766C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US-03 重复报警</a:t>
                      </a:r>
                      <a:endParaRPr lang="en-US" sz="1100"/>
                    </a:p>
                  </a:txBody>
                  <a:tcPr anchor="t" anchorCtr="0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000" b="0" i="0" u="none" strike="noStrike">
                          <a:solidFill>
                            <a:srgbClr val="7A766C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2</a:t>
                      </a:r>
                      <a:endParaRPr lang="en-US" sz="1100"/>
                    </a:p>
                  </a:txBody>
                  <a:tcPr anchor="t" anchorCtr="0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000" b="0" i="0" u="none" strike="noStrike">
                          <a:solidFill>
                            <a:srgbClr val="7A766C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同 US-02</a:t>
                      </a:r>
                      <a:endParaRPr lang="en-US" sz="1100"/>
                    </a:p>
                  </a:txBody>
                  <a:tcPr anchor="t" anchorCtr="0">
                    <a:lnL>
                      <a:noFill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7" name="AutoShape 7"/>
          <p:cNvSpPr/>
          <p:nvPr/>
        </p:nvSpPr>
        <p:spPr>
          <a:xfrm>
            <a:off x="508000" y="5689600"/>
            <a:ext cx="50800" cy="787400"/>
          </a:xfrm>
          <a:prstGeom prst="roundRect">
            <a:avLst>
              <a:gd name="adj" fmla="val 0"/>
            </a:avLst>
          </a:prstGeom>
          <a:solidFill>
            <a:srgbClr val="C46A2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 anchorCtr="0"/>
          <a:lstStyle/>
          <a:p>
            <a:pPr algn="ctr">
              <a:defRPr/>
            </a:pPr>
          </a:p>
        </p:txBody>
      </p:sp>
      <p:sp>
        <p:nvSpPr>
          <p:cNvPr id="8" name="AutoShape 8"/>
          <p:cNvSpPr txBox="1"/>
          <p:nvPr/>
        </p:nvSpPr>
        <p:spPr>
          <a:xfrm>
            <a:off x="711200" y="5664200"/>
            <a:ext cx="7620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200" b="1" i="0" u="none" strike="noStrike">
                <a:solidFill>
                  <a:srgbClr val="2C2A26"/>
                </a:solidFill>
                <a:latin typeface="MiSans" charset="-122"/>
                <a:ea typeface="MiSans" charset="-122"/>
                <a:cs typeface="MiSans" charset="-122"/>
                <a:sym typeface="MiSans" charset="-122"/>
              </a:rPr>
              <a:t>为什么价值末位的 US-02 / US-03 安排在第一个迭代</a:t>
            </a:r>
            <a:endParaRPr lang="en-US" sz="1100"/>
          </a:p>
        </p:txBody>
      </p:sp>
      <p:sp>
        <p:nvSpPr>
          <p:cNvPr id="9" name="AutoShape 9"/>
          <p:cNvSpPr txBox="1"/>
          <p:nvPr/>
        </p:nvSpPr>
        <p:spPr>
          <a:xfrm>
            <a:off x="711200" y="5943600"/>
            <a:ext cx="10972800" cy="584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50000"/>
              </a:lnSpc>
              <a:defRPr/>
            </a:pPr>
            <a:r>
              <a:rPr lang="en-US" sz="1050" b="0" i="0" u="none" strike="noStrike">
                <a:solidFill>
                  <a:srgbClr val="2C2A26"/>
                </a:solidFill>
                <a:latin typeface="MiSans" charset="-122"/>
                <a:ea typeface="MiSans" charset="-122"/>
                <a:cs typeface="MiSans" charset="-122"/>
                <a:sym typeface="MiSans" charset="-122"/>
              </a:rPr>
              <a:t>这两条修改的是报警数据的</a:t>
            </a:r>
            <a:r>
              <a:rPr lang="en-US" sz="1050" b="1" i="0" u="none" strike="noStrike">
                <a:solidFill>
                  <a:srgbClr val="2C2A26"/>
                </a:solidFill>
                <a:latin typeface="MiSans" charset="-122"/>
                <a:ea typeface="MiSans" charset="-122"/>
                <a:cs typeface="MiSans" charset="-122"/>
                <a:sym typeface="MiSans" charset="-122"/>
              </a:rPr>
              <a:t>生成规则</a:t>
            </a:r>
            <a:r>
              <a:rPr lang="en-US" sz="1050" b="0" i="0" u="none" strike="noStrike">
                <a:solidFill>
                  <a:srgbClr val="2C2A26"/>
                </a:solidFill>
                <a:latin typeface="MiSans" charset="-122"/>
                <a:ea typeface="MiSans" charset="-122"/>
                <a:cs typeface="MiSans" charset="-122"/>
                <a:sym typeface="MiSans" charset="-122"/>
              </a:rPr>
              <a:t>，而数据集只生成一次：若推迟到第三个迭代，前两个迭代已完成的压缩率、保留率、命中率统计都需重算。因此凡涉及数据生成逻辑的改动，须在数据阶段一次完成。</a:t>
            </a:r>
            <a:endParaRPr lang="en-US" sz="1100"/>
          </a:p>
        </p:txBody>
      </p:sp>
      <p:sp>
        <p:nvSpPr>
          <p:cNvPr id="10" name="AutoShape 10"/>
          <p:cNvSpPr txBox="1"/>
          <p:nvPr/>
        </p:nvSpPr>
        <p:spPr>
          <a:xfrm>
            <a:off x="711200" y="6578600"/>
            <a:ext cx="109728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000" b="0" i="0" u="none" strike="noStrike">
                <a:solidFill>
                  <a:srgbClr val="7A766C"/>
                </a:solidFill>
                <a:latin typeface="MiSans" charset="-122"/>
                <a:ea typeface="MiSans" charset="-122"/>
                <a:cs typeface="MiSans" charset="-122"/>
                <a:sym typeface="MiSans" charset="-122"/>
              </a:rPr>
              <a:t>规则：优先级依据价值确定；迭代分配在满足依赖关系与一致性的前提下，优先安排高价值故事</a:t>
            </a:r>
            <a:endParaRPr lang="en-US" sz="11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6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 txBox="1"/>
          <p:nvPr/>
        </p:nvSpPr>
        <p:spPr>
          <a:xfrm>
            <a:off x="508000" y="304800"/>
            <a:ext cx="38100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000" b="0" i="0" u="none" strike="noStrike" spc="200">
                <a:solidFill>
                  <a:srgbClr val="7A766C"/>
                </a:solidFill>
                <a:latin typeface="MiSans" charset="-122"/>
                <a:ea typeface="MiSans" charset="-122"/>
                <a:cs typeface="MiSans" charset="-122"/>
                <a:sym typeface="MiSans" charset="-122"/>
              </a:rPr>
              <a:t>讨论 3 · 项目计划 —— 敏捷 WBS 与里程碑</a:t>
            </a:r>
            <a:endParaRPr lang="en-US" sz="1100"/>
          </a:p>
        </p:txBody>
      </p:sp>
      <p:sp>
        <p:nvSpPr>
          <p:cNvPr id="3" name="AutoShape 3"/>
          <p:cNvSpPr txBox="1"/>
          <p:nvPr/>
        </p:nvSpPr>
        <p:spPr>
          <a:xfrm>
            <a:off x="10922000" y="304800"/>
            <a:ext cx="7620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r">
              <a:lnSpc>
                <a:spcPct val="117000"/>
              </a:lnSpc>
              <a:defRPr/>
            </a:pPr>
            <a:r>
              <a:rPr lang="en-US" sz="1000" b="0" i="0" u="none" strike="noStrike">
                <a:solidFill>
                  <a:srgbClr val="7A766C"/>
                </a:solidFill>
                <a:latin typeface="MiSans" charset="-122"/>
                <a:ea typeface="MiSans" charset="-122"/>
                <a:cs typeface="MiSans" charset="-122"/>
                <a:sym typeface="MiSans" charset="-122"/>
              </a:rPr>
              <a:t>08 / 13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3810000" y="584200"/>
            <a:ext cx="4572000" cy="508000"/>
          </a:xfrm>
          <a:prstGeom prst="roundRect">
            <a:avLst>
              <a:gd name="adj" fmla="val 0"/>
            </a:avLst>
          </a:prstGeom>
          <a:solidFill>
            <a:srgbClr val="1F4E5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 anchorCtr="0"/>
          <a:lstStyle/>
          <a:p>
            <a:pPr algn="ctr">
              <a:defRPr/>
            </a:pPr>
          </a:p>
        </p:txBody>
      </p:sp>
      <p:sp>
        <p:nvSpPr>
          <p:cNvPr id="5" name="AutoShape 5"/>
          <p:cNvSpPr txBox="1"/>
          <p:nvPr/>
        </p:nvSpPr>
        <p:spPr>
          <a:xfrm>
            <a:off x="3810000" y="584200"/>
            <a:ext cx="457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117000"/>
              </a:lnSpc>
              <a:defRPr/>
            </a:pPr>
            <a:r>
              <a:rPr lang="en-US" sz="1500" b="1" i="0" u="none" strike="noStrike">
                <a:solidFill>
                  <a:srgbClr val="FFFFFF"/>
                </a:solidFill>
                <a:latin typeface="MiSans" charset="-122"/>
                <a:ea typeface="MiSans" charset="-122"/>
                <a:cs typeface="MiSans" charset="-122"/>
                <a:sym typeface="MiSans" charset="-122"/>
              </a:rPr>
              <a:t>1 工业报警洪水治理系统</a:t>
            </a:r>
            <a:endParaRPr lang="en-US" sz="1100"/>
          </a:p>
        </p:txBody>
      </p:sp>
      <p:sp>
        <p:nvSpPr>
          <p:cNvPr id="6" name="AutoShape 6"/>
          <p:cNvSpPr txBox="1"/>
          <p:nvPr/>
        </p:nvSpPr>
        <p:spPr>
          <a:xfrm>
            <a:off x="8636000" y="711200"/>
            <a:ext cx="3048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r">
              <a:lnSpc>
                <a:spcPct val="133000"/>
              </a:lnSpc>
              <a:defRPr/>
            </a:pPr>
            <a:r>
              <a:rPr lang="en-US" sz="900" b="0" i="0" u="none" strike="noStrike">
                <a:solidFill>
                  <a:srgbClr val="7A766C"/>
                </a:solidFill>
                <a:latin typeface="MiSans" charset="-122"/>
                <a:ea typeface="MiSans" charset="-122"/>
                <a:cs typeface="MiSans" charset="-122"/>
                <a:sym typeface="MiSans" charset="-122"/>
              </a:rPr>
              <a:t>按敏捷迭代过程分解，含项目管理工作</a:t>
            </a:r>
            <a:endParaRPr lang="en-US" sz="1100"/>
          </a:p>
          <a:p>
            <a:pPr marL="0" indent="0" algn="r">
              <a:lnSpc>
                <a:spcPct val="133000"/>
              </a:lnSpc>
            </a:pPr>
            <a:r>
              <a:rPr lang="en-US" sz="900" b="0" i="0" u="none" strike="noStrike">
                <a:solidFill>
                  <a:srgbClr val="C46A2B"/>
                </a:solidFill>
                <a:latin typeface="MiSans" charset="-122"/>
                <a:ea typeface="MiSans" charset="-122"/>
                <a:cs typeface="MiSans" charset="-122"/>
                <a:sym typeface="MiSans" charset="-122"/>
              </a:rPr>
              <a:t>◆</a:t>
            </a:r>
            <a:r>
              <a:rPr lang="en-US" sz="900" b="0" i="0" u="none" strike="noStrike">
                <a:solidFill>
                  <a:srgbClr val="7A766C"/>
                </a:solidFill>
                <a:latin typeface="MiSans" charset="-122"/>
                <a:ea typeface="MiSans" charset="-122"/>
                <a:cs typeface="MiSans" charset="-122"/>
                <a:sym typeface="MiSans" charset="-122"/>
              </a:rPr>
              <a:t> 为里程碑（工期为 0）</a:t>
            </a:r>
            <a:endParaRPr lang="en-US" sz="900" b="0" i="0" u="none" strike="noStrike">
              <a:solidFill>
                <a:srgbClr val="7A766C"/>
              </a:solidFill>
              <a:latin typeface="MiSans" charset="-122"/>
              <a:ea typeface="MiSans" charset="-122"/>
              <a:cs typeface="MiSans" charset="-122"/>
              <a:sym typeface="MiSans" charset="-122"/>
            </a:endParaRPr>
          </a:p>
        </p:txBody>
      </p:sp>
      <p:sp>
        <p:nvSpPr>
          <p:cNvPr id="7" name="Freeform 7"/>
          <p:cNvSpPr/>
          <p:nvPr/>
        </p:nvSpPr>
        <p:spPr>
          <a:xfrm>
            <a:off x="6096000" y="1092200"/>
            <a:ext cx="0" cy="254000"/>
          </a:xfrm>
          <a:custGeom>
            <a:avLst/>
            <a:gdLst/>
            <a:ahLst/>
            <a:cxnLst/>
            <a:rect l="l" t="t" r="r" b="b"/>
            <a:pathLst>
              <a:path h="254000">
                <a:moveTo>
                  <a:pt x="0" y="0"/>
                </a:moveTo>
                <a:lnTo>
                  <a:pt x="0" y="254000"/>
                </a:lnTo>
              </a:path>
            </a:pathLst>
          </a:custGeom>
          <a:noFill/>
          <a:ln w="12700" cap="rnd" cmpd="sng">
            <a:solidFill>
              <a:srgbClr val="7A766C">
                <a:alpha val="100000"/>
              </a:srgbClr>
            </a:solidFill>
            <a:prstDash val="solid"/>
            <a:round/>
          </a:ln>
        </p:spPr>
        <p:txBody>
          <a:bodyPr vert="horz" wrap="square" lIns="91440" tIns="45720" rIns="91440" bIns="45720" rtlCol="0" anchor="t" anchorCtr="0"/>
          <a:lstStyle/>
          <a:p>
            <a:pPr algn="ctr">
              <a:defRPr/>
            </a:pPr>
          </a:p>
        </p:txBody>
      </p:sp>
      <p:sp>
        <p:nvSpPr>
          <p:cNvPr id="8" name="Freeform 8"/>
          <p:cNvSpPr/>
          <p:nvPr/>
        </p:nvSpPr>
        <p:spPr>
          <a:xfrm>
            <a:off x="1473200" y="1346200"/>
            <a:ext cx="9245600" cy="0"/>
          </a:xfrm>
          <a:custGeom>
            <a:avLst/>
            <a:gdLst/>
            <a:ahLst/>
            <a:cxnLst/>
            <a:rect l="l" t="t" r="r" b="b"/>
            <a:pathLst>
              <a:path w="9245600">
                <a:moveTo>
                  <a:pt x="0" y="0"/>
                </a:moveTo>
                <a:lnTo>
                  <a:pt x="9245600" y="0"/>
                </a:lnTo>
              </a:path>
            </a:pathLst>
          </a:custGeom>
          <a:noFill/>
          <a:ln w="12700" cap="rnd" cmpd="sng">
            <a:solidFill>
              <a:srgbClr val="7A766C">
                <a:alpha val="100000"/>
              </a:srgbClr>
            </a:solidFill>
            <a:prstDash val="solid"/>
            <a:round/>
          </a:ln>
        </p:spPr>
        <p:txBody>
          <a:bodyPr vert="horz" wrap="square" lIns="91440" tIns="45720" rIns="91440" bIns="45720" rtlCol="0" anchor="t" anchorCtr="0"/>
          <a:lstStyle/>
          <a:p>
            <a:pPr algn="ctr">
              <a:defRPr/>
            </a:pPr>
          </a:p>
        </p:txBody>
      </p:sp>
      <p:sp>
        <p:nvSpPr>
          <p:cNvPr id="9" name="Freeform 9"/>
          <p:cNvSpPr/>
          <p:nvPr/>
        </p:nvSpPr>
        <p:spPr>
          <a:xfrm>
            <a:off x="1473200" y="1358900"/>
            <a:ext cx="0" cy="266700"/>
          </a:xfrm>
          <a:custGeom>
            <a:avLst/>
            <a:gdLst/>
            <a:ahLst/>
            <a:cxnLst/>
            <a:rect l="l" t="t" r="r" b="b"/>
            <a:pathLst>
              <a:path h="266700">
                <a:moveTo>
                  <a:pt x="0" y="0"/>
                </a:moveTo>
                <a:lnTo>
                  <a:pt x="0" y="266700"/>
                </a:lnTo>
              </a:path>
            </a:pathLst>
          </a:custGeom>
          <a:noFill/>
          <a:ln w="12700" cap="rnd" cmpd="sng">
            <a:solidFill>
              <a:srgbClr val="7A766C">
                <a:alpha val="100000"/>
              </a:srgbClr>
            </a:solidFill>
            <a:prstDash val="solid"/>
            <a:round/>
          </a:ln>
        </p:spPr>
        <p:txBody>
          <a:bodyPr vert="horz" wrap="square" lIns="91440" tIns="45720" rIns="91440" bIns="45720" rtlCol="0" anchor="t" anchorCtr="0"/>
          <a:lstStyle/>
          <a:p>
            <a:pPr algn="ctr">
              <a:defRPr/>
            </a:pPr>
          </a:p>
        </p:txBody>
      </p:sp>
      <p:sp>
        <p:nvSpPr>
          <p:cNvPr id="10" name="Freeform 10"/>
          <p:cNvSpPr/>
          <p:nvPr/>
        </p:nvSpPr>
        <p:spPr>
          <a:xfrm>
            <a:off x="3784600" y="1358900"/>
            <a:ext cx="0" cy="266700"/>
          </a:xfrm>
          <a:custGeom>
            <a:avLst/>
            <a:gdLst/>
            <a:ahLst/>
            <a:cxnLst/>
            <a:rect l="l" t="t" r="r" b="b"/>
            <a:pathLst>
              <a:path h="266700">
                <a:moveTo>
                  <a:pt x="0" y="0"/>
                </a:moveTo>
                <a:lnTo>
                  <a:pt x="0" y="266700"/>
                </a:lnTo>
              </a:path>
            </a:pathLst>
          </a:custGeom>
          <a:noFill/>
          <a:ln w="12700" cap="rnd" cmpd="sng">
            <a:solidFill>
              <a:srgbClr val="7A766C">
                <a:alpha val="100000"/>
              </a:srgbClr>
            </a:solidFill>
            <a:prstDash val="solid"/>
            <a:round/>
          </a:ln>
        </p:spPr>
        <p:txBody>
          <a:bodyPr vert="horz" wrap="square" lIns="91440" tIns="45720" rIns="91440" bIns="45720" rtlCol="0" anchor="t" anchorCtr="0"/>
          <a:lstStyle/>
          <a:p>
            <a:pPr algn="ctr">
              <a:defRPr/>
            </a:pPr>
          </a:p>
        </p:txBody>
      </p:sp>
      <p:sp>
        <p:nvSpPr>
          <p:cNvPr id="11" name="Freeform 11"/>
          <p:cNvSpPr/>
          <p:nvPr/>
        </p:nvSpPr>
        <p:spPr>
          <a:xfrm>
            <a:off x="6096000" y="1358900"/>
            <a:ext cx="0" cy="266700"/>
          </a:xfrm>
          <a:custGeom>
            <a:avLst/>
            <a:gdLst/>
            <a:ahLst/>
            <a:cxnLst/>
            <a:rect l="l" t="t" r="r" b="b"/>
            <a:pathLst>
              <a:path h="266700">
                <a:moveTo>
                  <a:pt x="0" y="0"/>
                </a:moveTo>
                <a:lnTo>
                  <a:pt x="0" y="266700"/>
                </a:lnTo>
              </a:path>
            </a:pathLst>
          </a:custGeom>
          <a:noFill/>
          <a:ln w="12700" cap="rnd" cmpd="sng">
            <a:solidFill>
              <a:srgbClr val="7A766C">
                <a:alpha val="100000"/>
              </a:srgbClr>
            </a:solidFill>
            <a:prstDash val="solid"/>
            <a:round/>
          </a:ln>
        </p:spPr>
        <p:txBody>
          <a:bodyPr vert="horz" wrap="square" lIns="91440" tIns="45720" rIns="91440" bIns="45720" rtlCol="0" anchor="t" anchorCtr="0"/>
          <a:lstStyle/>
          <a:p>
            <a:pPr algn="ctr">
              <a:defRPr/>
            </a:pPr>
          </a:p>
        </p:txBody>
      </p:sp>
      <p:sp>
        <p:nvSpPr>
          <p:cNvPr id="12" name="Freeform 12"/>
          <p:cNvSpPr/>
          <p:nvPr/>
        </p:nvSpPr>
        <p:spPr>
          <a:xfrm>
            <a:off x="8407400" y="1358900"/>
            <a:ext cx="0" cy="266700"/>
          </a:xfrm>
          <a:custGeom>
            <a:avLst/>
            <a:gdLst/>
            <a:ahLst/>
            <a:cxnLst/>
            <a:rect l="l" t="t" r="r" b="b"/>
            <a:pathLst>
              <a:path h="266700">
                <a:moveTo>
                  <a:pt x="0" y="0"/>
                </a:moveTo>
                <a:lnTo>
                  <a:pt x="0" y="266700"/>
                </a:lnTo>
              </a:path>
            </a:pathLst>
          </a:custGeom>
          <a:noFill/>
          <a:ln w="12700" cap="rnd" cmpd="sng">
            <a:solidFill>
              <a:srgbClr val="7A766C">
                <a:alpha val="100000"/>
              </a:srgbClr>
            </a:solidFill>
            <a:prstDash val="solid"/>
            <a:round/>
          </a:ln>
        </p:spPr>
        <p:txBody>
          <a:bodyPr vert="horz" wrap="square" lIns="91440" tIns="45720" rIns="91440" bIns="45720" rtlCol="0" anchor="t" anchorCtr="0"/>
          <a:lstStyle/>
          <a:p>
            <a:pPr algn="ctr">
              <a:defRPr/>
            </a:pPr>
          </a:p>
        </p:txBody>
      </p:sp>
      <p:sp>
        <p:nvSpPr>
          <p:cNvPr id="13" name="Freeform 13"/>
          <p:cNvSpPr/>
          <p:nvPr/>
        </p:nvSpPr>
        <p:spPr>
          <a:xfrm>
            <a:off x="10718800" y="1358900"/>
            <a:ext cx="0" cy="266700"/>
          </a:xfrm>
          <a:custGeom>
            <a:avLst/>
            <a:gdLst/>
            <a:ahLst/>
            <a:cxnLst/>
            <a:rect l="l" t="t" r="r" b="b"/>
            <a:pathLst>
              <a:path h="266700">
                <a:moveTo>
                  <a:pt x="0" y="0"/>
                </a:moveTo>
                <a:lnTo>
                  <a:pt x="0" y="266700"/>
                </a:lnTo>
              </a:path>
            </a:pathLst>
          </a:custGeom>
          <a:noFill/>
          <a:ln w="12700" cap="rnd" cmpd="sng">
            <a:solidFill>
              <a:srgbClr val="7A766C">
                <a:alpha val="100000"/>
              </a:srgbClr>
            </a:solidFill>
            <a:prstDash val="solid"/>
            <a:round/>
          </a:ln>
        </p:spPr>
        <p:txBody>
          <a:bodyPr vert="horz" wrap="square" lIns="91440" tIns="45720" rIns="91440" bIns="45720" rtlCol="0" anchor="t" anchorCtr="0"/>
          <a:lstStyle/>
          <a:p>
            <a:pPr algn="ctr">
              <a:defRPr/>
            </a:pPr>
          </a:p>
        </p:txBody>
      </p:sp>
      <p:sp>
        <p:nvSpPr>
          <p:cNvPr id="14" name="AutoShape 14"/>
          <p:cNvSpPr/>
          <p:nvPr/>
        </p:nvSpPr>
        <p:spPr>
          <a:xfrm>
            <a:off x="381000" y="1625600"/>
            <a:ext cx="2184400" cy="381000"/>
          </a:xfrm>
          <a:prstGeom prst="roundRect">
            <a:avLst>
              <a:gd name="adj" fmla="val 0"/>
            </a:avLst>
          </a:prstGeom>
          <a:solidFill>
            <a:srgbClr val="E3EBED">
              <a:alpha val="100000"/>
            </a:srgbClr>
          </a:solidFill>
          <a:ln w="12700" cap="flat" cmpd="sng">
            <a:solidFill>
              <a:srgbClr val="1F4E56">
                <a:alpha val="100000"/>
              </a:srgbClr>
            </a:solidFill>
            <a:prstDash val="solid"/>
            <a:miter lim="1000000"/>
          </a:ln>
        </p:spPr>
        <p:txBody>
          <a:bodyPr vert="horz" wrap="square" lIns="91440" tIns="45720" rIns="91440" bIns="45720" rtlCol="0" anchor="t" anchorCtr="0"/>
          <a:lstStyle/>
          <a:p>
            <a:pPr algn="ctr">
              <a:defRPr/>
            </a:pPr>
          </a:p>
        </p:txBody>
      </p:sp>
      <p:sp>
        <p:nvSpPr>
          <p:cNvPr id="15" name="AutoShape 15"/>
          <p:cNvSpPr txBox="1"/>
          <p:nvPr/>
        </p:nvSpPr>
        <p:spPr>
          <a:xfrm>
            <a:off x="381000" y="1625600"/>
            <a:ext cx="21844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117000"/>
              </a:lnSpc>
              <a:defRPr/>
            </a:pPr>
            <a:r>
              <a:rPr lang="en-US" sz="1050" b="1" i="0" u="none" strike="noStrike">
                <a:solidFill>
                  <a:srgbClr val="1F4E56"/>
                </a:solidFill>
                <a:latin typeface="MiSans" charset="-122"/>
                <a:ea typeface="MiSans" charset="-122"/>
                <a:cs typeface="MiSans" charset="-122"/>
                <a:sym typeface="MiSans" charset="-122"/>
              </a:rPr>
              <a:t>1.1 项目启动与计划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2692400" y="1625600"/>
            <a:ext cx="2184400" cy="381000"/>
          </a:xfrm>
          <a:prstGeom prst="roundRect">
            <a:avLst>
              <a:gd name="adj" fmla="val 0"/>
            </a:avLst>
          </a:prstGeom>
          <a:solidFill>
            <a:srgbClr val="E3EBED">
              <a:alpha val="100000"/>
            </a:srgbClr>
          </a:solidFill>
          <a:ln w="12700" cap="flat" cmpd="sng">
            <a:solidFill>
              <a:srgbClr val="1F4E56">
                <a:alpha val="100000"/>
              </a:srgbClr>
            </a:solidFill>
            <a:prstDash val="solid"/>
            <a:miter lim="1000000"/>
          </a:ln>
        </p:spPr>
        <p:txBody>
          <a:bodyPr vert="horz" wrap="square" lIns="91440" tIns="45720" rIns="91440" bIns="45720" rtlCol="0" anchor="t" anchorCtr="0"/>
          <a:lstStyle/>
          <a:p>
            <a:pPr algn="ctr">
              <a:defRPr/>
            </a:pPr>
          </a:p>
        </p:txBody>
      </p:sp>
      <p:sp>
        <p:nvSpPr>
          <p:cNvPr id="17" name="AutoShape 17"/>
          <p:cNvSpPr txBox="1"/>
          <p:nvPr/>
        </p:nvSpPr>
        <p:spPr>
          <a:xfrm>
            <a:off x="2692400" y="1625600"/>
            <a:ext cx="21844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117000"/>
              </a:lnSpc>
              <a:defRPr/>
            </a:pPr>
            <a:r>
              <a:rPr lang="en-US" sz="1050" b="1" i="0" u="none" strike="noStrike">
                <a:solidFill>
                  <a:srgbClr val="1F4E56"/>
                </a:solidFill>
                <a:latin typeface="MiSans" charset="-122"/>
                <a:ea typeface="MiSans" charset="-122"/>
                <a:cs typeface="MiSans" charset="-122"/>
                <a:sym typeface="MiSans" charset="-122"/>
              </a:rPr>
              <a:t>1.2 迭代一：数据基础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5003800" y="1625600"/>
            <a:ext cx="2184400" cy="381000"/>
          </a:xfrm>
          <a:prstGeom prst="roundRect">
            <a:avLst>
              <a:gd name="adj" fmla="val 0"/>
            </a:avLst>
          </a:prstGeom>
          <a:solidFill>
            <a:srgbClr val="E3EBED">
              <a:alpha val="100000"/>
            </a:srgbClr>
          </a:solidFill>
          <a:ln w="12700" cap="flat" cmpd="sng">
            <a:solidFill>
              <a:srgbClr val="1F4E56">
                <a:alpha val="100000"/>
              </a:srgbClr>
            </a:solidFill>
            <a:prstDash val="solid"/>
            <a:miter lim="1000000"/>
          </a:ln>
        </p:spPr>
        <p:txBody>
          <a:bodyPr vert="horz" wrap="square" lIns="91440" tIns="45720" rIns="91440" bIns="45720" rtlCol="0" anchor="t" anchorCtr="0"/>
          <a:lstStyle/>
          <a:p>
            <a:pPr algn="ctr">
              <a:defRPr/>
            </a:pPr>
          </a:p>
        </p:txBody>
      </p:sp>
      <p:sp>
        <p:nvSpPr>
          <p:cNvPr id="19" name="AutoShape 19"/>
          <p:cNvSpPr txBox="1"/>
          <p:nvPr/>
        </p:nvSpPr>
        <p:spPr>
          <a:xfrm>
            <a:off x="5003800" y="1625600"/>
            <a:ext cx="21844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117000"/>
              </a:lnSpc>
              <a:defRPr/>
            </a:pPr>
            <a:r>
              <a:rPr lang="en-US" sz="1050" b="1" i="0" u="none" strike="noStrike">
                <a:solidFill>
                  <a:srgbClr val="1F4E56"/>
                </a:solidFill>
                <a:latin typeface="MiSans" charset="-122"/>
                <a:ea typeface="MiSans" charset="-122"/>
                <a:cs typeface="MiSans" charset="-122"/>
                <a:sym typeface="MiSans" charset="-122"/>
              </a:rPr>
              <a:t>1.3 迭代二：报警压缩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7315200" y="1625600"/>
            <a:ext cx="2184400" cy="381000"/>
          </a:xfrm>
          <a:prstGeom prst="roundRect">
            <a:avLst>
              <a:gd name="adj" fmla="val 0"/>
            </a:avLst>
          </a:prstGeom>
          <a:solidFill>
            <a:srgbClr val="E3EBED">
              <a:alpha val="100000"/>
            </a:srgbClr>
          </a:solidFill>
          <a:ln w="12700" cap="flat" cmpd="sng">
            <a:solidFill>
              <a:srgbClr val="1F4E56">
                <a:alpha val="100000"/>
              </a:srgbClr>
            </a:solidFill>
            <a:prstDash val="solid"/>
            <a:miter lim="1000000"/>
          </a:ln>
        </p:spPr>
        <p:txBody>
          <a:bodyPr vert="horz" wrap="square" lIns="91440" tIns="45720" rIns="91440" bIns="45720" rtlCol="0" anchor="t" anchorCtr="0"/>
          <a:lstStyle/>
          <a:p>
            <a:pPr algn="ctr">
              <a:defRPr/>
            </a:pPr>
          </a:p>
        </p:txBody>
      </p:sp>
      <p:sp>
        <p:nvSpPr>
          <p:cNvPr id="21" name="AutoShape 21"/>
          <p:cNvSpPr txBox="1"/>
          <p:nvPr/>
        </p:nvSpPr>
        <p:spPr>
          <a:xfrm>
            <a:off x="7315200" y="1625600"/>
            <a:ext cx="21844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117000"/>
              </a:lnSpc>
              <a:defRPr/>
            </a:pPr>
            <a:r>
              <a:rPr lang="en-US" sz="1050" b="1" i="0" u="none" strike="noStrike">
                <a:solidFill>
                  <a:srgbClr val="1F4E56"/>
                </a:solidFill>
                <a:latin typeface="MiSans" charset="-122"/>
                <a:ea typeface="MiSans" charset="-122"/>
                <a:cs typeface="MiSans" charset="-122"/>
                <a:sym typeface="MiSans" charset="-122"/>
              </a:rPr>
              <a:t>1.4 迭代三：源头定位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9626600" y="1625600"/>
            <a:ext cx="2184400" cy="381000"/>
          </a:xfrm>
          <a:prstGeom prst="roundRect">
            <a:avLst>
              <a:gd name="adj" fmla="val 0"/>
            </a:avLst>
          </a:prstGeom>
          <a:solidFill>
            <a:srgbClr val="E3EBED">
              <a:alpha val="100000"/>
            </a:srgbClr>
          </a:solidFill>
          <a:ln w="12700" cap="flat" cmpd="sng">
            <a:solidFill>
              <a:srgbClr val="1F4E56">
                <a:alpha val="100000"/>
              </a:srgbClr>
            </a:solidFill>
            <a:prstDash val="solid"/>
            <a:miter lim="1000000"/>
          </a:ln>
        </p:spPr>
        <p:txBody>
          <a:bodyPr vert="horz" wrap="square" lIns="91440" tIns="45720" rIns="91440" bIns="45720" rtlCol="0" anchor="t" anchorCtr="0"/>
          <a:lstStyle/>
          <a:p>
            <a:pPr algn="ctr">
              <a:defRPr/>
            </a:pPr>
          </a:p>
        </p:txBody>
      </p:sp>
      <p:sp>
        <p:nvSpPr>
          <p:cNvPr id="23" name="AutoShape 23"/>
          <p:cNvSpPr txBox="1"/>
          <p:nvPr/>
        </p:nvSpPr>
        <p:spPr>
          <a:xfrm>
            <a:off x="9626600" y="1625600"/>
            <a:ext cx="21844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117000"/>
              </a:lnSpc>
              <a:defRPr/>
            </a:pPr>
            <a:r>
              <a:rPr lang="en-US" sz="1050" b="1" i="0" u="none" strike="noStrike">
                <a:solidFill>
                  <a:srgbClr val="1F4E56"/>
                </a:solidFill>
                <a:latin typeface="MiSans" charset="-122"/>
                <a:ea typeface="MiSans" charset="-122"/>
                <a:cs typeface="MiSans" charset="-122"/>
                <a:sym typeface="MiSans" charset="-122"/>
              </a:rPr>
              <a:t>1.5 项目收尾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381000" y="2057400"/>
            <a:ext cx="12700" cy="1168400"/>
          </a:xfrm>
          <a:prstGeom prst="roundRect">
            <a:avLst>
              <a:gd name="adj" fmla="val 0"/>
            </a:avLst>
          </a:prstGeom>
          <a:solidFill>
            <a:srgbClr val="DDD9C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 anchorCtr="0"/>
          <a:lstStyle/>
          <a:p>
            <a:pPr algn="ctr">
              <a:defRPr/>
            </a:pPr>
          </a:p>
        </p:txBody>
      </p:sp>
      <p:sp>
        <p:nvSpPr>
          <p:cNvPr id="25" name="AutoShape 25"/>
          <p:cNvSpPr/>
          <p:nvPr/>
        </p:nvSpPr>
        <p:spPr>
          <a:xfrm>
            <a:off x="2692400" y="2057400"/>
            <a:ext cx="12700" cy="3035300"/>
          </a:xfrm>
          <a:prstGeom prst="roundRect">
            <a:avLst>
              <a:gd name="adj" fmla="val 0"/>
            </a:avLst>
          </a:prstGeom>
          <a:solidFill>
            <a:srgbClr val="DDD9C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 anchorCtr="0"/>
          <a:lstStyle/>
          <a:p>
            <a:pPr algn="ctr">
              <a:defRPr/>
            </a:pPr>
          </a:p>
        </p:txBody>
      </p:sp>
      <p:sp>
        <p:nvSpPr>
          <p:cNvPr id="26" name="AutoShape 26"/>
          <p:cNvSpPr/>
          <p:nvPr/>
        </p:nvSpPr>
        <p:spPr>
          <a:xfrm>
            <a:off x="5003800" y="2057400"/>
            <a:ext cx="12700" cy="2501900"/>
          </a:xfrm>
          <a:prstGeom prst="roundRect">
            <a:avLst>
              <a:gd name="adj" fmla="val 0"/>
            </a:avLst>
          </a:prstGeom>
          <a:solidFill>
            <a:srgbClr val="DDD9C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 anchorCtr="0"/>
          <a:lstStyle/>
          <a:p>
            <a:pPr algn="ctr">
              <a:defRPr/>
            </a:pPr>
          </a:p>
        </p:txBody>
      </p:sp>
      <p:sp>
        <p:nvSpPr>
          <p:cNvPr id="27" name="AutoShape 27"/>
          <p:cNvSpPr/>
          <p:nvPr/>
        </p:nvSpPr>
        <p:spPr>
          <a:xfrm>
            <a:off x="7315200" y="2057400"/>
            <a:ext cx="12700" cy="2768600"/>
          </a:xfrm>
          <a:prstGeom prst="roundRect">
            <a:avLst>
              <a:gd name="adj" fmla="val 0"/>
            </a:avLst>
          </a:prstGeom>
          <a:solidFill>
            <a:srgbClr val="DDD9C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 anchorCtr="0"/>
          <a:lstStyle/>
          <a:p>
            <a:pPr algn="ctr">
              <a:defRPr/>
            </a:pPr>
          </a:p>
        </p:txBody>
      </p:sp>
      <p:sp>
        <p:nvSpPr>
          <p:cNvPr id="28" name="AutoShape 28"/>
          <p:cNvSpPr/>
          <p:nvPr/>
        </p:nvSpPr>
        <p:spPr>
          <a:xfrm>
            <a:off x="9626600" y="2057400"/>
            <a:ext cx="12700" cy="901700"/>
          </a:xfrm>
          <a:prstGeom prst="roundRect">
            <a:avLst>
              <a:gd name="adj" fmla="val 0"/>
            </a:avLst>
          </a:prstGeom>
          <a:solidFill>
            <a:srgbClr val="DDD9C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 anchorCtr="0"/>
          <a:lstStyle/>
          <a:p>
            <a:pPr algn="ctr">
              <a:defRPr/>
            </a:pPr>
          </a:p>
        </p:txBody>
      </p:sp>
      <p:sp>
        <p:nvSpPr>
          <p:cNvPr id="29" name="AutoShape 29"/>
          <p:cNvSpPr txBox="1"/>
          <p:nvPr/>
        </p:nvSpPr>
        <p:spPr>
          <a:xfrm>
            <a:off x="482600" y="2082800"/>
            <a:ext cx="2082800" cy="1168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ts val="2100"/>
              </a:lnSpc>
              <a:defRPr/>
            </a:pPr>
            <a:r>
              <a:rPr lang="en-US" sz="900" b="0" i="0" u="none" strike="noStrike">
                <a:solidFill>
                  <a:srgbClr val="7A766C"/>
                </a:solidFill>
                <a:latin typeface="MiSans" charset="-122"/>
                <a:ea typeface="MiSans" charset="-122"/>
                <a:cs typeface="MiSans" charset="-122"/>
                <a:sym typeface="MiSans" charset="-122"/>
              </a:rPr>
              <a:t>1.1.1</a:t>
            </a:r>
            <a:r>
              <a:rPr lang="en-US" sz="900" b="0" i="0" u="none" strike="noStrike">
                <a:solidFill>
                  <a:srgbClr val="2C2A26"/>
                </a:solidFill>
                <a:latin typeface="MiSans" charset="-122"/>
                <a:ea typeface="MiSans" charset="-122"/>
                <a:cs typeface="MiSans" charset="-122"/>
                <a:sym typeface="MiSans" charset="-122"/>
              </a:rPr>
              <a:t> 项目章程与范围界定</a:t>
            </a:r>
            <a:endParaRPr lang="en-US" sz="1100"/>
          </a:p>
          <a:p>
            <a:pPr marL="0" indent="0" algn="l">
              <a:lnSpc>
                <a:spcPts val="2100"/>
              </a:lnSpc>
            </a:pPr>
            <a:r>
              <a:rPr lang="en-US" sz="900" b="0" i="0" u="none" strike="noStrike">
                <a:solidFill>
                  <a:srgbClr val="7A766C"/>
                </a:solidFill>
                <a:latin typeface="MiSans" charset="-122"/>
                <a:ea typeface="MiSans" charset="-122"/>
                <a:cs typeface="MiSans" charset="-122"/>
                <a:sym typeface="MiSans" charset="-122"/>
              </a:rPr>
              <a:t>1.1.2</a:t>
            </a:r>
            <a:r>
              <a:rPr lang="en-US" sz="900" b="0" i="0" u="none" strike="noStrike">
                <a:solidFill>
                  <a:srgbClr val="2C2A26"/>
                </a:solidFill>
                <a:latin typeface="MiSans" charset="-122"/>
                <a:ea typeface="MiSans" charset="-122"/>
                <a:cs typeface="MiSans" charset="-122"/>
                <a:sym typeface="MiSans" charset="-122"/>
              </a:rPr>
              <a:t> 用户故事编写与估算</a:t>
            </a:r>
            <a:endParaRPr lang="en-US" sz="900" b="0" i="0" u="none" strike="noStrike">
              <a:solidFill>
                <a:srgbClr val="2C2A26"/>
              </a:solidFill>
              <a:latin typeface="MiSans" charset="-122"/>
              <a:ea typeface="MiSans" charset="-122"/>
              <a:cs typeface="MiSans" charset="-122"/>
              <a:sym typeface="MiSans" charset="-122"/>
            </a:endParaRPr>
          </a:p>
          <a:p>
            <a:pPr marL="0" indent="0" algn="l">
              <a:lnSpc>
                <a:spcPts val="2100"/>
              </a:lnSpc>
            </a:pPr>
            <a:r>
              <a:rPr lang="en-US" sz="900" b="0" i="0" u="none" strike="noStrike">
                <a:solidFill>
                  <a:srgbClr val="7A766C"/>
                </a:solidFill>
                <a:latin typeface="MiSans" charset="-122"/>
                <a:ea typeface="MiSans" charset="-122"/>
                <a:cs typeface="MiSans" charset="-122"/>
                <a:sym typeface="MiSans" charset="-122"/>
              </a:rPr>
              <a:t>1.1.3</a:t>
            </a:r>
            <a:r>
              <a:rPr lang="en-US" sz="900" b="0" i="0" u="none" strike="noStrike">
                <a:solidFill>
                  <a:srgbClr val="2C2A26"/>
                </a:solidFill>
                <a:latin typeface="MiSans" charset="-122"/>
                <a:ea typeface="MiSans" charset="-122"/>
                <a:cs typeface="MiSans" charset="-122"/>
                <a:sym typeface="MiSans" charset="-122"/>
              </a:rPr>
              <a:t> 迭代划分与任务分配</a:t>
            </a:r>
            <a:endParaRPr lang="en-US" sz="900" b="0" i="0" u="none" strike="noStrike">
              <a:solidFill>
                <a:srgbClr val="2C2A26"/>
              </a:solidFill>
              <a:latin typeface="MiSans" charset="-122"/>
              <a:ea typeface="MiSans" charset="-122"/>
              <a:cs typeface="MiSans" charset="-122"/>
              <a:sym typeface="MiSans" charset="-122"/>
            </a:endParaRPr>
          </a:p>
          <a:p>
            <a:pPr marL="0" indent="0" algn="l">
              <a:lnSpc>
                <a:spcPts val="2100"/>
              </a:lnSpc>
            </a:pPr>
            <a:r>
              <a:rPr lang="en-US" sz="900" b="0" i="0" u="none" strike="noStrike">
                <a:solidFill>
                  <a:srgbClr val="7A766C"/>
                </a:solidFill>
                <a:latin typeface="MiSans" charset="-122"/>
                <a:ea typeface="MiSans" charset="-122"/>
                <a:cs typeface="MiSans" charset="-122"/>
                <a:sym typeface="MiSans" charset="-122"/>
              </a:rPr>
              <a:t>1.1.4</a:t>
            </a:r>
            <a:r>
              <a:rPr lang="en-US" sz="900" b="0" i="0" u="none" strike="noStrike">
                <a:solidFill>
                  <a:srgbClr val="2C2A26"/>
                </a:solidFill>
                <a:latin typeface="MiSans" charset="-122"/>
                <a:ea typeface="MiSans" charset="-122"/>
                <a:cs typeface="MiSans" charset="-122"/>
                <a:sym typeface="MiSans" charset="-122"/>
              </a:rPr>
              <a:t> </a:t>
            </a:r>
            <a:r>
              <a:rPr lang="en-US" sz="900" b="1" i="0" u="none" strike="noStrike">
                <a:solidFill>
                  <a:srgbClr val="C46A2B"/>
                </a:solidFill>
                <a:latin typeface="MiSans" charset="-122"/>
                <a:ea typeface="MiSans" charset="-122"/>
                <a:cs typeface="MiSans" charset="-122"/>
                <a:sym typeface="MiSans" charset="-122"/>
              </a:rPr>
              <a:t>◆ M0：计划评审通过</a:t>
            </a:r>
            <a:endParaRPr lang="en-US" sz="900" b="1" i="0" u="none" strike="noStrike">
              <a:solidFill>
                <a:srgbClr val="C46A2B"/>
              </a:solidFill>
              <a:latin typeface="MiSans" charset="-122"/>
              <a:ea typeface="MiSans" charset="-122"/>
              <a:cs typeface="MiSans" charset="-122"/>
              <a:sym typeface="MiSans" charset="-122"/>
            </a:endParaRPr>
          </a:p>
        </p:txBody>
      </p:sp>
      <p:sp>
        <p:nvSpPr>
          <p:cNvPr id="30" name="AutoShape 30"/>
          <p:cNvSpPr txBox="1"/>
          <p:nvPr/>
        </p:nvSpPr>
        <p:spPr>
          <a:xfrm>
            <a:off x="2794000" y="2082800"/>
            <a:ext cx="2082800" cy="30353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ts val="2100"/>
              </a:lnSpc>
              <a:defRPr/>
            </a:pPr>
            <a:r>
              <a:rPr lang="en-US" sz="900" b="0" i="0" u="none" strike="noStrike">
                <a:solidFill>
                  <a:srgbClr val="7A766C"/>
                </a:solidFill>
                <a:latin typeface="MiSans" charset="-122"/>
                <a:ea typeface="MiSans" charset="-122"/>
                <a:cs typeface="MiSans" charset="-122"/>
                <a:sym typeface="MiSans" charset="-122"/>
              </a:rPr>
              <a:t>1.2.1</a:t>
            </a:r>
            <a:r>
              <a:rPr lang="en-US" sz="900" b="0" i="0" u="none" strike="noStrike">
                <a:solidFill>
                  <a:srgbClr val="2C2A26"/>
                </a:solidFill>
                <a:latin typeface="MiSans" charset="-122"/>
                <a:ea typeface="MiSans" charset="-122"/>
                <a:cs typeface="MiSans" charset="-122"/>
                <a:sym typeface="MiSans" charset="-122"/>
              </a:rPr>
              <a:t> 迭代计划会</a:t>
            </a:r>
            <a:endParaRPr lang="en-US" sz="1100"/>
          </a:p>
          <a:p>
            <a:pPr marL="0" indent="0" algn="l">
              <a:lnSpc>
                <a:spcPts val="2100"/>
              </a:lnSpc>
            </a:pPr>
            <a:r>
              <a:rPr lang="en-US" sz="900" b="0" i="0" u="none" strike="noStrike">
                <a:solidFill>
                  <a:srgbClr val="7A766C"/>
                </a:solidFill>
                <a:latin typeface="MiSans" charset="-122"/>
                <a:ea typeface="MiSans" charset="-122"/>
                <a:cs typeface="MiSans" charset="-122"/>
                <a:sym typeface="MiSans" charset="-122"/>
              </a:rPr>
              <a:t>1.2.2</a:t>
            </a:r>
            <a:r>
              <a:rPr lang="en-US" sz="900" b="0" i="0" u="none" strike="noStrike">
                <a:solidFill>
                  <a:srgbClr val="2C2A26"/>
                </a:solidFill>
                <a:latin typeface="MiSans" charset="-122"/>
                <a:ea typeface="MiSans" charset="-122"/>
                <a:cs typeface="MiSans" charset="-122"/>
                <a:sym typeface="MiSans" charset="-122"/>
              </a:rPr>
              <a:t> 数据接入与格式统一</a:t>
            </a:r>
            <a:endParaRPr lang="en-US" sz="900" b="0" i="0" u="none" strike="noStrike">
              <a:solidFill>
                <a:srgbClr val="2C2A26"/>
              </a:solidFill>
              <a:latin typeface="MiSans" charset="-122"/>
              <a:ea typeface="MiSans" charset="-122"/>
              <a:cs typeface="MiSans" charset="-122"/>
              <a:sym typeface="MiSans" charset="-122"/>
            </a:endParaRPr>
          </a:p>
          <a:p>
            <a:pPr marL="0" indent="0" algn="l">
              <a:lnSpc>
                <a:spcPts val="2100"/>
              </a:lnSpc>
            </a:pPr>
            <a:r>
              <a:rPr lang="en-US" sz="900" b="0" i="0" u="none" strike="noStrike">
                <a:solidFill>
                  <a:srgbClr val="7A766C"/>
                </a:solidFill>
                <a:latin typeface="MiSans" charset="-122"/>
                <a:ea typeface="MiSans" charset="-122"/>
                <a:cs typeface="MiSans" charset="-122"/>
                <a:sym typeface="MiSans" charset="-122"/>
              </a:rPr>
              <a:t>1.2.3</a:t>
            </a:r>
            <a:r>
              <a:rPr lang="en-US" sz="900" b="0" i="0" u="none" strike="noStrike">
                <a:solidFill>
                  <a:srgbClr val="2C2A26"/>
                </a:solidFill>
                <a:latin typeface="MiSans" charset="-122"/>
                <a:ea typeface="MiSans" charset="-122"/>
                <a:cs typeface="MiSans" charset="-122"/>
                <a:sym typeface="MiSans" charset="-122"/>
              </a:rPr>
              <a:t> 报警上下限定义</a:t>
            </a:r>
            <a:endParaRPr lang="en-US" sz="900" b="0" i="0" u="none" strike="noStrike">
              <a:solidFill>
                <a:srgbClr val="2C2A26"/>
              </a:solidFill>
              <a:latin typeface="MiSans" charset="-122"/>
              <a:ea typeface="MiSans" charset="-122"/>
              <a:cs typeface="MiSans" charset="-122"/>
              <a:sym typeface="MiSans" charset="-122"/>
            </a:endParaRPr>
          </a:p>
          <a:p>
            <a:pPr marL="0" indent="0" algn="l">
              <a:lnSpc>
                <a:spcPts val="2100"/>
              </a:lnSpc>
            </a:pPr>
            <a:r>
              <a:rPr lang="en-US" sz="900" b="0" i="0" u="none" strike="noStrike">
                <a:solidFill>
                  <a:srgbClr val="7A766C"/>
                </a:solidFill>
                <a:latin typeface="MiSans" charset="-122"/>
                <a:ea typeface="MiSans" charset="-122"/>
                <a:cs typeface="MiSans" charset="-122"/>
                <a:sym typeface="MiSans" charset="-122"/>
              </a:rPr>
              <a:t>1.2.4</a:t>
            </a:r>
            <a:r>
              <a:rPr lang="en-US" sz="900" b="0" i="0" u="none" strike="noStrike">
                <a:solidFill>
                  <a:srgbClr val="2C2A26"/>
                </a:solidFill>
                <a:latin typeface="MiSans" charset="-122"/>
                <a:ea typeface="MiSans" charset="-122"/>
                <a:cs typeface="MiSans" charset="-122"/>
                <a:sym typeface="MiSans" charset="-122"/>
              </a:rPr>
              <a:t> 报警记录生成</a:t>
            </a:r>
            <a:endParaRPr lang="en-US" sz="900" b="0" i="0" u="none" strike="noStrike">
              <a:solidFill>
                <a:srgbClr val="2C2A26"/>
              </a:solidFill>
              <a:latin typeface="MiSans" charset="-122"/>
              <a:ea typeface="MiSans" charset="-122"/>
              <a:cs typeface="MiSans" charset="-122"/>
              <a:sym typeface="MiSans" charset="-122"/>
            </a:endParaRPr>
          </a:p>
          <a:p>
            <a:pPr marL="0" indent="0" algn="l">
              <a:lnSpc>
                <a:spcPts val="2100"/>
              </a:lnSpc>
            </a:pPr>
            <a:r>
              <a:rPr lang="en-US" sz="900" b="0" i="0" u="none" strike="noStrike">
                <a:solidFill>
                  <a:srgbClr val="7A766C"/>
                </a:solidFill>
                <a:latin typeface="MiSans" charset="-122"/>
                <a:ea typeface="MiSans" charset="-122"/>
                <a:cs typeface="MiSans" charset="-122"/>
                <a:sym typeface="MiSans" charset="-122"/>
              </a:rPr>
              <a:t>1.2.5</a:t>
            </a:r>
            <a:r>
              <a:rPr lang="en-US" sz="900" b="0" i="0" u="none" strike="noStrike">
                <a:solidFill>
                  <a:srgbClr val="2C2A26"/>
                </a:solidFill>
                <a:latin typeface="MiSans" charset="-122"/>
                <a:ea typeface="MiSans" charset="-122"/>
                <a:cs typeface="MiSans" charset="-122"/>
                <a:sym typeface="MiSans" charset="-122"/>
              </a:rPr>
              <a:t> 抖动报警注入</a:t>
            </a:r>
            <a:endParaRPr lang="en-US" sz="900" b="0" i="0" u="none" strike="noStrike">
              <a:solidFill>
                <a:srgbClr val="2C2A26"/>
              </a:solidFill>
              <a:latin typeface="MiSans" charset="-122"/>
              <a:ea typeface="MiSans" charset="-122"/>
              <a:cs typeface="MiSans" charset="-122"/>
              <a:sym typeface="MiSans" charset="-122"/>
            </a:endParaRPr>
          </a:p>
          <a:p>
            <a:pPr marL="0" indent="0" algn="l">
              <a:lnSpc>
                <a:spcPts val="2100"/>
              </a:lnSpc>
            </a:pPr>
            <a:r>
              <a:rPr lang="en-US" sz="900" b="0" i="0" u="none" strike="noStrike">
                <a:solidFill>
                  <a:srgbClr val="7A766C"/>
                </a:solidFill>
                <a:latin typeface="MiSans" charset="-122"/>
                <a:ea typeface="MiSans" charset="-122"/>
                <a:cs typeface="MiSans" charset="-122"/>
                <a:sym typeface="MiSans" charset="-122"/>
              </a:rPr>
              <a:t>1.2.6</a:t>
            </a:r>
            <a:r>
              <a:rPr lang="en-US" sz="900" b="0" i="0" u="none" strike="noStrike">
                <a:solidFill>
                  <a:srgbClr val="2C2A26"/>
                </a:solidFill>
                <a:latin typeface="MiSans" charset="-122"/>
                <a:ea typeface="MiSans" charset="-122"/>
                <a:cs typeface="MiSans" charset="-122"/>
                <a:sym typeface="MiSans" charset="-122"/>
              </a:rPr>
              <a:t> 重复报警注入</a:t>
            </a:r>
            <a:endParaRPr lang="en-US" sz="900" b="0" i="0" u="none" strike="noStrike">
              <a:solidFill>
                <a:srgbClr val="2C2A26"/>
              </a:solidFill>
              <a:latin typeface="MiSans" charset="-122"/>
              <a:ea typeface="MiSans" charset="-122"/>
              <a:cs typeface="MiSans" charset="-122"/>
              <a:sym typeface="MiSans" charset="-122"/>
            </a:endParaRPr>
          </a:p>
          <a:p>
            <a:pPr marL="0" indent="0" algn="l">
              <a:lnSpc>
                <a:spcPts val="2100"/>
              </a:lnSpc>
            </a:pPr>
            <a:r>
              <a:rPr lang="en-US" sz="900" b="0" i="0" u="none" strike="noStrike">
                <a:solidFill>
                  <a:srgbClr val="7A766C"/>
                </a:solidFill>
                <a:latin typeface="MiSans" charset="-122"/>
                <a:ea typeface="MiSans" charset="-122"/>
                <a:cs typeface="MiSans" charset="-122"/>
                <a:sym typeface="MiSans" charset="-122"/>
              </a:rPr>
              <a:t>1.2.7</a:t>
            </a:r>
            <a:r>
              <a:rPr lang="en-US" sz="900" b="0" i="0" u="none" strike="noStrike">
                <a:solidFill>
                  <a:srgbClr val="2C2A26"/>
                </a:solidFill>
                <a:latin typeface="MiSans" charset="-122"/>
                <a:ea typeface="MiSans" charset="-122"/>
                <a:cs typeface="MiSans" charset="-122"/>
                <a:sym typeface="MiSans" charset="-122"/>
              </a:rPr>
              <a:t> 源头标注</a:t>
            </a:r>
            <a:endParaRPr lang="en-US" sz="900" b="0" i="0" u="none" strike="noStrike">
              <a:solidFill>
                <a:srgbClr val="2C2A26"/>
              </a:solidFill>
              <a:latin typeface="MiSans" charset="-122"/>
              <a:ea typeface="MiSans" charset="-122"/>
              <a:cs typeface="MiSans" charset="-122"/>
              <a:sym typeface="MiSans" charset="-122"/>
            </a:endParaRPr>
          </a:p>
          <a:p>
            <a:pPr marL="0" indent="0" algn="l">
              <a:lnSpc>
                <a:spcPts val="2100"/>
              </a:lnSpc>
            </a:pPr>
            <a:r>
              <a:rPr lang="en-US" sz="900" b="0" i="0" u="none" strike="noStrike">
                <a:solidFill>
                  <a:srgbClr val="7A766C"/>
                </a:solidFill>
                <a:latin typeface="MiSans" charset="-122"/>
                <a:ea typeface="MiSans" charset="-122"/>
                <a:cs typeface="MiSans" charset="-122"/>
                <a:sym typeface="MiSans" charset="-122"/>
              </a:rPr>
              <a:t>1.2.8</a:t>
            </a:r>
            <a:r>
              <a:rPr lang="en-US" sz="900" b="0" i="0" u="none" strike="noStrike">
                <a:solidFill>
                  <a:srgbClr val="2C2A26"/>
                </a:solidFill>
                <a:latin typeface="MiSans" charset="-122"/>
                <a:ea typeface="MiSans" charset="-122"/>
                <a:cs typeface="MiSans" charset="-122"/>
                <a:sym typeface="MiSans" charset="-122"/>
              </a:rPr>
              <a:t> 测试用例执行</a:t>
            </a:r>
            <a:endParaRPr lang="en-US" sz="900" b="0" i="0" u="none" strike="noStrike">
              <a:solidFill>
                <a:srgbClr val="2C2A26"/>
              </a:solidFill>
              <a:latin typeface="MiSans" charset="-122"/>
              <a:ea typeface="MiSans" charset="-122"/>
              <a:cs typeface="MiSans" charset="-122"/>
              <a:sym typeface="MiSans" charset="-122"/>
            </a:endParaRPr>
          </a:p>
          <a:p>
            <a:pPr marL="0" indent="0" algn="l">
              <a:lnSpc>
                <a:spcPts val="2100"/>
              </a:lnSpc>
            </a:pPr>
            <a:r>
              <a:rPr lang="en-US" sz="900" b="0" i="0" u="none" strike="noStrike">
                <a:solidFill>
                  <a:srgbClr val="7A766C"/>
                </a:solidFill>
                <a:latin typeface="MiSans" charset="-122"/>
                <a:ea typeface="MiSans" charset="-122"/>
                <a:cs typeface="MiSans" charset="-122"/>
                <a:sym typeface="MiSans" charset="-122"/>
              </a:rPr>
              <a:t>1.2.9</a:t>
            </a:r>
            <a:r>
              <a:rPr lang="en-US" sz="900" b="0" i="0" u="none" strike="noStrike">
                <a:solidFill>
                  <a:srgbClr val="2C2A26"/>
                </a:solidFill>
                <a:latin typeface="MiSans" charset="-122"/>
                <a:ea typeface="MiSans" charset="-122"/>
                <a:cs typeface="MiSans" charset="-122"/>
                <a:sym typeface="MiSans" charset="-122"/>
              </a:rPr>
              <a:t> 每日站会与障碍清除</a:t>
            </a:r>
            <a:endParaRPr lang="en-US" sz="900" b="0" i="0" u="none" strike="noStrike">
              <a:solidFill>
                <a:srgbClr val="2C2A26"/>
              </a:solidFill>
              <a:latin typeface="MiSans" charset="-122"/>
              <a:ea typeface="MiSans" charset="-122"/>
              <a:cs typeface="MiSans" charset="-122"/>
              <a:sym typeface="MiSans" charset="-122"/>
            </a:endParaRPr>
          </a:p>
          <a:p>
            <a:pPr marL="0" indent="0" algn="l">
              <a:lnSpc>
                <a:spcPts val="2100"/>
              </a:lnSpc>
            </a:pPr>
            <a:r>
              <a:rPr lang="en-US" sz="900" b="0" i="0" u="none" strike="noStrike">
                <a:solidFill>
                  <a:srgbClr val="7A766C"/>
                </a:solidFill>
                <a:latin typeface="MiSans" charset="-122"/>
                <a:ea typeface="MiSans" charset="-122"/>
                <a:cs typeface="MiSans" charset="-122"/>
                <a:sym typeface="MiSans" charset="-122"/>
              </a:rPr>
              <a:t>1.2.10</a:t>
            </a:r>
            <a:r>
              <a:rPr lang="en-US" sz="900" b="0" i="0" u="none" strike="noStrike">
                <a:solidFill>
                  <a:srgbClr val="2C2A26"/>
                </a:solidFill>
                <a:latin typeface="MiSans" charset="-122"/>
                <a:ea typeface="MiSans" charset="-122"/>
                <a:cs typeface="MiSans" charset="-122"/>
                <a:sym typeface="MiSans" charset="-122"/>
              </a:rPr>
              <a:t> 迭代评审与回顾</a:t>
            </a:r>
            <a:endParaRPr lang="en-US" sz="900" b="0" i="0" u="none" strike="noStrike">
              <a:solidFill>
                <a:srgbClr val="2C2A26"/>
              </a:solidFill>
              <a:latin typeface="MiSans" charset="-122"/>
              <a:ea typeface="MiSans" charset="-122"/>
              <a:cs typeface="MiSans" charset="-122"/>
              <a:sym typeface="MiSans" charset="-122"/>
            </a:endParaRPr>
          </a:p>
          <a:p>
            <a:pPr marL="0" indent="0" algn="l">
              <a:lnSpc>
                <a:spcPts val="2100"/>
              </a:lnSpc>
            </a:pPr>
            <a:r>
              <a:rPr lang="en-US" sz="900" b="0" i="0" u="none" strike="noStrike">
                <a:solidFill>
                  <a:srgbClr val="7A766C"/>
                </a:solidFill>
                <a:latin typeface="MiSans" charset="-122"/>
                <a:ea typeface="MiSans" charset="-122"/>
                <a:cs typeface="MiSans" charset="-122"/>
                <a:sym typeface="MiSans" charset="-122"/>
              </a:rPr>
              <a:t>1.2.11</a:t>
            </a:r>
            <a:r>
              <a:rPr lang="en-US" sz="900" b="0" i="0" u="none" strike="noStrike">
                <a:solidFill>
                  <a:srgbClr val="2C2A26"/>
                </a:solidFill>
                <a:latin typeface="MiSans" charset="-122"/>
                <a:ea typeface="MiSans" charset="-122"/>
                <a:cs typeface="MiSans" charset="-122"/>
                <a:sym typeface="MiSans" charset="-122"/>
              </a:rPr>
              <a:t> </a:t>
            </a:r>
            <a:r>
              <a:rPr lang="en-US" sz="900" b="1" i="0" u="none" strike="noStrike">
                <a:solidFill>
                  <a:srgbClr val="C46A2B"/>
                </a:solidFill>
                <a:latin typeface="MiSans" charset="-122"/>
                <a:ea typeface="MiSans" charset="-122"/>
                <a:cs typeface="MiSans" charset="-122"/>
                <a:sym typeface="MiSans" charset="-122"/>
              </a:rPr>
              <a:t>◆ M1：日志表可用</a:t>
            </a:r>
            <a:endParaRPr lang="en-US" sz="900" b="1" i="0" u="none" strike="noStrike">
              <a:solidFill>
                <a:srgbClr val="C46A2B"/>
              </a:solidFill>
              <a:latin typeface="MiSans" charset="-122"/>
              <a:ea typeface="MiSans" charset="-122"/>
              <a:cs typeface="MiSans" charset="-122"/>
              <a:sym typeface="MiSans" charset="-122"/>
            </a:endParaRPr>
          </a:p>
        </p:txBody>
      </p:sp>
      <p:sp>
        <p:nvSpPr>
          <p:cNvPr id="31" name="AutoShape 31"/>
          <p:cNvSpPr txBox="1"/>
          <p:nvPr/>
        </p:nvSpPr>
        <p:spPr>
          <a:xfrm>
            <a:off x="5105400" y="2082800"/>
            <a:ext cx="2082800" cy="25019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ts val="2100"/>
              </a:lnSpc>
              <a:defRPr/>
            </a:pPr>
            <a:r>
              <a:rPr lang="en-US" sz="900" b="0" i="0" u="none" strike="noStrike">
                <a:solidFill>
                  <a:srgbClr val="7A766C"/>
                </a:solidFill>
                <a:latin typeface="MiSans" charset="-122"/>
                <a:ea typeface="MiSans" charset="-122"/>
                <a:cs typeface="MiSans" charset="-122"/>
                <a:sym typeface="MiSans" charset="-122"/>
              </a:rPr>
              <a:t>1.3.1</a:t>
            </a:r>
            <a:r>
              <a:rPr lang="en-US" sz="900" b="0" i="0" u="none" strike="noStrike">
                <a:solidFill>
                  <a:srgbClr val="2C2A26"/>
                </a:solidFill>
                <a:latin typeface="MiSans" charset="-122"/>
                <a:ea typeface="MiSans" charset="-122"/>
                <a:cs typeface="MiSans" charset="-122"/>
                <a:sym typeface="MiSans" charset="-122"/>
              </a:rPr>
              <a:t> 迭代计划会</a:t>
            </a:r>
            <a:endParaRPr lang="en-US" sz="1100"/>
          </a:p>
          <a:p>
            <a:pPr marL="0" indent="0" algn="l">
              <a:lnSpc>
                <a:spcPts val="2100"/>
              </a:lnSpc>
            </a:pPr>
            <a:r>
              <a:rPr lang="en-US" sz="900" b="0" i="0" u="none" strike="noStrike">
                <a:solidFill>
                  <a:srgbClr val="7A766C"/>
                </a:solidFill>
                <a:latin typeface="MiSans" charset="-122"/>
                <a:ea typeface="MiSans" charset="-122"/>
                <a:cs typeface="MiSans" charset="-122"/>
                <a:sym typeface="MiSans" charset="-122"/>
              </a:rPr>
              <a:t>1.3.2</a:t>
            </a:r>
            <a:r>
              <a:rPr lang="en-US" sz="900" b="0" i="0" u="none" strike="noStrike">
                <a:solidFill>
                  <a:srgbClr val="2C2A26"/>
                </a:solidFill>
                <a:latin typeface="MiSans" charset="-122"/>
                <a:ea typeface="MiSans" charset="-122"/>
                <a:cs typeface="MiSans" charset="-122"/>
                <a:sym typeface="MiSans" charset="-122"/>
              </a:rPr>
              <a:t> 时间维度聚类</a:t>
            </a:r>
            <a:endParaRPr lang="en-US" sz="900" b="0" i="0" u="none" strike="noStrike">
              <a:solidFill>
                <a:srgbClr val="2C2A26"/>
              </a:solidFill>
              <a:latin typeface="MiSans" charset="-122"/>
              <a:ea typeface="MiSans" charset="-122"/>
              <a:cs typeface="MiSans" charset="-122"/>
              <a:sym typeface="MiSans" charset="-122"/>
            </a:endParaRPr>
          </a:p>
          <a:p>
            <a:pPr marL="0" indent="0" algn="l">
              <a:lnSpc>
                <a:spcPts val="2100"/>
              </a:lnSpc>
            </a:pPr>
            <a:r>
              <a:rPr lang="en-US" sz="900" b="0" i="0" u="none" strike="noStrike">
                <a:solidFill>
                  <a:srgbClr val="7A766C"/>
                </a:solidFill>
                <a:latin typeface="MiSans" charset="-122"/>
                <a:ea typeface="MiSans" charset="-122"/>
                <a:cs typeface="MiSans" charset="-122"/>
                <a:sym typeface="MiSans" charset="-122"/>
              </a:rPr>
              <a:t>1.3.3</a:t>
            </a:r>
            <a:r>
              <a:rPr lang="en-US" sz="900" b="0" i="0" u="none" strike="noStrike">
                <a:solidFill>
                  <a:srgbClr val="2C2A26"/>
                </a:solidFill>
                <a:latin typeface="MiSans" charset="-122"/>
                <a:ea typeface="MiSans" charset="-122"/>
                <a:cs typeface="MiSans" charset="-122"/>
                <a:sym typeface="MiSans" charset="-122"/>
              </a:rPr>
              <a:t> 变量维度聚类</a:t>
            </a:r>
            <a:endParaRPr lang="en-US" sz="900" b="0" i="0" u="none" strike="noStrike">
              <a:solidFill>
                <a:srgbClr val="2C2A26"/>
              </a:solidFill>
              <a:latin typeface="MiSans" charset="-122"/>
              <a:ea typeface="MiSans" charset="-122"/>
              <a:cs typeface="MiSans" charset="-122"/>
              <a:sym typeface="MiSans" charset="-122"/>
            </a:endParaRPr>
          </a:p>
          <a:p>
            <a:pPr marL="0" indent="0" algn="l">
              <a:lnSpc>
                <a:spcPts val="2100"/>
              </a:lnSpc>
            </a:pPr>
            <a:r>
              <a:rPr lang="en-US" sz="900" b="0" i="0" u="none" strike="noStrike">
                <a:solidFill>
                  <a:srgbClr val="7A766C"/>
                </a:solidFill>
                <a:latin typeface="MiSans" charset="-122"/>
                <a:ea typeface="MiSans" charset="-122"/>
                <a:cs typeface="MiSans" charset="-122"/>
                <a:sym typeface="MiSans" charset="-122"/>
              </a:rPr>
              <a:t>1.3.4</a:t>
            </a:r>
            <a:r>
              <a:rPr lang="en-US" sz="900" b="0" i="0" u="none" strike="noStrike">
                <a:solidFill>
                  <a:srgbClr val="2C2A26"/>
                </a:solidFill>
                <a:latin typeface="MiSans" charset="-122"/>
                <a:ea typeface="MiSans" charset="-122"/>
                <a:cs typeface="MiSans" charset="-122"/>
                <a:sym typeface="MiSans" charset="-122"/>
              </a:rPr>
              <a:t> 关键报警保留约束</a:t>
            </a:r>
            <a:endParaRPr lang="en-US" sz="900" b="0" i="0" u="none" strike="noStrike">
              <a:solidFill>
                <a:srgbClr val="2C2A26"/>
              </a:solidFill>
              <a:latin typeface="MiSans" charset="-122"/>
              <a:ea typeface="MiSans" charset="-122"/>
              <a:cs typeface="MiSans" charset="-122"/>
              <a:sym typeface="MiSans" charset="-122"/>
            </a:endParaRPr>
          </a:p>
          <a:p>
            <a:pPr marL="0" indent="0" algn="l">
              <a:lnSpc>
                <a:spcPts val="2100"/>
              </a:lnSpc>
            </a:pPr>
            <a:r>
              <a:rPr lang="en-US" sz="900" b="0" i="0" u="none" strike="noStrike">
                <a:solidFill>
                  <a:srgbClr val="7A766C"/>
                </a:solidFill>
                <a:latin typeface="MiSans" charset="-122"/>
                <a:ea typeface="MiSans" charset="-122"/>
                <a:cs typeface="MiSans" charset="-122"/>
                <a:sym typeface="MiSans" charset="-122"/>
              </a:rPr>
              <a:t>1.3.5</a:t>
            </a:r>
            <a:r>
              <a:rPr lang="en-US" sz="900" b="0" i="0" u="none" strike="noStrike">
                <a:solidFill>
                  <a:srgbClr val="2C2A26"/>
                </a:solidFill>
                <a:latin typeface="MiSans" charset="-122"/>
                <a:ea typeface="MiSans" charset="-122"/>
                <a:cs typeface="MiSans" charset="-122"/>
                <a:sym typeface="MiSans" charset="-122"/>
              </a:rPr>
              <a:t> 压缩效果对比视图</a:t>
            </a:r>
            <a:endParaRPr lang="en-US" sz="900" b="0" i="0" u="none" strike="noStrike">
              <a:solidFill>
                <a:srgbClr val="2C2A26"/>
              </a:solidFill>
              <a:latin typeface="MiSans" charset="-122"/>
              <a:ea typeface="MiSans" charset="-122"/>
              <a:cs typeface="MiSans" charset="-122"/>
              <a:sym typeface="MiSans" charset="-122"/>
            </a:endParaRPr>
          </a:p>
          <a:p>
            <a:pPr marL="0" indent="0" algn="l">
              <a:lnSpc>
                <a:spcPts val="2100"/>
              </a:lnSpc>
            </a:pPr>
            <a:r>
              <a:rPr lang="en-US" sz="900" b="0" i="0" u="none" strike="noStrike">
                <a:solidFill>
                  <a:srgbClr val="7A766C"/>
                </a:solidFill>
                <a:latin typeface="MiSans" charset="-122"/>
                <a:ea typeface="MiSans" charset="-122"/>
                <a:cs typeface="MiSans" charset="-122"/>
                <a:sym typeface="MiSans" charset="-122"/>
              </a:rPr>
              <a:t>1.3.6</a:t>
            </a:r>
            <a:r>
              <a:rPr lang="en-US" sz="900" b="0" i="0" u="none" strike="noStrike">
                <a:solidFill>
                  <a:srgbClr val="2C2A26"/>
                </a:solidFill>
                <a:latin typeface="MiSans" charset="-122"/>
                <a:ea typeface="MiSans" charset="-122"/>
                <a:cs typeface="MiSans" charset="-122"/>
                <a:sym typeface="MiSans" charset="-122"/>
              </a:rPr>
              <a:t> 测试用例执行</a:t>
            </a:r>
            <a:endParaRPr lang="en-US" sz="900" b="0" i="0" u="none" strike="noStrike">
              <a:solidFill>
                <a:srgbClr val="2C2A26"/>
              </a:solidFill>
              <a:latin typeface="MiSans" charset="-122"/>
              <a:ea typeface="MiSans" charset="-122"/>
              <a:cs typeface="MiSans" charset="-122"/>
              <a:sym typeface="MiSans" charset="-122"/>
            </a:endParaRPr>
          </a:p>
          <a:p>
            <a:pPr marL="0" indent="0" algn="l">
              <a:lnSpc>
                <a:spcPts val="2100"/>
              </a:lnSpc>
            </a:pPr>
            <a:r>
              <a:rPr lang="en-US" sz="900" b="0" i="0" u="none" strike="noStrike">
                <a:solidFill>
                  <a:srgbClr val="7A766C"/>
                </a:solidFill>
                <a:latin typeface="MiSans" charset="-122"/>
                <a:ea typeface="MiSans" charset="-122"/>
                <a:cs typeface="MiSans" charset="-122"/>
                <a:sym typeface="MiSans" charset="-122"/>
              </a:rPr>
              <a:t>1.3.7</a:t>
            </a:r>
            <a:r>
              <a:rPr lang="en-US" sz="900" b="0" i="0" u="none" strike="noStrike">
                <a:solidFill>
                  <a:srgbClr val="2C2A26"/>
                </a:solidFill>
                <a:latin typeface="MiSans" charset="-122"/>
                <a:ea typeface="MiSans" charset="-122"/>
                <a:cs typeface="MiSans" charset="-122"/>
                <a:sym typeface="MiSans" charset="-122"/>
              </a:rPr>
              <a:t> 每日站会与障碍清除</a:t>
            </a:r>
            <a:endParaRPr lang="en-US" sz="900" b="0" i="0" u="none" strike="noStrike">
              <a:solidFill>
                <a:srgbClr val="2C2A26"/>
              </a:solidFill>
              <a:latin typeface="MiSans" charset="-122"/>
              <a:ea typeface="MiSans" charset="-122"/>
              <a:cs typeface="MiSans" charset="-122"/>
              <a:sym typeface="MiSans" charset="-122"/>
            </a:endParaRPr>
          </a:p>
          <a:p>
            <a:pPr marL="0" indent="0" algn="l">
              <a:lnSpc>
                <a:spcPts val="2100"/>
              </a:lnSpc>
            </a:pPr>
            <a:r>
              <a:rPr lang="en-US" sz="900" b="0" i="0" u="none" strike="noStrike">
                <a:solidFill>
                  <a:srgbClr val="7A766C"/>
                </a:solidFill>
                <a:latin typeface="MiSans" charset="-122"/>
                <a:ea typeface="MiSans" charset="-122"/>
                <a:cs typeface="MiSans" charset="-122"/>
                <a:sym typeface="MiSans" charset="-122"/>
              </a:rPr>
              <a:t>1.3.8</a:t>
            </a:r>
            <a:r>
              <a:rPr lang="en-US" sz="900" b="0" i="0" u="none" strike="noStrike">
                <a:solidFill>
                  <a:srgbClr val="2C2A26"/>
                </a:solidFill>
                <a:latin typeface="MiSans" charset="-122"/>
                <a:ea typeface="MiSans" charset="-122"/>
                <a:cs typeface="MiSans" charset="-122"/>
                <a:sym typeface="MiSans" charset="-122"/>
              </a:rPr>
              <a:t> 迭代评审与回顾</a:t>
            </a:r>
            <a:endParaRPr lang="en-US" sz="900" b="0" i="0" u="none" strike="noStrike">
              <a:solidFill>
                <a:srgbClr val="2C2A26"/>
              </a:solidFill>
              <a:latin typeface="MiSans" charset="-122"/>
              <a:ea typeface="MiSans" charset="-122"/>
              <a:cs typeface="MiSans" charset="-122"/>
              <a:sym typeface="MiSans" charset="-122"/>
            </a:endParaRPr>
          </a:p>
          <a:p>
            <a:pPr marL="0" indent="0" algn="l">
              <a:lnSpc>
                <a:spcPts val="2100"/>
              </a:lnSpc>
            </a:pPr>
            <a:r>
              <a:rPr lang="en-US" sz="900" b="0" i="0" u="none" strike="noStrike">
                <a:solidFill>
                  <a:srgbClr val="7A766C"/>
                </a:solidFill>
                <a:latin typeface="MiSans" charset="-122"/>
                <a:ea typeface="MiSans" charset="-122"/>
                <a:cs typeface="MiSans" charset="-122"/>
                <a:sym typeface="MiSans" charset="-122"/>
              </a:rPr>
              <a:t>1.3.9</a:t>
            </a:r>
            <a:r>
              <a:rPr lang="en-US" sz="900" b="0" i="0" u="none" strike="noStrike">
                <a:solidFill>
                  <a:srgbClr val="2C2A26"/>
                </a:solidFill>
                <a:latin typeface="MiSans" charset="-122"/>
                <a:ea typeface="MiSans" charset="-122"/>
                <a:cs typeface="MiSans" charset="-122"/>
                <a:sym typeface="MiSans" charset="-122"/>
              </a:rPr>
              <a:t> </a:t>
            </a:r>
            <a:r>
              <a:rPr lang="en-US" sz="900" b="1" i="0" u="none" strike="noStrike">
                <a:solidFill>
                  <a:srgbClr val="C46A2B"/>
                </a:solidFill>
                <a:latin typeface="MiSans" charset="-122"/>
                <a:ea typeface="MiSans" charset="-122"/>
                <a:cs typeface="MiSans" charset="-122"/>
                <a:sym typeface="MiSans" charset="-122"/>
              </a:rPr>
              <a:t>◆ M2：压缩保留达标</a:t>
            </a:r>
            <a:endParaRPr lang="en-US" sz="900" b="1" i="0" u="none" strike="noStrike">
              <a:solidFill>
                <a:srgbClr val="C46A2B"/>
              </a:solidFill>
              <a:latin typeface="MiSans" charset="-122"/>
              <a:ea typeface="MiSans" charset="-122"/>
              <a:cs typeface="MiSans" charset="-122"/>
              <a:sym typeface="MiSans" charset="-122"/>
            </a:endParaRPr>
          </a:p>
        </p:txBody>
      </p:sp>
      <p:sp>
        <p:nvSpPr>
          <p:cNvPr id="32" name="AutoShape 32"/>
          <p:cNvSpPr txBox="1"/>
          <p:nvPr/>
        </p:nvSpPr>
        <p:spPr>
          <a:xfrm>
            <a:off x="7416800" y="2082800"/>
            <a:ext cx="2082800" cy="276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ts val="2100"/>
              </a:lnSpc>
              <a:defRPr/>
            </a:pPr>
            <a:r>
              <a:rPr lang="en-US" sz="900" b="0" i="0" u="none" strike="noStrike">
                <a:solidFill>
                  <a:srgbClr val="7A766C"/>
                </a:solidFill>
                <a:latin typeface="MiSans" charset="-122"/>
                <a:ea typeface="MiSans" charset="-122"/>
                <a:cs typeface="MiSans" charset="-122"/>
                <a:sym typeface="MiSans" charset="-122"/>
              </a:rPr>
              <a:t>1.4.1</a:t>
            </a:r>
            <a:r>
              <a:rPr lang="en-US" sz="900" b="0" i="0" u="none" strike="noStrike">
                <a:solidFill>
                  <a:srgbClr val="2C2A26"/>
                </a:solidFill>
                <a:latin typeface="MiSans" charset="-122"/>
                <a:ea typeface="MiSans" charset="-122"/>
                <a:cs typeface="MiSans" charset="-122"/>
                <a:sym typeface="MiSans" charset="-122"/>
              </a:rPr>
              <a:t> 迭代计划会</a:t>
            </a:r>
            <a:endParaRPr lang="en-US" sz="1100"/>
          </a:p>
          <a:p>
            <a:pPr marL="0" indent="0" algn="l">
              <a:lnSpc>
                <a:spcPts val="2100"/>
              </a:lnSpc>
            </a:pPr>
            <a:r>
              <a:rPr lang="en-US" sz="900" b="0" i="0" u="none" strike="noStrike">
                <a:solidFill>
                  <a:srgbClr val="7A766C"/>
                </a:solidFill>
                <a:latin typeface="MiSans" charset="-122"/>
                <a:ea typeface="MiSans" charset="-122"/>
                <a:cs typeface="MiSans" charset="-122"/>
                <a:sym typeface="MiSans" charset="-122"/>
              </a:rPr>
              <a:t>1.4.2</a:t>
            </a:r>
            <a:r>
              <a:rPr lang="en-US" sz="900" b="0" i="0" u="none" strike="noStrike">
                <a:solidFill>
                  <a:srgbClr val="2C2A26"/>
                </a:solidFill>
                <a:latin typeface="MiSans" charset="-122"/>
                <a:ea typeface="MiSans" charset="-122"/>
                <a:cs typeface="MiSans" charset="-122"/>
                <a:sym typeface="MiSans" charset="-122"/>
              </a:rPr>
              <a:t> 因果检验</a:t>
            </a:r>
            <a:endParaRPr lang="en-US" sz="900" b="0" i="0" u="none" strike="noStrike">
              <a:solidFill>
                <a:srgbClr val="2C2A26"/>
              </a:solidFill>
              <a:latin typeface="MiSans" charset="-122"/>
              <a:ea typeface="MiSans" charset="-122"/>
              <a:cs typeface="MiSans" charset="-122"/>
              <a:sym typeface="MiSans" charset="-122"/>
            </a:endParaRPr>
          </a:p>
          <a:p>
            <a:pPr marL="0" indent="0" algn="l">
              <a:lnSpc>
                <a:spcPts val="2100"/>
              </a:lnSpc>
            </a:pPr>
            <a:r>
              <a:rPr lang="en-US" sz="900" b="0" i="0" u="none" strike="noStrike">
                <a:solidFill>
                  <a:srgbClr val="7A766C"/>
                </a:solidFill>
                <a:latin typeface="MiSans" charset="-122"/>
                <a:ea typeface="MiSans" charset="-122"/>
                <a:cs typeface="MiSans" charset="-122"/>
                <a:sym typeface="MiSans" charset="-122"/>
              </a:rPr>
              <a:t>1.4.3</a:t>
            </a:r>
            <a:r>
              <a:rPr lang="en-US" sz="900" b="0" i="0" u="none" strike="noStrike">
                <a:solidFill>
                  <a:srgbClr val="2C2A26"/>
                </a:solidFill>
                <a:latin typeface="MiSans" charset="-122"/>
                <a:ea typeface="MiSans" charset="-122"/>
                <a:cs typeface="MiSans" charset="-122"/>
                <a:sym typeface="MiSans" charset="-122"/>
              </a:rPr>
              <a:t> 触发顺序加权</a:t>
            </a:r>
            <a:endParaRPr lang="en-US" sz="900" b="0" i="0" u="none" strike="noStrike">
              <a:solidFill>
                <a:srgbClr val="2C2A26"/>
              </a:solidFill>
              <a:latin typeface="MiSans" charset="-122"/>
              <a:ea typeface="MiSans" charset="-122"/>
              <a:cs typeface="MiSans" charset="-122"/>
              <a:sym typeface="MiSans" charset="-122"/>
            </a:endParaRPr>
          </a:p>
          <a:p>
            <a:pPr marL="0" indent="0" algn="l">
              <a:lnSpc>
                <a:spcPts val="2100"/>
              </a:lnSpc>
            </a:pPr>
            <a:r>
              <a:rPr lang="en-US" sz="900" b="0" i="0" u="none" strike="noStrike">
                <a:solidFill>
                  <a:srgbClr val="7A766C"/>
                </a:solidFill>
                <a:latin typeface="MiSans" charset="-122"/>
                <a:ea typeface="MiSans" charset="-122"/>
                <a:cs typeface="MiSans" charset="-122"/>
                <a:sym typeface="MiSans" charset="-122"/>
              </a:rPr>
              <a:t>1.4.4</a:t>
            </a:r>
            <a:r>
              <a:rPr lang="en-US" sz="900" b="0" i="0" u="none" strike="noStrike">
                <a:solidFill>
                  <a:srgbClr val="2C2A26"/>
                </a:solidFill>
                <a:latin typeface="MiSans" charset="-122"/>
                <a:ea typeface="MiSans" charset="-122"/>
                <a:cs typeface="MiSans" charset="-122"/>
                <a:sym typeface="MiSans" charset="-122"/>
              </a:rPr>
              <a:t> Top-3 结果输出</a:t>
            </a:r>
            <a:endParaRPr lang="en-US" sz="900" b="0" i="0" u="none" strike="noStrike">
              <a:solidFill>
                <a:srgbClr val="2C2A26"/>
              </a:solidFill>
              <a:latin typeface="MiSans" charset="-122"/>
              <a:ea typeface="MiSans" charset="-122"/>
              <a:cs typeface="MiSans" charset="-122"/>
              <a:sym typeface="MiSans" charset="-122"/>
            </a:endParaRPr>
          </a:p>
          <a:p>
            <a:pPr marL="0" indent="0" algn="l">
              <a:lnSpc>
                <a:spcPts val="2100"/>
              </a:lnSpc>
            </a:pPr>
            <a:r>
              <a:rPr lang="en-US" sz="900" b="0" i="0" u="none" strike="noStrike">
                <a:solidFill>
                  <a:srgbClr val="7A766C"/>
                </a:solidFill>
                <a:latin typeface="MiSans" charset="-122"/>
                <a:ea typeface="MiSans" charset="-122"/>
                <a:cs typeface="MiSans" charset="-122"/>
                <a:sym typeface="MiSans" charset="-122"/>
              </a:rPr>
              <a:t>1.4.5</a:t>
            </a:r>
            <a:r>
              <a:rPr lang="en-US" sz="900" b="0" i="0" u="none" strike="noStrike">
                <a:solidFill>
                  <a:srgbClr val="2C2A26"/>
                </a:solidFill>
                <a:latin typeface="MiSans" charset="-122"/>
                <a:ea typeface="MiSans" charset="-122"/>
                <a:cs typeface="MiSans" charset="-122"/>
                <a:sym typeface="MiSans" charset="-122"/>
              </a:rPr>
              <a:t> 问题起点展示视图</a:t>
            </a:r>
            <a:endParaRPr lang="en-US" sz="900" b="0" i="0" u="none" strike="noStrike">
              <a:solidFill>
                <a:srgbClr val="2C2A26"/>
              </a:solidFill>
              <a:latin typeface="MiSans" charset="-122"/>
              <a:ea typeface="MiSans" charset="-122"/>
              <a:cs typeface="MiSans" charset="-122"/>
              <a:sym typeface="MiSans" charset="-122"/>
            </a:endParaRPr>
          </a:p>
          <a:p>
            <a:pPr marL="0" indent="0" algn="l">
              <a:lnSpc>
                <a:spcPts val="2100"/>
              </a:lnSpc>
            </a:pPr>
            <a:r>
              <a:rPr lang="en-US" sz="900" b="0" i="0" u="none" strike="noStrike">
                <a:solidFill>
                  <a:srgbClr val="7A766C"/>
                </a:solidFill>
                <a:latin typeface="MiSans" charset="-122"/>
                <a:ea typeface="MiSans" charset="-122"/>
                <a:cs typeface="MiSans" charset="-122"/>
                <a:sym typeface="MiSans" charset="-122"/>
              </a:rPr>
              <a:t>1.4.6</a:t>
            </a:r>
            <a:r>
              <a:rPr lang="en-US" sz="900" b="0" i="0" u="none" strike="noStrike">
                <a:solidFill>
                  <a:srgbClr val="2C2A26"/>
                </a:solidFill>
                <a:latin typeface="MiSans" charset="-122"/>
                <a:ea typeface="MiSans" charset="-122"/>
                <a:cs typeface="MiSans" charset="-122"/>
                <a:sym typeface="MiSans" charset="-122"/>
              </a:rPr>
              <a:t> 端到端运行入口</a:t>
            </a:r>
            <a:endParaRPr lang="en-US" sz="900" b="0" i="0" u="none" strike="noStrike">
              <a:solidFill>
                <a:srgbClr val="2C2A26"/>
              </a:solidFill>
              <a:latin typeface="MiSans" charset="-122"/>
              <a:ea typeface="MiSans" charset="-122"/>
              <a:cs typeface="MiSans" charset="-122"/>
              <a:sym typeface="MiSans" charset="-122"/>
            </a:endParaRPr>
          </a:p>
          <a:p>
            <a:pPr marL="0" indent="0" algn="l">
              <a:lnSpc>
                <a:spcPts val="2100"/>
              </a:lnSpc>
            </a:pPr>
            <a:r>
              <a:rPr lang="en-US" sz="900" b="0" i="0" u="none" strike="noStrike">
                <a:solidFill>
                  <a:srgbClr val="7A766C"/>
                </a:solidFill>
                <a:latin typeface="MiSans" charset="-122"/>
                <a:ea typeface="MiSans" charset="-122"/>
                <a:cs typeface="MiSans" charset="-122"/>
                <a:sym typeface="MiSans" charset="-122"/>
              </a:rPr>
              <a:t>1.4.7</a:t>
            </a:r>
            <a:r>
              <a:rPr lang="en-US" sz="900" b="0" i="0" u="none" strike="noStrike">
                <a:solidFill>
                  <a:srgbClr val="2C2A26"/>
                </a:solidFill>
                <a:latin typeface="MiSans" charset="-122"/>
                <a:ea typeface="MiSans" charset="-122"/>
                <a:cs typeface="MiSans" charset="-122"/>
                <a:sym typeface="MiSans" charset="-122"/>
              </a:rPr>
              <a:t> 验收指标实测</a:t>
            </a:r>
            <a:endParaRPr lang="en-US" sz="900" b="0" i="0" u="none" strike="noStrike">
              <a:solidFill>
                <a:srgbClr val="2C2A26"/>
              </a:solidFill>
              <a:latin typeface="MiSans" charset="-122"/>
              <a:ea typeface="MiSans" charset="-122"/>
              <a:cs typeface="MiSans" charset="-122"/>
              <a:sym typeface="MiSans" charset="-122"/>
            </a:endParaRPr>
          </a:p>
          <a:p>
            <a:pPr marL="0" indent="0" algn="l">
              <a:lnSpc>
                <a:spcPts val="2100"/>
              </a:lnSpc>
            </a:pPr>
            <a:r>
              <a:rPr lang="en-US" sz="900" b="0" i="0" u="none" strike="noStrike">
                <a:solidFill>
                  <a:srgbClr val="7A766C"/>
                </a:solidFill>
                <a:latin typeface="MiSans" charset="-122"/>
                <a:ea typeface="MiSans" charset="-122"/>
                <a:cs typeface="MiSans" charset="-122"/>
                <a:sym typeface="MiSans" charset="-122"/>
              </a:rPr>
              <a:t>1.4.8</a:t>
            </a:r>
            <a:r>
              <a:rPr lang="en-US" sz="900" b="0" i="0" u="none" strike="noStrike">
                <a:solidFill>
                  <a:srgbClr val="2C2A26"/>
                </a:solidFill>
                <a:latin typeface="MiSans" charset="-122"/>
                <a:ea typeface="MiSans" charset="-122"/>
                <a:cs typeface="MiSans" charset="-122"/>
                <a:sym typeface="MiSans" charset="-122"/>
              </a:rPr>
              <a:t> 每日站会与障碍清除</a:t>
            </a:r>
            <a:endParaRPr lang="en-US" sz="900" b="0" i="0" u="none" strike="noStrike">
              <a:solidFill>
                <a:srgbClr val="2C2A26"/>
              </a:solidFill>
              <a:latin typeface="MiSans" charset="-122"/>
              <a:ea typeface="MiSans" charset="-122"/>
              <a:cs typeface="MiSans" charset="-122"/>
              <a:sym typeface="MiSans" charset="-122"/>
            </a:endParaRPr>
          </a:p>
          <a:p>
            <a:pPr marL="0" indent="0" algn="l">
              <a:lnSpc>
                <a:spcPts val="2100"/>
              </a:lnSpc>
            </a:pPr>
            <a:r>
              <a:rPr lang="en-US" sz="900" b="0" i="0" u="none" strike="noStrike">
                <a:solidFill>
                  <a:srgbClr val="7A766C"/>
                </a:solidFill>
                <a:latin typeface="MiSans" charset="-122"/>
                <a:ea typeface="MiSans" charset="-122"/>
                <a:cs typeface="MiSans" charset="-122"/>
                <a:sym typeface="MiSans" charset="-122"/>
              </a:rPr>
              <a:t>1.4.9</a:t>
            </a:r>
            <a:r>
              <a:rPr lang="en-US" sz="900" b="0" i="0" u="none" strike="noStrike">
                <a:solidFill>
                  <a:srgbClr val="2C2A26"/>
                </a:solidFill>
                <a:latin typeface="MiSans" charset="-122"/>
                <a:ea typeface="MiSans" charset="-122"/>
                <a:cs typeface="MiSans" charset="-122"/>
                <a:sym typeface="MiSans" charset="-122"/>
              </a:rPr>
              <a:t> 迭代评审与回顾</a:t>
            </a:r>
            <a:endParaRPr lang="en-US" sz="900" b="0" i="0" u="none" strike="noStrike">
              <a:solidFill>
                <a:srgbClr val="2C2A26"/>
              </a:solidFill>
              <a:latin typeface="MiSans" charset="-122"/>
              <a:ea typeface="MiSans" charset="-122"/>
              <a:cs typeface="MiSans" charset="-122"/>
              <a:sym typeface="MiSans" charset="-122"/>
            </a:endParaRPr>
          </a:p>
          <a:p>
            <a:pPr marL="0" indent="0" algn="l">
              <a:lnSpc>
                <a:spcPts val="2100"/>
              </a:lnSpc>
            </a:pPr>
            <a:r>
              <a:rPr lang="en-US" sz="900" b="0" i="0" u="none" strike="noStrike">
                <a:solidFill>
                  <a:srgbClr val="7A766C"/>
                </a:solidFill>
                <a:latin typeface="MiSans" charset="-122"/>
                <a:ea typeface="MiSans" charset="-122"/>
                <a:cs typeface="MiSans" charset="-122"/>
                <a:sym typeface="MiSans" charset="-122"/>
              </a:rPr>
              <a:t>1.4.10</a:t>
            </a:r>
            <a:r>
              <a:rPr lang="en-US" sz="900" b="0" i="0" u="none" strike="noStrike">
                <a:solidFill>
                  <a:srgbClr val="2C2A26"/>
                </a:solidFill>
                <a:latin typeface="MiSans" charset="-122"/>
                <a:ea typeface="MiSans" charset="-122"/>
                <a:cs typeface="MiSans" charset="-122"/>
                <a:sym typeface="MiSans" charset="-122"/>
              </a:rPr>
              <a:t> </a:t>
            </a:r>
            <a:r>
              <a:rPr lang="en-US" sz="900" b="1" i="0" u="none" strike="noStrike">
                <a:solidFill>
                  <a:srgbClr val="C46A2B"/>
                </a:solidFill>
                <a:latin typeface="MiSans" charset="-122"/>
                <a:ea typeface="MiSans" charset="-122"/>
                <a:cs typeface="MiSans" charset="-122"/>
                <a:sym typeface="MiSans" charset="-122"/>
              </a:rPr>
              <a:t>◆ M3：项目验收通过</a:t>
            </a:r>
            <a:endParaRPr lang="en-US" sz="900" b="1" i="0" u="none" strike="noStrike">
              <a:solidFill>
                <a:srgbClr val="C46A2B"/>
              </a:solidFill>
              <a:latin typeface="MiSans" charset="-122"/>
              <a:ea typeface="MiSans" charset="-122"/>
              <a:cs typeface="MiSans" charset="-122"/>
              <a:sym typeface="MiSans" charset="-122"/>
            </a:endParaRPr>
          </a:p>
        </p:txBody>
      </p:sp>
      <p:sp>
        <p:nvSpPr>
          <p:cNvPr id="33" name="AutoShape 33"/>
          <p:cNvSpPr txBox="1"/>
          <p:nvPr/>
        </p:nvSpPr>
        <p:spPr>
          <a:xfrm>
            <a:off x="9728200" y="2082800"/>
            <a:ext cx="2082800" cy="901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ts val="2100"/>
              </a:lnSpc>
              <a:defRPr/>
            </a:pPr>
            <a:r>
              <a:rPr lang="en-US" sz="900" b="0" i="0" u="none" strike="noStrike">
                <a:solidFill>
                  <a:srgbClr val="7A766C"/>
                </a:solidFill>
                <a:latin typeface="MiSans" charset="-122"/>
                <a:ea typeface="MiSans" charset="-122"/>
                <a:cs typeface="MiSans" charset="-122"/>
                <a:sym typeface="MiSans" charset="-122"/>
              </a:rPr>
              <a:t>1.5.1</a:t>
            </a:r>
            <a:r>
              <a:rPr lang="en-US" sz="900" b="0" i="0" u="none" strike="noStrike">
                <a:solidFill>
                  <a:srgbClr val="2C2A26"/>
                </a:solidFill>
                <a:latin typeface="MiSans" charset="-122"/>
                <a:ea typeface="MiSans" charset="-122"/>
                <a:cs typeface="MiSans" charset="-122"/>
                <a:sym typeface="MiSans" charset="-122"/>
              </a:rPr>
              <a:t> 交付文档编写</a:t>
            </a:r>
            <a:endParaRPr lang="en-US" sz="1100"/>
          </a:p>
          <a:p>
            <a:pPr marL="0" indent="0" algn="l">
              <a:lnSpc>
                <a:spcPts val="2100"/>
              </a:lnSpc>
            </a:pPr>
            <a:r>
              <a:rPr lang="en-US" sz="900" b="0" i="0" u="none" strike="noStrike">
                <a:solidFill>
                  <a:srgbClr val="7A766C"/>
                </a:solidFill>
                <a:latin typeface="MiSans" charset="-122"/>
                <a:ea typeface="MiSans" charset="-122"/>
                <a:cs typeface="MiSans" charset="-122"/>
                <a:sym typeface="MiSans" charset="-122"/>
              </a:rPr>
              <a:t>1.5.2</a:t>
            </a:r>
            <a:r>
              <a:rPr lang="en-US" sz="900" b="0" i="0" u="none" strike="noStrike">
                <a:solidFill>
                  <a:srgbClr val="2C2A26"/>
                </a:solidFill>
                <a:latin typeface="MiSans" charset="-122"/>
                <a:ea typeface="MiSans" charset="-122"/>
                <a:cs typeface="MiSans" charset="-122"/>
                <a:sym typeface="MiSans" charset="-122"/>
              </a:rPr>
              <a:t> 演示材料制作</a:t>
            </a:r>
            <a:endParaRPr lang="en-US" sz="900" b="0" i="0" u="none" strike="noStrike">
              <a:solidFill>
                <a:srgbClr val="2C2A26"/>
              </a:solidFill>
              <a:latin typeface="MiSans" charset="-122"/>
              <a:ea typeface="MiSans" charset="-122"/>
              <a:cs typeface="MiSans" charset="-122"/>
              <a:sym typeface="MiSans" charset="-122"/>
            </a:endParaRPr>
          </a:p>
          <a:p>
            <a:pPr marL="0" indent="0" algn="l">
              <a:lnSpc>
                <a:spcPts val="2100"/>
              </a:lnSpc>
            </a:pPr>
            <a:r>
              <a:rPr lang="en-US" sz="900" b="0" i="0" u="none" strike="noStrike">
                <a:solidFill>
                  <a:srgbClr val="7A766C"/>
                </a:solidFill>
                <a:latin typeface="MiSans" charset="-122"/>
                <a:ea typeface="MiSans" charset="-122"/>
                <a:cs typeface="MiSans" charset="-122"/>
                <a:sym typeface="MiSans" charset="-122"/>
              </a:rPr>
              <a:t>1.5.3</a:t>
            </a:r>
            <a:r>
              <a:rPr lang="en-US" sz="900" b="0" i="0" u="none" strike="noStrike">
                <a:solidFill>
                  <a:srgbClr val="2C2A26"/>
                </a:solidFill>
                <a:latin typeface="MiSans" charset="-122"/>
                <a:ea typeface="MiSans" charset="-122"/>
                <a:cs typeface="MiSans" charset="-122"/>
                <a:sym typeface="MiSans" charset="-122"/>
              </a:rPr>
              <a:t> 项目总结与回顾</a:t>
            </a:r>
            <a:endParaRPr lang="en-US" sz="900" b="0" i="0" u="none" strike="noStrike">
              <a:solidFill>
                <a:srgbClr val="2C2A26"/>
              </a:solidFill>
              <a:latin typeface="MiSans" charset="-122"/>
              <a:ea typeface="MiSans" charset="-122"/>
              <a:cs typeface="MiSans" charset="-122"/>
              <a:sym typeface="MiSans" charset="-122"/>
            </a:endParaRPr>
          </a:p>
        </p:txBody>
      </p:sp>
      <p:sp>
        <p:nvSpPr>
          <p:cNvPr id="34" name="AutoShape 34"/>
          <p:cNvSpPr/>
          <p:nvPr/>
        </p:nvSpPr>
        <p:spPr>
          <a:xfrm>
            <a:off x="508000" y="5892800"/>
            <a:ext cx="8890000" cy="12700"/>
          </a:xfrm>
          <a:prstGeom prst="roundRect">
            <a:avLst>
              <a:gd name="adj" fmla="val 0"/>
            </a:avLst>
          </a:prstGeom>
          <a:solidFill>
            <a:srgbClr val="DDD9C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 anchorCtr="0"/>
          <a:lstStyle/>
          <a:p>
            <a:pPr algn="ctr">
              <a:defRPr/>
            </a:pPr>
          </a:p>
        </p:txBody>
      </p:sp>
      <p:sp>
        <p:nvSpPr>
          <p:cNvPr id="35" name="AutoShape 35"/>
          <p:cNvSpPr/>
          <p:nvPr/>
        </p:nvSpPr>
        <p:spPr>
          <a:xfrm>
            <a:off x="1409700" y="5829300"/>
            <a:ext cx="127000" cy="127000"/>
          </a:xfrm>
          <a:prstGeom prst="diamond">
            <a:avLst/>
          </a:prstGeom>
          <a:solidFill>
            <a:srgbClr val="C46A2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 anchorCtr="0"/>
          <a:lstStyle/>
          <a:p>
            <a:pPr algn="ctr">
              <a:defRPr/>
            </a:pPr>
          </a:p>
        </p:txBody>
      </p:sp>
      <p:sp>
        <p:nvSpPr>
          <p:cNvPr id="36" name="AutoShape 36"/>
          <p:cNvSpPr/>
          <p:nvPr/>
        </p:nvSpPr>
        <p:spPr>
          <a:xfrm>
            <a:off x="3721100" y="5829300"/>
            <a:ext cx="127000" cy="127000"/>
          </a:xfrm>
          <a:prstGeom prst="diamond">
            <a:avLst/>
          </a:prstGeom>
          <a:solidFill>
            <a:srgbClr val="C46A2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 anchorCtr="0"/>
          <a:lstStyle/>
          <a:p>
            <a:pPr algn="ctr">
              <a:defRPr/>
            </a:pPr>
          </a:p>
        </p:txBody>
      </p:sp>
      <p:sp>
        <p:nvSpPr>
          <p:cNvPr id="37" name="AutoShape 37"/>
          <p:cNvSpPr/>
          <p:nvPr/>
        </p:nvSpPr>
        <p:spPr>
          <a:xfrm>
            <a:off x="6032500" y="5829300"/>
            <a:ext cx="127000" cy="127000"/>
          </a:xfrm>
          <a:prstGeom prst="diamond">
            <a:avLst/>
          </a:prstGeom>
          <a:solidFill>
            <a:srgbClr val="C46A2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 anchorCtr="0"/>
          <a:lstStyle/>
          <a:p>
            <a:pPr algn="ctr">
              <a:defRPr/>
            </a:pPr>
          </a:p>
        </p:txBody>
      </p:sp>
      <p:sp>
        <p:nvSpPr>
          <p:cNvPr id="38" name="AutoShape 38"/>
          <p:cNvSpPr/>
          <p:nvPr/>
        </p:nvSpPr>
        <p:spPr>
          <a:xfrm>
            <a:off x="8343900" y="5829300"/>
            <a:ext cx="127000" cy="127000"/>
          </a:xfrm>
          <a:prstGeom prst="diamond">
            <a:avLst/>
          </a:prstGeom>
          <a:solidFill>
            <a:srgbClr val="C46A2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 anchorCtr="0"/>
          <a:lstStyle/>
          <a:p>
            <a:pPr algn="ctr">
              <a:defRPr/>
            </a:pPr>
          </a:p>
        </p:txBody>
      </p:sp>
      <p:sp>
        <p:nvSpPr>
          <p:cNvPr id="39" name="AutoShape 39"/>
          <p:cNvSpPr txBox="1"/>
          <p:nvPr/>
        </p:nvSpPr>
        <p:spPr>
          <a:xfrm>
            <a:off x="393700" y="6070600"/>
            <a:ext cx="2159000" cy="533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ctr">
              <a:lnSpc>
                <a:spcPct val="142000"/>
              </a:lnSpc>
              <a:defRPr/>
            </a:pPr>
            <a:r>
              <a:rPr lang="en-US" sz="900" b="1" i="0" u="none" strike="noStrike">
                <a:solidFill>
                  <a:srgbClr val="C46A2B"/>
                </a:solidFill>
                <a:latin typeface="MiSans" charset="-122"/>
                <a:ea typeface="MiSans" charset="-122"/>
                <a:cs typeface="MiSans" charset="-122"/>
                <a:sym typeface="MiSans" charset="-122"/>
              </a:rPr>
              <a:t>M0 · 第 0 天</a:t>
            </a:r>
            <a:endParaRPr lang="en-US" sz="1100"/>
          </a:p>
          <a:p>
            <a:pPr marL="0" indent="0" algn="ctr">
              <a:lnSpc>
                <a:spcPct val="142000"/>
              </a:lnSpc>
            </a:pPr>
            <a:r>
              <a:rPr lang="en-US" sz="900" b="0" i="0" u="none" strike="noStrike">
                <a:solidFill>
                  <a:srgbClr val="7A766C"/>
                </a:solidFill>
                <a:latin typeface="MiSans" charset="-122"/>
                <a:ea typeface="MiSans" charset="-122"/>
                <a:cs typeface="MiSans" charset="-122"/>
                <a:sym typeface="MiSans" charset="-122"/>
              </a:rPr>
              <a:t>范围、优先级、迭代划分全部确认</a:t>
            </a:r>
            <a:endParaRPr lang="en-US" sz="900" b="0" i="0" u="none" strike="noStrike">
              <a:solidFill>
                <a:srgbClr val="7A766C"/>
              </a:solidFill>
              <a:latin typeface="MiSans" charset="-122"/>
              <a:ea typeface="MiSans" charset="-122"/>
              <a:cs typeface="MiSans" charset="-122"/>
              <a:sym typeface="MiSans" charset="-122"/>
            </a:endParaRPr>
          </a:p>
        </p:txBody>
      </p:sp>
      <p:sp>
        <p:nvSpPr>
          <p:cNvPr id="40" name="AutoShape 40"/>
          <p:cNvSpPr txBox="1"/>
          <p:nvPr/>
        </p:nvSpPr>
        <p:spPr>
          <a:xfrm>
            <a:off x="2705100" y="6070600"/>
            <a:ext cx="2159000" cy="533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ctr">
              <a:lnSpc>
                <a:spcPct val="142000"/>
              </a:lnSpc>
              <a:defRPr/>
            </a:pPr>
            <a:r>
              <a:rPr lang="en-US" sz="900" b="1" i="0" u="none" strike="noStrike">
                <a:solidFill>
                  <a:srgbClr val="C46A2B"/>
                </a:solidFill>
                <a:latin typeface="MiSans" charset="-122"/>
                <a:ea typeface="MiSans" charset="-122"/>
                <a:cs typeface="MiSans" charset="-122"/>
                <a:sym typeface="MiSans" charset="-122"/>
              </a:rPr>
              <a:t>M1 · 第 2 天末</a:t>
            </a:r>
            <a:endParaRPr lang="en-US" sz="1100"/>
          </a:p>
          <a:p>
            <a:pPr marL="0" indent="0" algn="ctr">
              <a:lnSpc>
                <a:spcPct val="142000"/>
              </a:lnSpc>
            </a:pPr>
            <a:r>
              <a:rPr lang="en-US" sz="900" b="0" i="0" u="none" strike="noStrike">
                <a:solidFill>
                  <a:srgbClr val="7A766C"/>
                </a:solidFill>
                <a:latin typeface="MiSans" charset="-122"/>
                <a:ea typeface="MiSans" charset="-122"/>
                <a:cs typeface="MiSans" charset="-122"/>
                <a:sym typeface="MiSans" charset="-122"/>
              </a:rPr>
              <a:t>TC-01 至 TC-04 用例全部通过</a:t>
            </a:r>
            <a:endParaRPr lang="en-US" sz="900" b="0" i="0" u="none" strike="noStrike">
              <a:solidFill>
                <a:srgbClr val="7A766C"/>
              </a:solidFill>
              <a:latin typeface="MiSans" charset="-122"/>
              <a:ea typeface="MiSans" charset="-122"/>
              <a:cs typeface="MiSans" charset="-122"/>
              <a:sym typeface="MiSans" charset="-122"/>
            </a:endParaRPr>
          </a:p>
        </p:txBody>
      </p:sp>
      <p:sp>
        <p:nvSpPr>
          <p:cNvPr id="41" name="AutoShape 41"/>
          <p:cNvSpPr txBox="1"/>
          <p:nvPr/>
        </p:nvSpPr>
        <p:spPr>
          <a:xfrm>
            <a:off x="5016500" y="6070600"/>
            <a:ext cx="2159000" cy="533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ctr">
              <a:lnSpc>
                <a:spcPct val="142000"/>
              </a:lnSpc>
              <a:defRPr/>
            </a:pPr>
            <a:r>
              <a:rPr lang="en-US" sz="900" b="1" i="0" u="none" strike="noStrike">
                <a:solidFill>
                  <a:srgbClr val="C46A2B"/>
                </a:solidFill>
                <a:latin typeface="MiSans" charset="-122"/>
                <a:ea typeface="MiSans" charset="-122"/>
                <a:cs typeface="MiSans" charset="-122"/>
                <a:sym typeface="MiSans" charset="-122"/>
              </a:rPr>
              <a:t>M2 · 第 4 天末</a:t>
            </a:r>
            <a:endParaRPr lang="en-US" sz="1100"/>
          </a:p>
          <a:p>
            <a:pPr marL="0" indent="0" algn="ctr">
              <a:lnSpc>
                <a:spcPct val="142000"/>
              </a:lnSpc>
            </a:pPr>
            <a:r>
              <a:rPr lang="en-US" sz="900" b="0" i="0" u="none" strike="noStrike">
                <a:solidFill>
                  <a:srgbClr val="7A766C"/>
                </a:solidFill>
                <a:latin typeface="MiSans" charset="-122"/>
                <a:ea typeface="MiSans" charset="-122"/>
                <a:cs typeface="MiSans" charset="-122"/>
                <a:sym typeface="MiSans" charset="-122"/>
              </a:rPr>
              <a:t>压缩率 ≥ 90%，保留率 ≥ 98%</a:t>
            </a:r>
            <a:endParaRPr lang="en-US" sz="900" b="0" i="0" u="none" strike="noStrike">
              <a:solidFill>
                <a:srgbClr val="7A766C"/>
              </a:solidFill>
              <a:latin typeface="MiSans" charset="-122"/>
              <a:ea typeface="MiSans" charset="-122"/>
              <a:cs typeface="MiSans" charset="-122"/>
              <a:sym typeface="MiSans" charset="-122"/>
            </a:endParaRPr>
          </a:p>
        </p:txBody>
      </p:sp>
      <p:sp>
        <p:nvSpPr>
          <p:cNvPr id="42" name="AutoShape 42"/>
          <p:cNvSpPr txBox="1"/>
          <p:nvPr/>
        </p:nvSpPr>
        <p:spPr>
          <a:xfrm>
            <a:off x="7327900" y="6070600"/>
            <a:ext cx="2159000" cy="533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ctr">
              <a:lnSpc>
                <a:spcPct val="142000"/>
              </a:lnSpc>
              <a:defRPr/>
            </a:pPr>
            <a:r>
              <a:rPr lang="en-US" sz="900" b="1" i="0" u="none" strike="noStrike">
                <a:solidFill>
                  <a:srgbClr val="C46A2B"/>
                </a:solidFill>
                <a:latin typeface="MiSans" charset="-122"/>
                <a:ea typeface="MiSans" charset="-122"/>
                <a:cs typeface="MiSans" charset="-122"/>
                <a:sym typeface="MiSans" charset="-122"/>
              </a:rPr>
              <a:t>M3 · 第 6 天末</a:t>
            </a:r>
            <a:endParaRPr lang="en-US" sz="1100"/>
          </a:p>
          <a:p>
            <a:pPr marL="0" indent="0" algn="ctr">
              <a:lnSpc>
                <a:spcPct val="142000"/>
              </a:lnSpc>
            </a:pPr>
            <a:r>
              <a:rPr lang="en-US" sz="900" b="0" i="0" u="none" strike="noStrike">
                <a:solidFill>
                  <a:srgbClr val="7A766C"/>
                </a:solidFill>
                <a:latin typeface="MiSans" charset="-122"/>
                <a:ea typeface="MiSans" charset="-122"/>
                <a:cs typeface="MiSans" charset="-122"/>
                <a:sym typeface="MiSans" charset="-122"/>
              </a:rPr>
              <a:t>四项指标达标，端到端演示跑通</a:t>
            </a:r>
            <a:endParaRPr lang="en-US" sz="900" b="0" i="0" u="none" strike="noStrike">
              <a:solidFill>
                <a:srgbClr val="7A766C"/>
              </a:solidFill>
              <a:latin typeface="MiSans" charset="-122"/>
              <a:ea typeface="MiSans" charset="-122"/>
              <a:cs typeface="MiSans" charset="-122"/>
              <a:sym typeface="MiSans" charset="-122"/>
            </a:endParaRPr>
          </a:p>
        </p:txBody>
      </p:sp>
      <p:sp>
        <p:nvSpPr>
          <p:cNvPr id="43" name="AutoShape 43"/>
          <p:cNvSpPr txBox="1"/>
          <p:nvPr/>
        </p:nvSpPr>
        <p:spPr>
          <a:xfrm>
            <a:off x="9753600" y="5588000"/>
            <a:ext cx="19304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50000"/>
              </a:lnSpc>
              <a:defRPr/>
            </a:pPr>
            <a:r>
              <a:rPr lang="en-US" sz="900" b="1" i="0" u="none" strike="noStrike">
                <a:solidFill>
                  <a:srgbClr val="7A766C"/>
                </a:solidFill>
                <a:latin typeface="MiSans" charset="-122"/>
                <a:ea typeface="MiSans" charset="-122"/>
                <a:cs typeface="MiSans" charset="-122"/>
                <a:sym typeface="MiSans" charset="-122"/>
              </a:rPr>
              <a:t>里程碑清单</a:t>
            </a:r>
            <a:r>
              <a:rPr lang="en-US" sz="900" b="0" i="0" u="none" strike="noStrike">
                <a:solidFill>
                  <a:srgbClr val="7A766C"/>
                </a:solidFill>
                <a:latin typeface="MiSans" charset="-122"/>
                <a:ea typeface="MiSans" charset="-122"/>
                <a:cs typeface="MiSans" charset="-122"/>
                <a:sym typeface="MiSans" charset="-122"/>
              </a:rPr>
              <a:t>（工期为 0）</a:t>
            </a:r>
            <a:endParaRPr lang="en-US" sz="1100"/>
          </a:p>
          <a:p>
            <a:pPr marL="0" indent="0" algn="l">
              <a:lnSpc>
                <a:spcPct val="150000"/>
              </a:lnSpc>
            </a:pPr>
            <a:r>
              <a:rPr lang="en-US" sz="900" b="0" i="0" u="none" strike="noStrike">
                <a:solidFill>
                  <a:srgbClr val="7A766C"/>
                </a:solidFill>
                <a:latin typeface="MiSans" charset="-122"/>
                <a:ea typeface="MiSans" charset="-122"/>
                <a:cs typeface="MiSans" charset="-122"/>
                <a:sym typeface="MiSans" charset="-122"/>
              </a:rPr>
              <a:t>M0–M3 对应四次可验证的交付</a:t>
            </a:r>
            <a:endParaRPr lang="en-US" sz="900" b="0" i="0" u="none" strike="noStrike">
              <a:solidFill>
                <a:srgbClr val="7A766C"/>
              </a:solidFill>
              <a:latin typeface="MiSans" charset="-122"/>
              <a:ea typeface="MiSans" charset="-122"/>
              <a:cs typeface="MiSans" charset="-122"/>
              <a:sym typeface="MiSans" charset="-122"/>
            </a:endParaRPr>
          </a:p>
        </p:txBody>
      </p:sp>
      <p:sp>
        <p:nvSpPr>
          <p:cNvPr id="44" name="AutoShape 44"/>
          <p:cNvSpPr txBox="1"/>
          <p:nvPr/>
        </p:nvSpPr>
        <p:spPr>
          <a:xfrm>
            <a:off x="508000" y="6629400"/>
            <a:ext cx="11176000" cy="177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850" b="0" i="0" u="none" strike="noStrike">
                <a:solidFill>
                  <a:srgbClr val="7A766C"/>
                </a:solidFill>
                <a:latin typeface="MiSans" charset="-122"/>
                <a:ea typeface="MiSans" charset="-122"/>
                <a:cs typeface="MiSans" charset="-122"/>
                <a:sym typeface="MiSans" charset="-122"/>
              </a:rPr>
              <a:t>进度计划（甘特图）由项目管理软件依据上述任务清单生成，任务名称与 WBS 逐条对应</a:t>
            </a:r>
            <a:endParaRPr lang="en-US" sz="11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6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 txBox="1"/>
          <p:nvPr/>
        </p:nvSpPr>
        <p:spPr>
          <a:xfrm>
            <a:off x="508000" y="304800"/>
            <a:ext cx="38100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000" b="0" i="0" u="none" strike="noStrike" spc="200">
                <a:solidFill>
                  <a:srgbClr val="7A766C"/>
                </a:solidFill>
                <a:latin typeface="MiSans" charset="-122"/>
                <a:ea typeface="MiSans" charset="-122"/>
                <a:cs typeface="MiSans" charset="-122"/>
                <a:sym typeface="MiSans" charset="-122"/>
              </a:rPr>
              <a:t>讨论 3 · 项目计划</a:t>
            </a:r>
            <a:endParaRPr lang="en-US" sz="1100"/>
          </a:p>
        </p:txBody>
      </p:sp>
      <p:sp>
        <p:nvSpPr>
          <p:cNvPr id="3" name="AutoShape 3"/>
          <p:cNvSpPr txBox="1"/>
          <p:nvPr/>
        </p:nvSpPr>
        <p:spPr>
          <a:xfrm>
            <a:off x="10922000" y="304800"/>
            <a:ext cx="7620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r">
              <a:lnSpc>
                <a:spcPct val="117000"/>
              </a:lnSpc>
              <a:defRPr/>
            </a:pPr>
            <a:r>
              <a:rPr lang="en-US" sz="1000" b="0" i="0" u="none" strike="noStrike">
                <a:solidFill>
                  <a:srgbClr val="7A766C"/>
                </a:solidFill>
                <a:latin typeface="MiSans" charset="-122"/>
                <a:ea typeface="MiSans" charset="-122"/>
                <a:cs typeface="MiSans" charset="-122"/>
                <a:sym typeface="MiSans" charset="-122"/>
              </a:rPr>
              <a:t>06 / 13</a:t>
            </a:r>
            <a:endParaRPr lang="en-US" sz="1100"/>
          </a:p>
        </p:txBody>
      </p:sp>
      <p:sp>
        <p:nvSpPr>
          <p:cNvPr id="4" name="AutoShape 4"/>
          <p:cNvSpPr txBox="1"/>
          <p:nvPr/>
        </p:nvSpPr>
        <p:spPr>
          <a:xfrm>
            <a:off x="508000" y="558800"/>
            <a:ext cx="11176000" cy="431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2400" b="1" i="0" u="none" strike="noStrike">
                <a:solidFill>
                  <a:srgbClr val="1F4E56"/>
                </a:solidFill>
                <a:latin typeface="MiSans" charset="-122"/>
                <a:ea typeface="MiSans" charset="-122"/>
                <a:cs typeface="MiSans" charset="-122"/>
                <a:sym typeface="MiSans" charset="-122"/>
              </a:rPr>
              <a:t>迭代计划：每个迭代末交付一个可运行的增量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508000" y="1117600"/>
            <a:ext cx="11176000" cy="12700"/>
          </a:xfrm>
          <a:prstGeom prst="roundRect">
            <a:avLst>
              <a:gd name="adj" fmla="val 0"/>
            </a:avLst>
          </a:prstGeom>
          <a:solidFill>
            <a:srgbClr val="DDD9C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 anchorCtr="0"/>
          <a:lstStyle/>
          <a:p>
            <a:pPr algn="ctr">
              <a:defRPr/>
            </a:pPr>
          </a:p>
        </p:txBody>
      </p:sp>
      <p:graphicFrame>
        <p:nvGraphicFramePr>
          <p:cNvPr id="6" name="Table 6"/>
          <p:cNvGraphicFramePr>
            <a:graphicFrameLocks noGrp="1"/>
          </p:cNvGraphicFramePr>
          <p:nvPr/>
        </p:nvGraphicFramePr>
        <p:xfrm>
          <a:off x="508000" y="1320800"/>
          <a:ext cx="11176000" cy="27432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1788160"/>
                <a:gridCol w="1899920"/>
                <a:gridCol w="1676400"/>
                <a:gridCol w="782320"/>
                <a:gridCol w="5029200"/>
              </a:tblGrid>
              <a:tr h="438912"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迭代</a:t>
                      </a:r>
                      <a:endParaRPr lang="en-US" sz="1100"/>
                    </a:p>
                  </a:txBody>
                  <a:tcPr anchor="t" anchorCtr="0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56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目标</a:t>
                      </a:r>
                      <a:endParaRPr lang="en-US" sz="1100"/>
                    </a:p>
                  </a:txBody>
                  <a:tcPr anchor="t" anchorCtr="0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56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纳入故事</a:t>
                      </a:r>
                      <a:endParaRPr lang="en-US" sz="1100"/>
                    </a:p>
                  </a:txBody>
                  <a:tcPr anchor="t" anchorCtr="0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56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点</a:t>
                      </a:r>
                      <a:endParaRPr lang="en-US" sz="1100"/>
                    </a:p>
                  </a:txBody>
                  <a:tcPr anchor="t" anchorCtr="0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56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迭代末可演示</a:t>
                      </a:r>
                      <a:endParaRPr lang="en-US" sz="1100"/>
                    </a:p>
                  </a:txBody>
                  <a:tcPr anchor="t" anchorCtr="0">
                    <a:lnL>
                      <a:noFill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56">
                        <a:alpha val="100000"/>
                      </a:srgbClr>
                    </a:solidFill>
                  </a:tcPr>
                </a:tc>
              </a:tr>
              <a:tr h="768096"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000" b="1" i="0" u="none" strike="noStrike">
                          <a:solidFill>
                            <a:srgbClr val="2C2A26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迭代一</a:t>
                      </a:r>
                      <a:endParaRPr lang="en-US" sz="1100"/>
                    </a:p>
                    <a:p>
                      <a:pPr marL="0" indent="0" algn="l">
                        <a:lnSpc>
                          <a:spcPct val="100000"/>
                        </a:lnSpc>
                      </a:pPr>
                      <a:r>
                        <a:rPr lang="en-US" sz="900" b="0" i="0" u="none" strike="noStrike">
                          <a:solidFill>
                            <a:srgbClr val="7A766C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第 1–2 天</a:t>
                      </a:r>
                      <a:endParaRPr lang="en-US" sz="900" b="0" i="0" u="none" strike="noStrike">
                        <a:solidFill>
                          <a:srgbClr val="7A766C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anchor="t" anchorCtr="0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000" b="0" i="0" u="none" strike="noStrike">
                          <a:solidFill>
                            <a:srgbClr val="2C2A26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报警数据基础</a:t>
                      </a:r>
                      <a:endParaRPr lang="en-US" sz="1100"/>
                    </a:p>
                  </a:txBody>
                  <a:tcPr anchor="t" anchorCtr="0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000" b="0" i="0" u="none" strike="noStrike">
                          <a:solidFill>
                            <a:srgbClr val="2C2A26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US-01、02、03、04</a:t>
                      </a:r>
                      <a:endParaRPr lang="en-US" sz="1100"/>
                    </a:p>
                  </a:txBody>
                  <a:tcPr anchor="t" anchorCtr="0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000" b="0" i="0" u="none" strike="noStrike">
                          <a:solidFill>
                            <a:srgbClr val="2C2A26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9</a:t>
                      </a:r>
                      <a:endParaRPr lang="en-US" sz="1100"/>
                    </a:p>
                  </a:txBody>
                  <a:tcPr anchor="t" anchorCtr="0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000" b="0" i="0" u="none" strike="noStrike">
                          <a:solidFill>
                            <a:srgbClr val="2C2A26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输入 TEP 数据，输出含抖动报警、重复报警与根因标注列的报警日志表</a:t>
                      </a:r>
                      <a:endParaRPr lang="en-US" sz="1100"/>
                    </a:p>
                  </a:txBody>
                  <a:tcPr anchor="t" anchorCtr="0">
                    <a:lnL>
                      <a:noFill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768096"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000" b="1" i="0" u="none" strike="noStrike">
                          <a:solidFill>
                            <a:srgbClr val="2C2A26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迭代二</a:t>
                      </a:r>
                      <a:endParaRPr lang="en-US" sz="1100"/>
                    </a:p>
                    <a:p>
                      <a:pPr marL="0" indent="0" algn="l">
                        <a:lnSpc>
                          <a:spcPct val="100000"/>
                        </a:lnSpc>
                      </a:pPr>
                      <a:r>
                        <a:rPr lang="en-US" sz="900" b="0" i="0" u="none" strike="noStrike">
                          <a:solidFill>
                            <a:srgbClr val="7A766C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第 3–4 天</a:t>
                      </a:r>
                      <a:endParaRPr lang="en-US" sz="900" b="0" i="0" u="none" strike="noStrike">
                        <a:solidFill>
                          <a:srgbClr val="7A766C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anchor="t" anchorCtr="0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000" b="0" i="0" u="none" strike="noStrike">
                          <a:solidFill>
                            <a:srgbClr val="2C2A26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报警压缩</a:t>
                      </a:r>
                      <a:endParaRPr lang="en-US" sz="1100"/>
                    </a:p>
                  </a:txBody>
                  <a:tcPr anchor="t" anchorCtr="0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000" b="0" i="0" u="none" strike="noStrike">
                          <a:solidFill>
                            <a:srgbClr val="2C2A26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US-05、06、10</a:t>
                      </a:r>
                      <a:endParaRPr lang="en-US" sz="1100"/>
                    </a:p>
                  </a:txBody>
                  <a:tcPr anchor="t" anchorCtr="0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000" b="0" i="0" u="none" strike="noStrike">
                          <a:solidFill>
                            <a:srgbClr val="2C2A26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11</a:t>
                      </a:r>
                      <a:endParaRPr lang="en-US" sz="1100"/>
                    </a:p>
                  </a:txBody>
                  <a:tcPr anchor="t" anchorCtr="0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000" b="0" i="0" u="none" strike="noStrike">
                          <a:solidFill>
                            <a:srgbClr val="2C2A26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页面并排显示压缩前后的报警，压缩率与保留率同时给出</a:t>
                      </a:r>
                      <a:endParaRPr lang="en-US" sz="1100"/>
                    </a:p>
                  </a:txBody>
                  <a:tcPr anchor="t" anchorCtr="0">
                    <a:lnL>
                      <a:noFill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768096"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000" b="1" i="0" u="none" strike="noStrike">
                          <a:solidFill>
                            <a:srgbClr val="2C2A26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迭代三</a:t>
                      </a:r>
                      <a:endParaRPr lang="en-US" sz="1100"/>
                    </a:p>
                    <a:p>
                      <a:pPr marL="0" indent="0" algn="l">
                        <a:lnSpc>
                          <a:spcPct val="100000"/>
                        </a:lnSpc>
                      </a:pPr>
                      <a:r>
                        <a:rPr lang="en-US" sz="900" b="0" i="0" u="none" strike="noStrike">
                          <a:solidFill>
                            <a:srgbClr val="7A766C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第 5–6 天</a:t>
                      </a:r>
                      <a:endParaRPr lang="en-US" sz="900" b="0" i="0" u="none" strike="noStrike">
                        <a:solidFill>
                          <a:srgbClr val="7A766C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anchor="t" anchorCtr="0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000" b="0" i="0" u="none" strike="noStrike">
                          <a:solidFill>
                            <a:srgbClr val="2C2A26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源头定位与全流程演示</a:t>
                      </a:r>
                      <a:endParaRPr lang="en-US" sz="1100"/>
                    </a:p>
                  </a:txBody>
                  <a:tcPr anchor="t" anchorCtr="0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000" b="0" i="0" u="none" strike="noStrike">
                          <a:solidFill>
                            <a:srgbClr val="2C2A26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US-08、12、13</a:t>
                      </a:r>
                      <a:endParaRPr lang="en-US" sz="1100"/>
                    </a:p>
                  </a:txBody>
                  <a:tcPr anchor="t" anchorCtr="0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000" b="0" i="0" u="none" strike="noStrike">
                          <a:solidFill>
                            <a:srgbClr val="2C2A26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11</a:t>
                      </a:r>
                      <a:endParaRPr lang="en-US" sz="1100"/>
                    </a:p>
                  </a:txBody>
                  <a:tcPr anchor="t" anchorCtr="0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000" b="0" i="0" u="none" strike="noStrike">
                          <a:solidFill>
                            <a:srgbClr val="2C2A26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一条命令运行，页面展示从原始数据到问题起点排序的全过程</a:t>
                      </a:r>
                      <a:endParaRPr lang="en-US" sz="1100"/>
                    </a:p>
                  </a:txBody>
                  <a:tcPr anchor="t" anchorCtr="0">
                    <a:lnL>
                      <a:noFill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7" name="AutoShape 7"/>
          <p:cNvSpPr/>
          <p:nvPr/>
        </p:nvSpPr>
        <p:spPr>
          <a:xfrm>
            <a:off x="508000" y="4470400"/>
            <a:ext cx="50800" cy="177800"/>
          </a:xfrm>
          <a:prstGeom prst="roundRect">
            <a:avLst>
              <a:gd name="adj" fmla="val 0"/>
            </a:avLst>
          </a:prstGeom>
          <a:solidFill>
            <a:srgbClr val="C46A2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 anchorCtr="0"/>
          <a:lstStyle/>
          <a:p>
            <a:pPr algn="ctr">
              <a:defRPr/>
            </a:pPr>
          </a:p>
        </p:txBody>
      </p:sp>
      <p:sp>
        <p:nvSpPr>
          <p:cNvPr id="8" name="AutoShape 8"/>
          <p:cNvSpPr txBox="1"/>
          <p:nvPr/>
        </p:nvSpPr>
        <p:spPr>
          <a:xfrm>
            <a:off x="660400" y="4445000"/>
            <a:ext cx="5080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1" i="0" u="none" strike="noStrike">
                <a:solidFill>
                  <a:srgbClr val="2C2A26"/>
                </a:solidFill>
                <a:latin typeface="MiSans" charset="-122"/>
                <a:ea typeface="MiSans" charset="-122"/>
                <a:cs typeface="MiSans" charset="-122"/>
                <a:sym typeface="MiSans" charset="-122"/>
              </a:rPr>
              <a:t>跨迭代的两条一致性约定</a:t>
            </a:r>
            <a:endParaRPr lang="en-US" sz="1100"/>
          </a:p>
        </p:txBody>
      </p:sp>
      <p:sp>
        <p:nvSpPr>
          <p:cNvPr id="9" name="AutoShape 9"/>
          <p:cNvSpPr txBox="1"/>
          <p:nvPr/>
        </p:nvSpPr>
        <p:spPr>
          <a:xfrm>
            <a:off x="508000" y="4851400"/>
            <a:ext cx="7112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2800" b="1" i="0" u="none" strike="noStrike">
                <a:solidFill>
                  <a:srgbClr val="1F4E56">
                    <a:alpha val="20000"/>
                  </a:srgbClr>
                </a:solidFill>
                <a:latin typeface="MiSans" charset="-122"/>
                <a:ea typeface="MiSans" charset="-122"/>
                <a:cs typeface="MiSans" charset="-122"/>
                <a:sym typeface="MiSans" charset="-122"/>
              </a:rPr>
              <a:t>01</a:t>
            </a:r>
            <a:endParaRPr lang="en-US" sz="1100"/>
          </a:p>
        </p:txBody>
      </p:sp>
      <p:sp>
        <p:nvSpPr>
          <p:cNvPr id="10" name="AutoShape 10"/>
          <p:cNvSpPr txBox="1"/>
          <p:nvPr/>
        </p:nvSpPr>
        <p:spPr>
          <a:xfrm>
            <a:off x="1270000" y="4826000"/>
            <a:ext cx="4826000" cy="1219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58000"/>
              </a:lnSpc>
              <a:defRPr/>
            </a:pPr>
            <a:r>
              <a:rPr lang="en-US" sz="1100" b="1" i="0" u="none" strike="noStrike">
                <a:solidFill>
                  <a:srgbClr val="2C2A26"/>
                </a:solidFill>
                <a:latin typeface="MiSans" charset="-122"/>
                <a:ea typeface="MiSans" charset="-122"/>
                <a:cs typeface="MiSans" charset="-122"/>
                <a:sym typeface="MiSans" charset="-122"/>
              </a:rPr>
              <a:t>字段与编码沿用</a:t>
            </a:r>
            <a:endParaRPr lang="en-US" sz="1100"/>
          </a:p>
          <a:p>
            <a:pPr marL="0" indent="0" algn="l">
              <a:lnSpc>
                <a:spcPct val="158000"/>
              </a:lnSpc>
            </a:pPr>
            <a:r>
              <a:rPr lang="en-US" sz="1100" b="0" i="0" u="none" strike="noStrike">
                <a:solidFill>
                  <a:srgbClr val="2C2A26"/>
                </a:solidFill>
                <a:latin typeface="MiSans" charset="-122"/>
                <a:ea typeface="MiSans" charset="-122"/>
                <a:cs typeface="MiSans" charset="-122"/>
                <a:sym typeface="MiSans" charset="-122"/>
              </a:rPr>
              <a:t>迭代二新增的报警组表与保留清单，字段命名与测点编号编码须沿用迭代一确定的规范。</a:t>
            </a:r>
            <a:endParaRPr lang="en-US" sz="1100" b="0" i="0" u="none" strike="noStrike">
              <a:solidFill>
                <a:srgbClr val="2C2A26"/>
              </a:solidFill>
              <a:latin typeface="MiSans" charset="-122"/>
              <a:ea typeface="MiSans" charset="-122"/>
              <a:cs typeface="MiSans" charset="-122"/>
              <a:sym typeface="MiSans" charset="-122"/>
            </a:endParaRPr>
          </a:p>
        </p:txBody>
      </p:sp>
      <p:sp>
        <p:nvSpPr>
          <p:cNvPr id="11" name="AutoShape 11"/>
          <p:cNvSpPr/>
          <p:nvPr/>
        </p:nvSpPr>
        <p:spPr>
          <a:xfrm>
            <a:off x="6477000" y="4876800"/>
            <a:ext cx="12700" cy="1117600"/>
          </a:xfrm>
          <a:prstGeom prst="roundRect">
            <a:avLst>
              <a:gd name="adj" fmla="val 0"/>
            </a:avLst>
          </a:prstGeom>
          <a:solidFill>
            <a:srgbClr val="DDD9C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 anchorCtr="0"/>
          <a:lstStyle/>
          <a:p>
            <a:pPr algn="ctr">
              <a:defRPr/>
            </a:pPr>
          </a:p>
        </p:txBody>
      </p:sp>
      <p:sp>
        <p:nvSpPr>
          <p:cNvPr id="12" name="AutoShape 12"/>
          <p:cNvSpPr txBox="1"/>
          <p:nvPr/>
        </p:nvSpPr>
        <p:spPr>
          <a:xfrm>
            <a:off x="6858000" y="4851400"/>
            <a:ext cx="7112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2800" b="1" i="0" u="none" strike="noStrike">
                <a:solidFill>
                  <a:srgbClr val="1F4E56">
                    <a:alpha val="20000"/>
                  </a:srgbClr>
                </a:solidFill>
                <a:latin typeface="MiSans" charset="-122"/>
                <a:ea typeface="MiSans" charset="-122"/>
                <a:cs typeface="MiSans" charset="-122"/>
                <a:sym typeface="MiSans" charset="-122"/>
              </a:rPr>
              <a:t>02</a:t>
            </a:r>
            <a:endParaRPr lang="en-US" sz="1100"/>
          </a:p>
        </p:txBody>
      </p:sp>
      <p:sp>
        <p:nvSpPr>
          <p:cNvPr id="13" name="AutoShape 13"/>
          <p:cNvSpPr txBox="1"/>
          <p:nvPr/>
        </p:nvSpPr>
        <p:spPr>
          <a:xfrm>
            <a:off x="7620000" y="4826000"/>
            <a:ext cx="4064000" cy="1219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58000"/>
              </a:lnSpc>
              <a:defRPr/>
            </a:pPr>
            <a:r>
              <a:rPr lang="en-US" sz="1100" b="1" i="0" u="none" strike="noStrike">
                <a:solidFill>
                  <a:srgbClr val="2C2A26"/>
                </a:solidFill>
                <a:latin typeface="MiSans" charset="-122"/>
                <a:ea typeface="MiSans" charset="-122"/>
                <a:cs typeface="MiSans" charset="-122"/>
                <a:sym typeface="MiSans" charset="-122"/>
              </a:rPr>
              <a:t>变量编码统一</a:t>
            </a:r>
            <a:endParaRPr lang="en-US" sz="1100"/>
          </a:p>
          <a:p>
            <a:pPr marL="0" indent="0" algn="l">
              <a:lnSpc>
                <a:spcPct val="158000"/>
              </a:lnSpc>
            </a:pPr>
            <a:r>
              <a:rPr lang="en-US" sz="1100" b="0" i="0" u="none" strike="noStrike">
                <a:solidFill>
                  <a:srgbClr val="2C2A26"/>
                </a:solidFill>
                <a:latin typeface="MiSans" charset="-122"/>
                <a:ea typeface="MiSans" charset="-122"/>
                <a:cs typeface="MiSans" charset="-122"/>
                <a:sym typeface="MiSans" charset="-122"/>
              </a:rPr>
              <a:t>迭代三做源头定位时需回原始时序取数，变量编码必须与迭代一统一格式后的编码一致，否则测点无法对应。</a:t>
            </a:r>
            <a:endParaRPr lang="en-US" sz="1100" b="0" i="0" u="none" strike="noStrike">
              <a:solidFill>
                <a:srgbClr val="2C2A26"/>
              </a:solidFill>
              <a:latin typeface="MiSans" charset="-122"/>
              <a:ea typeface="MiSans" charset="-122"/>
              <a:cs typeface="MiSans" charset="-122"/>
              <a:sym typeface="MiSans" charset="-122"/>
            </a:endParaRPr>
          </a:p>
        </p:txBody>
      </p:sp>
      <p:sp>
        <p:nvSpPr>
          <p:cNvPr id="14" name="AutoShape 14"/>
          <p:cNvSpPr txBox="1"/>
          <p:nvPr/>
        </p:nvSpPr>
        <p:spPr>
          <a:xfrm>
            <a:off x="508000" y="6413500"/>
            <a:ext cx="111760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900" b="0" i="0" u="none" strike="noStrike">
                <a:solidFill>
                  <a:srgbClr val="7A766C"/>
                </a:solidFill>
                <a:latin typeface="MiSans" charset="-122"/>
                <a:ea typeface="MiSans" charset="-122"/>
                <a:cs typeface="MiSans" charset="-122"/>
                <a:sym typeface="MiSans" charset="-122"/>
              </a:rPr>
              <a:t>三个迭代的故事点合计 31，预留 5 点缓冲应对估算偏差</a:t>
            </a:r>
            <a:endParaRPr lang="en-US" sz="11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6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 txBox="1"/>
          <p:nvPr/>
        </p:nvSpPr>
        <p:spPr>
          <a:xfrm>
            <a:off x="508000" y="304800"/>
            <a:ext cx="38100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000" b="0" i="0" u="none" strike="noStrike" spc="200">
                <a:solidFill>
                  <a:srgbClr val="7A766C"/>
                </a:solidFill>
                <a:latin typeface="MiSans" charset="-122"/>
                <a:ea typeface="MiSans" charset="-122"/>
                <a:cs typeface="MiSans" charset="-122"/>
                <a:sym typeface="MiSans" charset="-122"/>
              </a:rPr>
              <a:t>讨论 3 · 项目计划</a:t>
            </a:r>
            <a:endParaRPr lang="en-US" sz="1100"/>
          </a:p>
        </p:txBody>
      </p:sp>
      <p:sp>
        <p:nvSpPr>
          <p:cNvPr id="3" name="AutoShape 3"/>
          <p:cNvSpPr txBox="1"/>
          <p:nvPr/>
        </p:nvSpPr>
        <p:spPr>
          <a:xfrm>
            <a:off x="10922000" y="304800"/>
            <a:ext cx="7620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r">
              <a:lnSpc>
                <a:spcPct val="117000"/>
              </a:lnSpc>
              <a:defRPr/>
            </a:pPr>
            <a:r>
              <a:rPr lang="en-US" sz="1000" b="0" i="0" u="none" strike="noStrike">
                <a:solidFill>
                  <a:srgbClr val="7A766C"/>
                </a:solidFill>
                <a:latin typeface="MiSans" charset="-122"/>
                <a:ea typeface="MiSans" charset="-122"/>
                <a:cs typeface="MiSans" charset="-122"/>
                <a:sym typeface="MiSans" charset="-122"/>
              </a:rPr>
              <a:t>07 / 13</a:t>
            </a:r>
            <a:endParaRPr lang="en-US" sz="1100"/>
          </a:p>
        </p:txBody>
      </p:sp>
      <p:sp>
        <p:nvSpPr>
          <p:cNvPr id="4" name="AutoShape 4"/>
          <p:cNvSpPr txBox="1"/>
          <p:nvPr/>
        </p:nvSpPr>
        <p:spPr>
          <a:xfrm>
            <a:off x="508000" y="558800"/>
            <a:ext cx="11176000" cy="431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2400" b="1" i="0" u="none" strike="noStrike">
                <a:solidFill>
                  <a:srgbClr val="1F4E56"/>
                </a:solidFill>
                <a:latin typeface="MiSans" charset="-122"/>
                <a:ea typeface="MiSans" charset="-122"/>
                <a:cs typeface="MiSans" charset="-122"/>
                <a:sym typeface="MiSans" charset="-122"/>
              </a:rPr>
              <a:t>迭代一：任务分解与责任到人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508000" y="1117600"/>
            <a:ext cx="11176000" cy="12700"/>
          </a:xfrm>
          <a:prstGeom prst="roundRect">
            <a:avLst>
              <a:gd name="adj" fmla="val 0"/>
            </a:avLst>
          </a:prstGeom>
          <a:solidFill>
            <a:srgbClr val="DDD9C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 anchorCtr="0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508000" y="1320800"/>
            <a:ext cx="50800" cy="177800"/>
          </a:xfrm>
          <a:prstGeom prst="roundRect">
            <a:avLst>
              <a:gd name="adj" fmla="val 0"/>
            </a:avLst>
          </a:prstGeom>
          <a:solidFill>
            <a:srgbClr val="C46A2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 anchorCtr="0"/>
          <a:lstStyle/>
          <a:p>
            <a:pPr algn="ctr">
              <a:defRPr/>
            </a:pPr>
          </a:p>
        </p:txBody>
      </p:sp>
      <p:sp>
        <p:nvSpPr>
          <p:cNvPr id="7" name="AutoShape 7"/>
          <p:cNvSpPr txBox="1"/>
          <p:nvPr/>
        </p:nvSpPr>
        <p:spPr>
          <a:xfrm>
            <a:off x="660400" y="1295400"/>
            <a:ext cx="3048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1" i="0" u="none" strike="noStrike">
                <a:solidFill>
                  <a:srgbClr val="2C2A26"/>
                </a:solidFill>
                <a:latin typeface="MiSans" charset="-122"/>
                <a:ea typeface="MiSans" charset="-122"/>
                <a:cs typeface="MiSans" charset="-122"/>
                <a:sym typeface="MiSans" charset="-122"/>
              </a:rPr>
              <a:t>Scrum 团队角色</a:t>
            </a:r>
            <a:endParaRPr lang="en-US" sz="1100"/>
          </a:p>
        </p:txBody>
      </p:sp>
      <p:sp>
        <p:nvSpPr>
          <p:cNvPr id="8" name="AutoShape 8"/>
          <p:cNvSpPr txBox="1"/>
          <p:nvPr/>
        </p:nvSpPr>
        <p:spPr>
          <a:xfrm>
            <a:off x="508000" y="1676400"/>
            <a:ext cx="3556000" cy="711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42000"/>
              </a:lnSpc>
              <a:defRPr/>
            </a:pPr>
            <a:r>
              <a:rPr lang="en-US" sz="1050" b="1" i="0" u="none" strike="noStrike">
                <a:solidFill>
                  <a:srgbClr val="2C2A26"/>
                </a:solidFill>
                <a:latin typeface="MiSans" charset="-122"/>
                <a:ea typeface="MiSans" charset="-122"/>
                <a:cs typeface="MiSans" charset="-122"/>
                <a:sym typeface="MiSans" charset="-122"/>
              </a:rPr>
              <a:t>产品负责人（PO）｜</a:t>
            </a:r>
            <a:r>
              <a:rPr lang="zh-CN" altLang="en-US" sz="1050" b="1" i="0" u="none" strike="noStrike">
                <a:solidFill>
                  <a:srgbClr val="2C2A26"/>
                </a:solidFill>
                <a:latin typeface="MiSans" charset="-122"/>
                <a:ea typeface="MiSans" charset="-122"/>
                <a:cs typeface="MiSans" charset="-122"/>
                <a:sym typeface="MiSans" charset="-122"/>
              </a:rPr>
              <a:t>郑子唯</a:t>
            </a:r>
            <a:endParaRPr lang="en-US" sz="1100"/>
          </a:p>
          <a:p>
            <a:pPr marL="0" indent="0" algn="l">
              <a:lnSpc>
                <a:spcPct val="142000"/>
              </a:lnSpc>
            </a:pPr>
            <a:r>
              <a:rPr lang="en-US" sz="1050" b="0" i="0" u="none" strike="noStrike">
                <a:solidFill>
                  <a:srgbClr val="7A766C"/>
                </a:solidFill>
                <a:latin typeface="MiSans" charset="-122"/>
                <a:ea typeface="MiSans" charset="-122"/>
                <a:cs typeface="MiSans" charset="-122"/>
                <a:sym typeface="MiSans" charset="-122"/>
              </a:rPr>
              <a:t>确定需求优先级、验收标准、对外沟通</a:t>
            </a:r>
            <a:endParaRPr lang="en-US" sz="1050" b="0" i="0" u="none" strike="noStrike">
              <a:solidFill>
                <a:srgbClr val="7A766C"/>
              </a:solidFill>
              <a:latin typeface="MiSans" charset="-122"/>
              <a:ea typeface="MiSans" charset="-122"/>
              <a:cs typeface="MiSans" charset="-122"/>
              <a:sym typeface="MiSans" charset="-122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508000" y="2489200"/>
            <a:ext cx="3556000" cy="12700"/>
          </a:xfrm>
          <a:prstGeom prst="roundRect">
            <a:avLst>
              <a:gd name="adj" fmla="val 0"/>
            </a:avLst>
          </a:prstGeom>
          <a:solidFill>
            <a:srgbClr val="DDD9C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 anchorCtr="0"/>
          <a:lstStyle/>
          <a:p>
            <a:pPr algn="ctr">
              <a:defRPr/>
            </a:pPr>
          </a:p>
        </p:txBody>
      </p:sp>
      <p:sp>
        <p:nvSpPr>
          <p:cNvPr id="10" name="AutoShape 10"/>
          <p:cNvSpPr txBox="1"/>
          <p:nvPr/>
        </p:nvSpPr>
        <p:spPr>
          <a:xfrm>
            <a:off x="508000" y="2616200"/>
            <a:ext cx="3556000" cy="711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42000"/>
              </a:lnSpc>
              <a:defRPr/>
            </a:pPr>
            <a:r>
              <a:rPr lang="en-US" sz="1050" b="1" i="0" u="none" strike="noStrike">
                <a:solidFill>
                  <a:srgbClr val="2C2A26"/>
                </a:solidFill>
                <a:latin typeface="MiSans" charset="-122"/>
                <a:ea typeface="MiSans" charset="-122"/>
                <a:cs typeface="MiSans" charset="-122"/>
                <a:sym typeface="MiSans" charset="-122"/>
              </a:rPr>
              <a:t>Scrum Master｜</a:t>
            </a:r>
            <a:r>
              <a:rPr lang="zh-CN" altLang="en-US" sz="1050" b="1" i="0" u="none" strike="noStrike">
                <a:solidFill>
                  <a:srgbClr val="2C2A26"/>
                </a:solidFill>
                <a:latin typeface="MiSans" charset="-122"/>
                <a:ea typeface="MiSans" charset="-122"/>
                <a:cs typeface="MiSans" charset="-122"/>
                <a:sym typeface="MiSans" charset="-122"/>
              </a:rPr>
              <a:t>李明轩</a:t>
            </a:r>
            <a:endParaRPr lang="en-US" sz="1100"/>
          </a:p>
          <a:p>
            <a:pPr marL="0" indent="0" algn="l">
              <a:lnSpc>
                <a:spcPct val="142000"/>
              </a:lnSpc>
            </a:pPr>
            <a:r>
              <a:rPr lang="en-US" sz="1050" b="0" i="0" u="none" strike="noStrike">
                <a:solidFill>
                  <a:srgbClr val="7A766C"/>
                </a:solidFill>
                <a:latin typeface="MiSans" charset="-122"/>
                <a:ea typeface="MiSans" charset="-122"/>
                <a:cs typeface="MiSans" charset="-122"/>
                <a:sym typeface="MiSans" charset="-122"/>
              </a:rPr>
              <a:t>主持每日站会、清除障碍、记录过程</a:t>
            </a:r>
            <a:endParaRPr lang="en-US" sz="1050" b="0" i="0" u="none" strike="noStrike">
              <a:solidFill>
                <a:srgbClr val="7A766C"/>
              </a:solidFill>
              <a:latin typeface="MiSans" charset="-122"/>
              <a:ea typeface="MiSans" charset="-122"/>
              <a:cs typeface="MiSans" charset="-122"/>
              <a:sym typeface="MiSans" charset="-122"/>
            </a:endParaRPr>
          </a:p>
        </p:txBody>
      </p:sp>
      <p:sp>
        <p:nvSpPr>
          <p:cNvPr id="11" name="AutoShape 11"/>
          <p:cNvSpPr/>
          <p:nvPr/>
        </p:nvSpPr>
        <p:spPr>
          <a:xfrm>
            <a:off x="508000" y="3429000"/>
            <a:ext cx="3556000" cy="12700"/>
          </a:xfrm>
          <a:prstGeom prst="roundRect">
            <a:avLst>
              <a:gd name="adj" fmla="val 0"/>
            </a:avLst>
          </a:prstGeom>
          <a:solidFill>
            <a:srgbClr val="DDD9C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 anchorCtr="0"/>
          <a:lstStyle/>
          <a:p>
            <a:pPr algn="ctr">
              <a:defRPr/>
            </a:pPr>
          </a:p>
        </p:txBody>
      </p:sp>
      <p:sp>
        <p:nvSpPr>
          <p:cNvPr id="12" name="AutoShape 12"/>
          <p:cNvSpPr txBox="1"/>
          <p:nvPr/>
        </p:nvSpPr>
        <p:spPr>
          <a:xfrm>
            <a:off x="508000" y="3556000"/>
            <a:ext cx="3556000" cy="711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42000"/>
              </a:lnSpc>
              <a:defRPr/>
            </a:pPr>
            <a:r>
              <a:rPr lang="en-US" sz="1050" b="1" i="0" u="none" strike="noStrike">
                <a:solidFill>
                  <a:srgbClr val="2C2A26"/>
                </a:solidFill>
                <a:latin typeface="MiSans" charset="-122"/>
                <a:ea typeface="MiSans" charset="-122"/>
                <a:cs typeface="MiSans" charset="-122"/>
                <a:sym typeface="MiSans" charset="-122"/>
              </a:rPr>
              <a:t>开发团队｜</a:t>
            </a:r>
            <a:r>
              <a:rPr lang="zh-CN" altLang="en-US" sz="1050" b="1" i="0" u="none" strike="noStrike">
                <a:solidFill>
                  <a:srgbClr val="2C2A26"/>
                </a:solidFill>
                <a:latin typeface="MiSans" charset="-122"/>
                <a:ea typeface="MiSans" charset="-122"/>
                <a:cs typeface="MiSans" charset="-122"/>
                <a:sym typeface="MiSans" charset="-122"/>
              </a:rPr>
              <a:t>滕艺斐、吕子豪、吴焕石、张泽旺</a:t>
            </a:r>
            <a:endParaRPr lang="en-US" sz="1100"/>
          </a:p>
          <a:p>
            <a:pPr marL="0" indent="0" algn="l">
              <a:lnSpc>
                <a:spcPct val="142000"/>
              </a:lnSpc>
            </a:pPr>
            <a:r>
              <a:rPr lang="en-US" sz="1050" b="0" i="0" u="none" strike="noStrike">
                <a:solidFill>
                  <a:srgbClr val="7A766C"/>
                </a:solidFill>
                <a:latin typeface="MiSans" charset="-122"/>
                <a:ea typeface="MiSans" charset="-122"/>
                <a:cs typeface="MiSans" charset="-122"/>
                <a:sym typeface="MiSans" charset="-122"/>
              </a:rPr>
              <a:t>承担设计、实现与测试工作</a:t>
            </a:r>
            <a:endParaRPr lang="en-US" sz="1050" b="0" i="0" u="none" strike="noStrike">
              <a:solidFill>
                <a:srgbClr val="7A766C"/>
              </a:solidFill>
              <a:latin typeface="MiSans" charset="-122"/>
              <a:ea typeface="MiSans" charset="-122"/>
              <a:cs typeface="MiSans" charset="-122"/>
              <a:sym typeface="MiSans" charset="-122"/>
            </a:endParaRPr>
          </a:p>
        </p:txBody>
      </p:sp>
      <p:sp>
        <p:nvSpPr>
          <p:cNvPr id="13" name="AutoShape 13"/>
          <p:cNvSpPr/>
          <p:nvPr/>
        </p:nvSpPr>
        <p:spPr>
          <a:xfrm>
            <a:off x="508000" y="4470400"/>
            <a:ext cx="50800" cy="812800"/>
          </a:xfrm>
          <a:prstGeom prst="roundRect">
            <a:avLst>
              <a:gd name="adj" fmla="val 0"/>
            </a:avLst>
          </a:prstGeom>
          <a:solidFill>
            <a:srgbClr val="1F4E5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 anchorCtr="0"/>
          <a:lstStyle/>
          <a:p>
            <a:pPr algn="ctr">
              <a:defRPr/>
            </a:pPr>
          </a:p>
        </p:txBody>
      </p:sp>
      <p:sp>
        <p:nvSpPr>
          <p:cNvPr id="14" name="AutoShape 14"/>
          <p:cNvSpPr txBox="1"/>
          <p:nvPr/>
        </p:nvSpPr>
        <p:spPr>
          <a:xfrm>
            <a:off x="685800" y="4470400"/>
            <a:ext cx="3378200" cy="1219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50000"/>
              </a:lnSpc>
              <a:defRPr/>
            </a:pPr>
            <a:r>
              <a:rPr lang="en-US" sz="1000" b="1" i="0" u="none" strike="noStrike">
                <a:solidFill>
                  <a:srgbClr val="2C2A26"/>
                </a:solidFill>
                <a:latin typeface="MiSans" charset="-122"/>
                <a:ea typeface="MiSans" charset="-122"/>
                <a:cs typeface="MiSans" charset="-122"/>
                <a:sym typeface="MiSans" charset="-122"/>
              </a:rPr>
              <a:t>不设项目经理。</a:t>
            </a:r>
            <a:r>
              <a:rPr lang="en-US" sz="1000" b="0" i="0" u="none" strike="noStrike">
                <a:solidFill>
                  <a:srgbClr val="2C2A26"/>
                </a:solidFill>
                <a:latin typeface="MiSans" charset="-122"/>
                <a:ea typeface="MiSans" charset="-122"/>
                <a:cs typeface="MiSans" charset="-122"/>
                <a:sym typeface="MiSans" charset="-122"/>
              </a:rPr>
              <a:t>管理性工作由产品负责人与 Scrum Master 分担，技术实施由开发团队共同承担。</a:t>
            </a:r>
            <a:endParaRPr lang="en-US" sz="1100"/>
          </a:p>
        </p:txBody>
      </p:sp>
      <p:sp>
        <p:nvSpPr>
          <p:cNvPr id="15" name="AutoShape 15"/>
          <p:cNvSpPr txBox="1"/>
          <p:nvPr/>
        </p:nvSpPr>
        <p:spPr>
          <a:xfrm>
            <a:off x="508000" y="5740400"/>
            <a:ext cx="3556000" cy="787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50000"/>
              </a:lnSpc>
              <a:defRPr/>
            </a:pPr>
            <a:r>
              <a:rPr lang="en-US" sz="950" b="0" i="0" u="none" strike="noStrike">
                <a:solidFill>
                  <a:srgbClr val="7A766C"/>
                </a:solidFill>
                <a:latin typeface="MiSans" charset="-122"/>
                <a:ea typeface="MiSans" charset="-122"/>
                <a:cs typeface="MiSans" charset="-122"/>
                <a:sym typeface="MiSans" charset="-122"/>
              </a:rPr>
              <a:t>P6 在本迭代没有对应用户故事（看板需等迭代二产生数据），安排其预研看板骨架并承担测试执行，避免人力闲置后自行扩充范围。</a:t>
            </a:r>
            <a:endParaRPr lang="en-US" sz="1100"/>
          </a:p>
        </p:txBody>
      </p:sp>
      <p:graphicFrame>
        <p:nvGraphicFramePr>
          <p:cNvPr id="16" name="Table 16"/>
          <p:cNvGraphicFramePr>
            <a:graphicFrameLocks noGrp="1"/>
          </p:cNvGraphicFramePr>
          <p:nvPr/>
        </p:nvGraphicFramePr>
        <p:xfrm>
          <a:off x="4419600" y="1295400"/>
          <a:ext cx="7264400" cy="5142273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726440"/>
                <a:gridCol w="3341624"/>
                <a:gridCol w="653796"/>
                <a:gridCol w="799084"/>
                <a:gridCol w="1743456"/>
              </a:tblGrid>
              <a:tr h="410464"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950" b="1" i="0" u="none" strike="noStrike">
                          <a:solidFill>
                            <a:srgbClr val="FFFFFF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任务</a:t>
                      </a:r>
                      <a:endParaRPr lang="en-US" sz="1100"/>
                    </a:p>
                  </a:txBody>
                  <a:tcPr anchor="t" anchorCtr="0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56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950" b="1" i="0" u="none" strike="noStrike">
                          <a:solidFill>
                            <a:srgbClr val="FFFFFF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工作内容</a:t>
                      </a:r>
                      <a:endParaRPr lang="en-US" sz="1100"/>
                    </a:p>
                  </a:txBody>
                  <a:tcPr anchor="t" anchorCtr="0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56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950" b="1" i="0" u="none" strike="noStrike">
                          <a:solidFill>
                            <a:srgbClr val="FFFFFF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负责</a:t>
                      </a:r>
                      <a:endParaRPr lang="en-US" sz="1100"/>
                    </a:p>
                  </a:txBody>
                  <a:tcPr anchor="t" anchorCtr="0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56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950" b="1" i="0" u="none" strike="noStrike">
                          <a:solidFill>
                            <a:srgbClr val="FFFFFF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预估</a:t>
                      </a:r>
                      <a:endParaRPr lang="en-US" sz="1100"/>
                    </a:p>
                  </a:txBody>
                  <a:tcPr anchor="t" anchorCtr="0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56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950" b="1" i="0" u="none" strike="noStrike">
                          <a:solidFill>
                            <a:srgbClr val="FFFFFF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交付物</a:t>
                      </a:r>
                      <a:endParaRPr lang="en-US" sz="1100"/>
                    </a:p>
                  </a:txBody>
                  <a:tcPr anchor="t" anchorCtr="0">
                    <a:lnL>
                      <a:noFill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56">
                        <a:alpha val="100000"/>
                      </a:srgbClr>
                    </a:solidFill>
                  </a:tcPr>
                </a:tc>
              </a:tr>
              <a:tr h="393019"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900" b="0" i="0" u="none" strike="noStrike">
                          <a:solidFill>
                            <a:srgbClr val="2C2A26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T1.1</a:t>
                      </a:r>
                      <a:endParaRPr lang="en-US" sz="1100"/>
                    </a:p>
                  </a:txBody>
                  <a:tcPr anchor="t" anchorCtr="0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900" b="0" i="0" u="none" strike="noStrike">
                          <a:solidFill>
                            <a:srgbClr val="2C2A26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下载 TEP 数据并统一为（时间 × 52 变量）格式，处理 d00.dat 转置问题</a:t>
                      </a:r>
                      <a:endParaRPr lang="en-US" sz="1100"/>
                    </a:p>
                  </a:txBody>
                  <a:tcPr anchor="t" anchorCtr="0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zh-CN" altLang="en-US" sz="900" b="1">
                          <a:solidFill>
                            <a:srgbClr val="2C2A26"/>
                          </a:solidFill>
                          <a:latin typeface="MiSans" charset="-122"/>
                          <a:ea typeface="MiSans" charset="-122"/>
                          <a:cs typeface="MiSans" charset="-122"/>
                          <a:sym typeface="MiSans" charset="-122"/>
                        </a:rPr>
                        <a:t>滕艺斐</a:t>
                      </a:r>
                      <a:endParaRPr lang="en-US" sz="1100"/>
                    </a:p>
                  </a:txBody>
                  <a:tcPr anchor="t" anchorCtr="0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900" b="0" i="0" u="none" strike="noStrike">
                          <a:solidFill>
                            <a:srgbClr val="2C2A26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0.5 天</a:t>
                      </a:r>
                      <a:endParaRPr lang="en-US" sz="1100"/>
                    </a:p>
                  </a:txBody>
                  <a:tcPr anchor="t" anchorCtr="0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900" b="0" i="0" u="none" strike="noStrike">
                          <a:solidFill>
                            <a:srgbClr val="2C2A26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格式统一的数值表</a:t>
                      </a:r>
                      <a:endParaRPr lang="en-US" sz="1100"/>
                    </a:p>
                  </a:txBody>
                  <a:tcPr anchor="t" anchorCtr="0">
                    <a:lnL>
                      <a:noFill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93019"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900" b="0" i="0" u="none" strike="noStrike">
                          <a:solidFill>
                            <a:srgbClr val="2C2A26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T1.2</a:t>
                      </a:r>
                      <a:endParaRPr lang="en-US" sz="1100"/>
                    </a:p>
                  </a:txBody>
                  <a:tcPr anchor="t" anchorCtr="0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900" b="0" i="0" u="none" strike="noStrike">
                          <a:solidFill>
                            <a:srgbClr val="2C2A26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统计正常工况分布，为 52 个变量确定上下限</a:t>
                      </a:r>
                      <a:endParaRPr lang="en-US" sz="1100"/>
                    </a:p>
                  </a:txBody>
                  <a:tcPr anchor="t" anchorCtr="0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zh-CN" altLang="en-US" sz="900" b="1">
                          <a:solidFill>
                            <a:srgbClr val="2C2A26"/>
                          </a:solidFill>
                          <a:latin typeface="MiSans" charset="-122"/>
                          <a:ea typeface="MiSans" charset="-122"/>
                          <a:cs typeface="MiSans" charset="-122"/>
                          <a:sym typeface="MiSans" charset="-122"/>
                        </a:rPr>
                        <a:t>滕艺斐</a:t>
                      </a:r>
                      <a:endParaRPr lang="en-US" sz="1100"/>
                    </a:p>
                  </a:txBody>
                  <a:tcPr anchor="t" anchorCtr="0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900" b="0" i="0" u="none" strike="noStrike">
                          <a:solidFill>
                            <a:srgbClr val="2C2A26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0.5 天</a:t>
                      </a:r>
                      <a:endParaRPr lang="en-US" sz="1100"/>
                    </a:p>
                  </a:txBody>
                  <a:tcPr anchor="t" anchorCtr="0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900" b="0" i="0" u="none" strike="noStrike">
                          <a:solidFill>
                            <a:srgbClr val="2C2A26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上下限配置表</a:t>
                      </a:r>
                      <a:endParaRPr lang="en-US" sz="1100"/>
                    </a:p>
                  </a:txBody>
                  <a:tcPr anchor="t" anchorCtr="0">
                    <a:lnL>
                      <a:noFill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93019"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900" b="0" i="0" u="none" strike="noStrike">
                          <a:solidFill>
                            <a:srgbClr val="2C2A26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T1.3</a:t>
                      </a:r>
                      <a:endParaRPr lang="en-US" sz="1100"/>
                    </a:p>
                  </a:txBody>
                  <a:tcPr anchor="t" anchorCtr="0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900" b="0" i="0" u="none" strike="noStrike">
                          <a:solidFill>
                            <a:srgbClr val="2C2A26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实现越限判定与报警记录生成</a:t>
                      </a:r>
                      <a:endParaRPr lang="en-US" sz="1100"/>
                    </a:p>
                  </a:txBody>
                  <a:tcPr anchor="t" anchorCtr="0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zh-CN" altLang="en-US" sz="900" b="1">
                          <a:solidFill>
                            <a:srgbClr val="2C2A26"/>
                          </a:solidFill>
                          <a:latin typeface="MiSans" charset="-122"/>
                          <a:ea typeface="MiSans" charset="-122"/>
                          <a:cs typeface="MiSans" charset="-122"/>
                          <a:sym typeface="MiSans" charset="-122"/>
                        </a:rPr>
                        <a:t>滕艺斐</a:t>
                      </a:r>
                      <a:endParaRPr lang="en-US" sz="1100"/>
                    </a:p>
                  </a:txBody>
                  <a:tcPr anchor="t" anchorCtr="0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900" b="0" i="0" u="none" strike="noStrike">
                          <a:solidFill>
                            <a:srgbClr val="2C2A26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0.5 天</a:t>
                      </a:r>
                      <a:endParaRPr lang="en-US" sz="1100"/>
                    </a:p>
                  </a:txBody>
                  <a:tcPr anchor="t" anchorCtr="0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900" b="0" i="0" u="none" strike="noStrike">
                          <a:solidFill>
                            <a:srgbClr val="2C2A26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报警生成脚本</a:t>
                      </a:r>
                      <a:endParaRPr lang="en-US" sz="1100"/>
                    </a:p>
                  </a:txBody>
                  <a:tcPr anchor="t" anchorCtr="0">
                    <a:lnL>
                      <a:noFill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93019"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900" b="0" i="0" u="none" strike="noStrike">
                          <a:solidFill>
                            <a:srgbClr val="2C2A26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T1.4</a:t>
                      </a:r>
                      <a:endParaRPr lang="en-US" sz="1100"/>
                    </a:p>
                  </a:txBody>
                  <a:tcPr anchor="t" anchorCtr="0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900" b="0" i="0" u="none" strike="noStrike">
                          <a:solidFill>
                            <a:srgbClr val="2C2A26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确定报警日志表字段并实现</a:t>
                      </a:r>
                      <a:endParaRPr lang="en-US" sz="1100"/>
                    </a:p>
                  </a:txBody>
                  <a:tcPr anchor="t" anchorCtr="0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zh-CN" altLang="en-US" sz="900" b="1">
                          <a:solidFill>
                            <a:srgbClr val="2C2A26"/>
                          </a:solidFill>
                          <a:latin typeface="MiSans" charset="-122"/>
                          <a:ea typeface="MiSans" charset="-122"/>
                          <a:cs typeface="MiSans" charset="-122"/>
                          <a:sym typeface="MiSans" charset="-122"/>
                        </a:rPr>
                        <a:t>吕子豪</a:t>
                      </a:r>
                      <a:endParaRPr lang="en-US" sz="1100"/>
                    </a:p>
                  </a:txBody>
                  <a:tcPr anchor="t" anchorCtr="0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900" b="0" i="0" u="none" strike="noStrike">
                          <a:solidFill>
                            <a:srgbClr val="2C2A26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0.5 天</a:t>
                      </a:r>
                      <a:endParaRPr lang="en-US" sz="1100"/>
                    </a:p>
                  </a:txBody>
                  <a:tcPr anchor="t" anchorCtr="0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900" b="0" i="0" u="none" strike="noStrike">
                          <a:solidFill>
                            <a:srgbClr val="2C2A26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报警日志表及字段说明</a:t>
                      </a:r>
                      <a:endParaRPr lang="en-US" sz="1100"/>
                    </a:p>
                  </a:txBody>
                  <a:tcPr anchor="t" anchorCtr="0">
                    <a:lnL>
                      <a:noFill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93019"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900" b="0" i="0" u="none" strike="noStrike">
                          <a:solidFill>
                            <a:srgbClr val="2C2A26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T1.5</a:t>
                      </a:r>
                      <a:endParaRPr lang="en-US" sz="1100"/>
                    </a:p>
                  </a:txBody>
                  <a:tcPr anchor="t" anchorCtr="0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900" b="0" i="0" u="none" strike="noStrike">
                          <a:solidFill>
                            <a:srgbClr val="2C2A26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在阈值邻域加噪，实现抖动报警注入，次数可配置</a:t>
                      </a:r>
                      <a:endParaRPr lang="en-US" sz="1100"/>
                    </a:p>
                  </a:txBody>
                  <a:tcPr anchor="t" anchorCtr="0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zh-CN" altLang="en-US" sz="900" b="1">
                          <a:solidFill>
                            <a:srgbClr val="2C2A26"/>
                          </a:solidFill>
                          <a:latin typeface="MiSans" charset="-122"/>
                          <a:ea typeface="MiSans" charset="-122"/>
                          <a:cs typeface="MiSans" charset="-122"/>
                          <a:sym typeface="MiSans" charset="-122"/>
                        </a:rPr>
                        <a:t>吴焕石</a:t>
                      </a:r>
                      <a:endParaRPr lang="en-US" sz="1100"/>
                    </a:p>
                  </a:txBody>
                  <a:tcPr anchor="t" anchorCtr="0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900" b="0" i="0" u="none" strike="noStrike">
                          <a:solidFill>
                            <a:srgbClr val="2C2A26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0.75 天</a:t>
                      </a:r>
                      <a:endParaRPr lang="en-US" sz="1100"/>
                    </a:p>
                  </a:txBody>
                  <a:tcPr anchor="t" anchorCtr="0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900" b="0" i="0" u="none" strike="noStrike">
                          <a:solidFill>
                            <a:srgbClr val="2C2A26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抖动注入逻辑</a:t>
                      </a:r>
                      <a:endParaRPr lang="en-US" sz="1100"/>
                    </a:p>
                  </a:txBody>
                  <a:tcPr anchor="t" anchorCtr="0">
                    <a:lnL>
                      <a:noFill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93019"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900" b="0" i="0" u="none" strike="noStrike">
                          <a:solidFill>
                            <a:srgbClr val="2C2A26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T1.6</a:t>
                      </a:r>
                      <a:endParaRPr lang="en-US" sz="1100"/>
                    </a:p>
                  </a:txBody>
                  <a:tcPr anchor="t" anchorCtr="0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900" b="0" i="0" u="none" strike="noStrike">
                          <a:solidFill>
                            <a:srgbClr val="2C2A26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实现未确认报警的重复上报，策略可配置</a:t>
                      </a:r>
                      <a:endParaRPr lang="en-US" sz="1100"/>
                    </a:p>
                  </a:txBody>
                  <a:tcPr anchor="t" anchorCtr="0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zh-CN" altLang="en-US" sz="900" b="1">
                          <a:solidFill>
                            <a:srgbClr val="2C2A26"/>
                          </a:solidFill>
                          <a:latin typeface="MiSans" charset="-122"/>
                          <a:ea typeface="MiSans" charset="-122"/>
                          <a:cs typeface="MiSans" charset="-122"/>
                          <a:sym typeface="MiSans" charset="-122"/>
                        </a:rPr>
                        <a:t>吴焕石</a:t>
                      </a:r>
                      <a:endParaRPr lang="en-US" sz="1100"/>
                    </a:p>
                  </a:txBody>
                  <a:tcPr anchor="t" anchorCtr="0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900" b="0" i="0" u="none" strike="noStrike">
                          <a:solidFill>
                            <a:srgbClr val="2C2A26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0.75 天</a:t>
                      </a:r>
                      <a:endParaRPr lang="en-US" sz="1100"/>
                    </a:p>
                  </a:txBody>
                  <a:tcPr anchor="t" anchorCtr="0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900" b="0" i="0" u="none" strike="noStrike">
                          <a:solidFill>
                            <a:srgbClr val="2C2A26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重复注入逻辑</a:t>
                      </a:r>
                      <a:endParaRPr lang="en-US" sz="1100"/>
                    </a:p>
                  </a:txBody>
                  <a:tcPr anchor="t" anchorCtr="0">
                    <a:lnL>
                      <a:noFill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93019"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900" b="0" i="0" u="none" strike="noStrike">
                          <a:solidFill>
                            <a:srgbClr val="2C2A26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T1.7</a:t>
                      </a:r>
                      <a:endParaRPr lang="en-US" sz="1100"/>
                    </a:p>
                  </a:txBody>
                  <a:tcPr anchor="t" anchorCtr="0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900" b="0" i="0" u="none" strike="noStrike">
                          <a:solidFill>
                            <a:srgbClr val="2C2A26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按故障注入点建立测点与真实根因的对应关系，写入标注列</a:t>
                      </a:r>
                      <a:endParaRPr lang="en-US" sz="1100"/>
                    </a:p>
                  </a:txBody>
                  <a:tcPr anchor="t" anchorCtr="0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zh-CN" altLang="en-US" sz="900" b="1">
                          <a:solidFill>
                            <a:srgbClr val="2C2A26"/>
                          </a:solidFill>
                          <a:latin typeface="MiSans" charset="-122"/>
                          <a:ea typeface="MiSans" charset="-122"/>
                          <a:cs typeface="MiSans" charset="-122"/>
                          <a:sym typeface="MiSans" charset="-122"/>
                        </a:rPr>
                        <a:t>吕子豪</a:t>
                      </a:r>
                      <a:endParaRPr lang="en-US" sz="1100"/>
                    </a:p>
                  </a:txBody>
                  <a:tcPr anchor="t" anchorCtr="0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900" b="0" i="0" u="none" strike="noStrike">
                          <a:solidFill>
                            <a:srgbClr val="2C2A26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0.75 天</a:t>
                      </a:r>
                      <a:endParaRPr lang="en-US" sz="1100"/>
                    </a:p>
                  </a:txBody>
                  <a:tcPr anchor="t" anchorCtr="0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900" b="0" i="0" u="none" strike="noStrike">
                          <a:solidFill>
                            <a:srgbClr val="2C2A26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标注列</a:t>
                      </a:r>
                      <a:endParaRPr lang="en-US" sz="1100"/>
                    </a:p>
                  </a:txBody>
                  <a:tcPr anchor="t" anchorCtr="0">
                    <a:lnL>
                      <a:noFill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93019"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900" b="0" i="0" u="none" strike="noStrike">
                          <a:solidFill>
                            <a:srgbClr val="2C2A26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T1.8</a:t>
                      </a:r>
                      <a:endParaRPr lang="en-US" sz="1100"/>
                    </a:p>
                  </a:txBody>
                  <a:tcPr anchor="t" anchorCtr="0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900" b="0" i="0" u="none" strike="noStrike">
                          <a:solidFill>
                            <a:srgbClr val="2C2A26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按 TC-01 至 TC-04 系列用例执行测试并记录</a:t>
                      </a:r>
                      <a:endParaRPr lang="en-US" sz="1100"/>
                    </a:p>
                  </a:txBody>
                  <a:tcPr anchor="t" anchorCtr="0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42000"/>
                        </a:lnSpc>
                        <a:defRPr/>
                      </a:pPr>
                      <a:r>
                        <a:rPr lang="zh-CN" altLang="en-US" sz="900" b="1">
                          <a:solidFill>
                            <a:srgbClr val="2C2A26"/>
                          </a:solidFill>
                          <a:latin typeface="MiSans" charset="-122"/>
                          <a:ea typeface="MiSans" charset="-122"/>
                          <a:cs typeface="MiSans" charset="-122"/>
                          <a:sym typeface="MiSans" charset="-122"/>
                        </a:rPr>
                        <a:t>张泽旺</a:t>
                      </a:r>
                      <a:endParaRPr lang="en-US" sz="1100"/>
                    </a:p>
                  </a:txBody>
                  <a:tcPr anchor="t" anchorCtr="0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900" b="0" i="0" u="none" strike="noStrike">
                          <a:solidFill>
                            <a:srgbClr val="2C2A26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1 天</a:t>
                      </a:r>
                      <a:endParaRPr lang="en-US" sz="1100"/>
                    </a:p>
                  </a:txBody>
                  <a:tcPr anchor="t" anchorCtr="0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900" b="0" i="0" u="none" strike="noStrike">
                          <a:solidFill>
                            <a:srgbClr val="2C2A26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测试记录</a:t>
                      </a:r>
                      <a:endParaRPr lang="en-US" sz="1100"/>
                    </a:p>
                  </a:txBody>
                  <a:tcPr anchor="t" anchorCtr="0">
                    <a:lnL>
                      <a:noFill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93019"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900" b="0" i="0" u="none" strike="noStrike">
                          <a:solidFill>
                            <a:srgbClr val="2C2A26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T1.9</a:t>
                      </a:r>
                      <a:endParaRPr lang="en-US" sz="1100"/>
                    </a:p>
                  </a:txBody>
                  <a:tcPr anchor="t" anchorCtr="0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900" b="0" i="0" u="none" strike="noStrike">
                          <a:solidFill>
                            <a:srgbClr val="2C2A26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搭建看板界面骨架，以模拟数据完成三个视图框架</a:t>
                      </a:r>
                      <a:endParaRPr lang="en-US" sz="1100"/>
                    </a:p>
                  </a:txBody>
                  <a:tcPr anchor="t" anchorCtr="0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42000"/>
                        </a:lnSpc>
                        <a:defRPr/>
                      </a:pPr>
                      <a:r>
                        <a:rPr lang="zh-CN" altLang="en-US" sz="900" b="1">
                          <a:solidFill>
                            <a:srgbClr val="2C2A26"/>
                          </a:solidFill>
                          <a:latin typeface="MiSans" charset="-122"/>
                          <a:ea typeface="MiSans" charset="-122"/>
                          <a:cs typeface="MiSans" charset="-122"/>
                          <a:sym typeface="MiSans" charset="-122"/>
                        </a:rPr>
                        <a:t>张泽旺</a:t>
                      </a:r>
                      <a:endParaRPr lang="en-US" sz="1100"/>
                    </a:p>
                  </a:txBody>
                  <a:tcPr anchor="t" anchorCtr="0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900" b="0" i="0" u="none" strike="noStrike">
                          <a:solidFill>
                            <a:srgbClr val="2C2A26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1 天</a:t>
                      </a:r>
                      <a:endParaRPr lang="en-US" sz="1100"/>
                    </a:p>
                  </a:txBody>
                  <a:tcPr anchor="t" anchorCtr="0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900" b="0" i="0" u="none" strike="noStrike">
                          <a:solidFill>
                            <a:srgbClr val="2C2A26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看板原型</a:t>
                      </a:r>
                      <a:endParaRPr lang="en-US" sz="1100"/>
                    </a:p>
                  </a:txBody>
                  <a:tcPr anchor="t" anchorCtr="0">
                    <a:lnL>
                      <a:noFill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93019"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900" b="0" i="0" u="none" strike="noStrike">
                          <a:solidFill>
                            <a:srgbClr val="2C2A26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T0.1</a:t>
                      </a:r>
                      <a:endParaRPr lang="en-US" sz="1100"/>
                    </a:p>
                  </a:txBody>
                  <a:tcPr anchor="t" anchorCtr="0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5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900" b="0" i="0" u="none" strike="noStrike">
                          <a:solidFill>
                            <a:srgbClr val="2C2A26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每日站会、障碍清除、迭代评审与回顾</a:t>
                      </a:r>
                      <a:endParaRPr lang="en-US" sz="1100"/>
                    </a:p>
                  </a:txBody>
                  <a:tcPr anchor="t" anchorCtr="0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5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zh-CN" altLang="en-US" sz="900" b="1">
                          <a:solidFill>
                            <a:srgbClr val="2C2A26"/>
                          </a:solidFill>
                          <a:latin typeface="MiSans" charset="-122"/>
                          <a:ea typeface="MiSans" charset="-122"/>
                          <a:cs typeface="MiSans" charset="-122"/>
                          <a:sym typeface="MiSans" charset="-122"/>
                        </a:rPr>
                        <a:t>李明轩</a:t>
                      </a:r>
                      <a:endParaRPr lang="en-US" sz="1100"/>
                    </a:p>
                  </a:txBody>
                  <a:tcPr anchor="t" anchorCtr="0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5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900" b="0" i="0" u="none" strike="noStrike">
                          <a:solidFill>
                            <a:srgbClr val="2C2A26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0.5 天</a:t>
                      </a:r>
                      <a:endParaRPr lang="en-US" sz="1100"/>
                    </a:p>
                  </a:txBody>
                  <a:tcPr anchor="t" anchorCtr="0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5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900" b="0" i="0" u="none" strike="noStrike">
                          <a:solidFill>
                            <a:srgbClr val="2C2A26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站会记录、评审记录</a:t>
                      </a:r>
                      <a:endParaRPr lang="en-US" sz="1100"/>
                    </a:p>
                  </a:txBody>
                  <a:tcPr anchor="t" anchorCtr="0">
                    <a:lnL>
                      <a:noFill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5">
                        <a:alpha val="100000"/>
                      </a:srgbClr>
                    </a:solidFill>
                  </a:tcPr>
                </a:tc>
              </a:tr>
              <a:tr h="404495"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900" b="0" i="0" u="none" strike="noStrike">
                          <a:solidFill>
                            <a:srgbClr val="2C2A26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T0.2</a:t>
                      </a:r>
                      <a:endParaRPr lang="en-US" sz="1100"/>
                    </a:p>
                  </a:txBody>
                  <a:tcPr anchor="t" anchorCtr="0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5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900" b="0" i="0" u="none" strike="noStrike">
                          <a:solidFill>
                            <a:srgbClr val="2C2A26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确定四张中间表的字段与类型，写入接口契约</a:t>
                      </a:r>
                      <a:endParaRPr lang="en-US" sz="1100"/>
                    </a:p>
                  </a:txBody>
                  <a:tcPr anchor="t" anchorCtr="0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5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zh-CN" altLang="en-US" sz="900" b="1">
                          <a:solidFill>
                            <a:srgbClr val="2C2A26"/>
                          </a:solidFill>
                          <a:latin typeface="MiSans" charset="-122"/>
                          <a:ea typeface="MiSans" charset="-122"/>
                          <a:cs typeface="MiSans" charset="-122"/>
                          <a:sym typeface="MiSans" charset="-122"/>
                        </a:rPr>
                        <a:t>郑子唯</a:t>
                      </a:r>
                      <a:endParaRPr lang="en-US" sz="1100"/>
                    </a:p>
                  </a:txBody>
                  <a:tcPr anchor="t" anchorCtr="0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5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900" b="0" i="0" u="none" strike="noStrike">
                          <a:solidFill>
                            <a:srgbClr val="2C2A26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0.5 天</a:t>
                      </a:r>
                      <a:endParaRPr lang="en-US" sz="1100"/>
                    </a:p>
                  </a:txBody>
                  <a:tcPr anchor="t" anchorCtr="0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5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900" b="0" i="0" u="none" strike="noStrike">
                          <a:solidFill>
                            <a:srgbClr val="2C2A26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接口契约文档</a:t>
                      </a:r>
                      <a:endParaRPr lang="en-US" sz="1100"/>
                    </a:p>
                  </a:txBody>
                  <a:tcPr anchor="t" anchorCtr="0">
                    <a:lnL>
                      <a:noFill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5">
                        <a:alpha val="100000"/>
                      </a:srgbClr>
                    </a:solidFill>
                  </a:tcPr>
                </a:tc>
              </a:tr>
              <a:tr h="397124"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900" b="0" i="0" u="none" strike="noStrike">
                          <a:solidFill>
                            <a:srgbClr val="2C2A26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T0.3</a:t>
                      </a:r>
                      <a:endParaRPr lang="en-US" sz="1100"/>
                    </a:p>
                  </a:txBody>
                  <a:tcPr anchor="t" anchorCtr="0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5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900" b="0" i="0" u="none" strike="noStrike">
                          <a:solidFill>
                            <a:srgbClr val="2C2A26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迭代末验收，确认 9 点全部达到验收标准</a:t>
                      </a:r>
                      <a:endParaRPr lang="en-US" sz="1100"/>
                    </a:p>
                  </a:txBody>
                  <a:tcPr anchor="t" anchorCtr="0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5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zh-CN" altLang="en-US" sz="900" b="1">
                          <a:solidFill>
                            <a:srgbClr val="2C2A26"/>
                          </a:solidFill>
                          <a:latin typeface="MiSans" charset="-122"/>
                          <a:ea typeface="MiSans" charset="-122"/>
                          <a:cs typeface="MiSans" charset="-122"/>
                          <a:sym typeface="MiSans" charset="-122"/>
                        </a:rPr>
                        <a:t>郑子唯</a:t>
                      </a:r>
                      <a:endParaRPr lang="en-US" sz="1100"/>
                    </a:p>
                  </a:txBody>
                  <a:tcPr anchor="t" anchorCtr="0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5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900" b="0" i="0" u="none" strike="noStrike">
                          <a:solidFill>
                            <a:srgbClr val="2C2A26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0.25 天</a:t>
                      </a:r>
                      <a:endParaRPr lang="en-US" sz="1100"/>
                    </a:p>
                  </a:txBody>
                  <a:tcPr anchor="t" anchorCtr="0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5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900" b="0" i="0" u="none" strike="noStrike">
                          <a:solidFill>
                            <a:srgbClr val="2C2A26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验收记录</a:t>
                      </a:r>
                      <a:endParaRPr lang="en-US" sz="1100"/>
                    </a:p>
                  </a:txBody>
                  <a:tcPr anchor="t" anchorCtr="0">
                    <a:lnL>
                      <a:noFill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5">
                        <a:alpha val="100000"/>
                      </a:srgb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6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 txBox="1"/>
          <p:nvPr/>
        </p:nvSpPr>
        <p:spPr>
          <a:xfrm>
            <a:off x="508000" y="304800"/>
            <a:ext cx="38100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000" b="0" i="0" u="none" strike="noStrike" spc="200">
                <a:solidFill>
                  <a:srgbClr val="7A766C"/>
                </a:solidFill>
                <a:latin typeface="MiSans" charset="-122"/>
                <a:ea typeface="MiSans" charset="-122"/>
                <a:cs typeface="MiSans" charset="-122"/>
                <a:sym typeface="MiSans" charset="-122"/>
              </a:rPr>
              <a:t>讨论 3 · 项目计划 —— WBS 字典</a:t>
            </a:r>
            <a:endParaRPr lang="en-US" sz="1100"/>
          </a:p>
        </p:txBody>
      </p:sp>
      <p:sp>
        <p:nvSpPr>
          <p:cNvPr id="3" name="AutoShape 3"/>
          <p:cNvSpPr txBox="1"/>
          <p:nvPr/>
        </p:nvSpPr>
        <p:spPr>
          <a:xfrm>
            <a:off x="10922000" y="304800"/>
            <a:ext cx="7620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r">
              <a:lnSpc>
                <a:spcPct val="117000"/>
              </a:lnSpc>
              <a:defRPr/>
            </a:pPr>
            <a:r>
              <a:rPr lang="en-US" sz="1000" b="0" i="0" u="none" strike="noStrike">
                <a:solidFill>
                  <a:srgbClr val="7A766C"/>
                </a:solidFill>
                <a:latin typeface="MiSans" charset="-122"/>
                <a:ea typeface="MiSans" charset="-122"/>
                <a:cs typeface="MiSans" charset="-122"/>
                <a:sym typeface="MiSans" charset="-122"/>
              </a:rPr>
              <a:t>09 / 13</a:t>
            </a:r>
            <a:endParaRPr lang="en-US" sz="1100"/>
          </a:p>
        </p:txBody>
      </p:sp>
      <p:sp>
        <p:nvSpPr>
          <p:cNvPr id="4" name="AutoShape 4"/>
          <p:cNvSpPr txBox="1"/>
          <p:nvPr/>
        </p:nvSpPr>
        <p:spPr>
          <a:xfrm>
            <a:off x="508000" y="558800"/>
            <a:ext cx="11176000" cy="431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2400" b="1" i="0" u="none" strike="noStrike">
                <a:solidFill>
                  <a:srgbClr val="1F4E56"/>
                </a:solidFill>
                <a:latin typeface="MiSans" charset="-122"/>
                <a:ea typeface="MiSans" charset="-122"/>
                <a:cs typeface="MiSans" charset="-122"/>
                <a:sym typeface="MiSans" charset="-122"/>
              </a:rPr>
              <a:t>WBS 字典：每个工作包的详细说明书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508000" y="1117600"/>
            <a:ext cx="11176000" cy="12700"/>
          </a:xfrm>
          <a:prstGeom prst="roundRect">
            <a:avLst>
              <a:gd name="adj" fmla="val 0"/>
            </a:avLst>
          </a:prstGeom>
          <a:solidFill>
            <a:srgbClr val="DDD9C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508000" y="1320800"/>
            <a:ext cx="50800" cy="177800"/>
          </a:xfrm>
          <a:prstGeom prst="roundRect">
            <a:avLst>
              <a:gd name="adj" fmla="val 0"/>
            </a:avLst>
          </a:prstGeom>
          <a:solidFill>
            <a:srgbClr val="C46A2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 txBox="1"/>
          <p:nvPr/>
        </p:nvSpPr>
        <p:spPr>
          <a:xfrm>
            <a:off x="660400" y="1295400"/>
            <a:ext cx="2540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2C2A26"/>
                </a:solidFill>
                <a:latin typeface="MiSans" charset="-122"/>
                <a:ea typeface="MiSans" charset="-122"/>
                <a:cs typeface="MiSans" charset="-122"/>
                <a:sym typeface="MiSans" charset="-122"/>
              </a:rPr>
              <a:t>什么是 WBS 字典</a:t>
            </a:r>
            <a:endParaRPr lang="en-US" sz="1100"/>
          </a:p>
        </p:txBody>
      </p:sp>
      <p:sp>
        <p:nvSpPr>
          <p:cNvPr id="8" name="AutoShape 8"/>
          <p:cNvSpPr txBox="1"/>
          <p:nvPr/>
        </p:nvSpPr>
        <p:spPr>
          <a:xfrm>
            <a:off x="508000" y="1651000"/>
            <a:ext cx="4191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42000"/>
              </a:lnSpc>
              <a:defRPr/>
            </a:pPr>
            <a:r>
              <a:rPr lang="en-US" sz="1050" b="0" i="0" u="none" strike="noStrike">
                <a:solidFill>
                  <a:srgbClr val="2C2A26"/>
                </a:solidFill>
                <a:latin typeface="MiSans" charset="-122"/>
                <a:ea typeface="MiSans" charset="-122"/>
                <a:cs typeface="MiSans" charset="-122"/>
                <a:sym typeface="MiSans" charset="-122"/>
              </a:rPr>
              <a:t>WBS 字典是描述每个 WBS 工作包详细信息的文档。WBS 树只给出"做什么"的层级，字典把每个叶子节点展开成一页说明书，回答谁来做、做到什么程度、什么时候交、花多少成本。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508000" y="3200400"/>
            <a:ext cx="4191000" cy="12700"/>
          </a:xfrm>
          <a:prstGeom prst="roundRect">
            <a:avLst>
              <a:gd name="adj" fmla="val 0"/>
            </a:avLst>
          </a:prstGeom>
          <a:solidFill>
            <a:srgbClr val="DDD9C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 txBox="1"/>
          <p:nvPr/>
        </p:nvSpPr>
        <p:spPr>
          <a:xfrm>
            <a:off x="508000" y="3378200"/>
            <a:ext cx="4191000" cy="190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58000"/>
              </a:lnSpc>
              <a:defRPr/>
            </a:pPr>
            <a:r>
              <a:rPr lang="en-US" sz="1000" b="1" i="0" u="none" strike="noStrike">
                <a:solidFill>
                  <a:srgbClr val="C46A2B"/>
                </a:solidFill>
                <a:latin typeface="MiSans" charset="-122"/>
                <a:ea typeface="MiSans" charset="-122"/>
                <a:cs typeface="MiSans" charset="-122"/>
                <a:sym typeface="MiSans" charset="-122"/>
              </a:rPr>
              <a:t>◆</a:t>
            </a:r>
            <a:r>
              <a:rPr lang="en-US" sz="1000" b="0" i="0" u="none" strike="noStrike">
                <a:solidFill>
                  <a:srgbClr val="2C2A26"/>
                </a:solidFill>
                <a:latin typeface="MiSans" charset="-122"/>
                <a:ea typeface="MiSans" charset="-122"/>
                <a:cs typeface="MiSans" charset="-122"/>
                <a:sym typeface="MiSans" charset="-122"/>
              </a:rPr>
              <a:t> 工作内容：交付物的范围与边界</a:t>
            </a:r>
            <a:endParaRPr lang="en-US" sz="1100"/>
          </a:p>
          <a:p>
            <a:pPr marL="0" indent="0" algn="l">
              <a:lnSpc>
                <a:spcPct val="158000"/>
              </a:lnSpc>
            </a:pPr>
            <a:r>
              <a:rPr lang="en-US" sz="1000" b="1" i="0" u="none" strike="noStrike">
                <a:solidFill>
                  <a:srgbClr val="C46A2B"/>
                </a:solidFill>
                <a:latin typeface="MiSans" charset="-122"/>
                <a:ea typeface="MiSans" charset="-122"/>
                <a:cs typeface="MiSans" charset="-122"/>
                <a:sym typeface="MiSans" charset="-122"/>
              </a:rPr>
              <a:t>◆</a:t>
            </a:r>
            <a:r>
              <a:rPr lang="en-US" sz="1000" b="0" i="0" u="none" strike="noStrike">
                <a:solidFill>
                  <a:srgbClr val="2C2A26"/>
                </a:solidFill>
                <a:latin typeface="MiSans" charset="-122"/>
                <a:ea typeface="MiSans" charset="-122"/>
                <a:cs typeface="MiSans" charset="-122"/>
                <a:sym typeface="MiSans" charset="-122"/>
              </a:rPr>
              <a:t> 质量要求：验收通过的判定标准</a:t>
            </a:r>
            <a:endParaRPr lang="en-US" sz="1000" b="0" i="0" u="none" strike="noStrike">
              <a:solidFill>
                <a:srgbClr val="2C2A26"/>
              </a:solidFill>
              <a:latin typeface="MiSans" charset="-122"/>
              <a:ea typeface="MiSans" charset="-122"/>
              <a:cs typeface="MiSans" charset="-122"/>
              <a:sym typeface="MiSans" charset="-122"/>
            </a:endParaRPr>
          </a:p>
          <a:p>
            <a:pPr marL="0" indent="0" algn="l">
              <a:lnSpc>
                <a:spcPct val="158000"/>
              </a:lnSpc>
            </a:pPr>
            <a:r>
              <a:rPr lang="en-US" sz="1000" b="1" i="0" u="none" strike="noStrike">
                <a:solidFill>
                  <a:srgbClr val="C46A2B"/>
                </a:solidFill>
                <a:latin typeface="MiSans" charset="-122"/>
                <a:ea typeface="MiSans" charset="-122"/>
                <a:cs typeface="MiSans" charset="-122"/>
                <a:sym typeface="MiSans" charset="-122"/>
              </a:rPr>
              <a:t>◆</a:t>
            </a:r>
            <a:r>
              <a:rPr lang="en-US" sz="1000" b="0" i="0" u="none" strike="noStrike">
                <a:solidFill>
                  <a:srgbClr val="2C2A26"/>
                </a:solidFill>
                <a:latin typeface="MiSans" charset="-122"/>
                <a:ea typeface="MiSans" charset="-122"/>
                <a:cs typeface="MiSans" charset="-122"/>
                <a:sym typeface="MiSans" charset="-122"/>
              </a:rPr>
              <a:t> 时间要求：起止时点与里程碑</a:t>
            </a:r>
            <a:endParaRPr lang="en-US" sz="1000" b="0" i="0" u="none" strike="noStrike">
              <a:solidFill>
                <a:srgbClr val="2C2A26"/>
              </a:solidFill>
              <a:latin typeface="MiSans" charset="-122"/>
              <a:ea typeface="MiSans" charset="-122"/>
              <a:cs typeface="MiSans" charset="-122"/>
              <a:sym typeface="MiSans" charset="-122"/>
            </a:endParaRPr>
          </a:p>
          <a:p>
            <a:pPr marL="0" indent="0" algn="l">
              <a:lnSpc>
                <a:spcPct val="158000"/>
              </a:lnSpc>
            </a:pPr>
            <a:r>
              <a:rPr lang="en-US" sz="1000" b="1" i="0" u="none" strike="noStrike">
                <a:solidFill>
                  <a:srgbClr val="C46A2B"/>
                </a:solidFill>
                <a:latin typeface="MiSans" charset="-122"/>
                <a:ea typeface="MiSans" charset="-122"/>
                <a:cs typeface="MiSans" charset="-122"/>
                <a:sym typeface="MiSans" charset="-122"/>
              </a:rPr>
              <a:t>◆</a:t>
            </a:r>
            <a:r>
              <a:rPr lang="en-US" sz="1000" b="0" i="0" u="none" strike="noStrike">
                <a:solidFill>
                  <a:srgbClr val="2C2A26"/>
                </a:solidFill>
                <a:latin typeface="MiSans" charset="-122"/>
                <a:ea typeface="MiSans" charset="-122"/>
                <a:cs typeface="MiSans" charset="-122"/>
                <a:sym typeface="MiSans" charset="-122"/>
              </a:rPr>
              <a:t> 成本要求：预估人天与资源占用</a:t>
            </a:r>
            <a:endParaRPr lang="en-US" sz="1000" b="0" i="0" u="none" strike="noStrike">
              <a:solidFill>
                <a:srgbClr val="2C2A26"/>
              </a:solidFill>
              <a:latin typeface="MiSans" charset="-122"/>
              <a:ea typeface="MiSans" charset="-122"/>
              <a:cs typeface="MiSans" charset="-122"/>
              <a:sym typeface="MiSans" charset="-122"/>
            </a:endParaRPr>
          </a:p>
        </p:txBody>
      </p:sp>
      <p:sp>
        <p:nvSpPr>
          <p:cNvPr id="11" name="AutoShape 11"/>
          <p:cNvSpPr/>
          <p:nvPr/>
        </p:nvSpPr>
        <p:spPr>
          <a:xfrm>
            <a:off x="5207000" y="1320800"/>
            <a:ext cx="50800" cy="177800"/>
          </a:xfrm>
          <a:prstGeom prst="roundRect">
            <a:avLst>
              <a:gd name="adj" fmla="val 0"/>
            </a:avLst>
          </a:prstGeom>
          <a:solidFill>
            <a:srgbClr val="1F4E5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AutoShape 12"/>
          <p:cNvSpPr txBox="1"/>
          <p:nvPr/>
        </p:nvSpPr>
        <p:spPr>
          <a:xfrm>
            <a:off x="5359400" y="1295400"/>
            <a:ext cx="3810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2C2A26"/>
                </a:solidFill>
                <a:latin typeface="MiSans" charset="-122"/>
                <a:ea typeface="MiSans" charset="-122"/>
                <a:cs typeface="MiSans" charset="-122"/>
                <a:sym typeface="MiSans" charset="-122"/>
              </a:rPr>
              <a:t>迭代一（1.2）工作包字典索引</a:t>
            </a:r>
            <a:endParaRPr lang="en-US" sz="1100"/>
          </a:p>
        </p:txBody>
      </p:sp>
      <p:graphicFrame>
        <p:nvGraphicFramePr>
          <p:cNvPr id="13" name="Table 13"/>
          <p:cNvGraphicFramePr>
            <a:graphicFrameLocks noGrp="1"/>
          </p:cNvGraphicFramePr>
          <p:nvPr/>
        </p:nvGraphicFramePr>
        <p:xfrm>
          <a:off x="5207000" y="1651000"/>
          <a:ext cx="6477000" cy="40640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889000"/>
                <a:gridCol w="2286000"/>
                <a:gridCol w="762000"/>
                <a:gridCol w="1016000"/>
                <a:gridCol w="1524000"/>
              </a:tblGrid>
              <a:tr h="419100"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950" b="1" i="0" u="none" strike="noStrike">
                          <a:solidFill>
                            <a:srgbClr val="FFFFFF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编号</a:t>
                      </a:r>
                      <a:endParaRPr lang="en-US" sz="1100"/>
                    </a:p>
                  </a:txBody>
                  <a:tcPr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F4E56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950" b="1" i="0" u="none" strike="noStrike">
                          <a:solidFill>
                            <a:srgbClr val="FFFFFF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工作包名称</a:t>
                      </a:r>
                      <a:endParaRPr lang="en-US" sz="1100"/>
                    </a:p>
                  </a:txBody>
                  <a:tcPr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F4E56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950" b="1" i="0" u="none" strike="noStrike">
                          <a:solidFill>
                            <a:srgbClr val="FFFFFF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负责</a:t>
                      </a:r>
                      <a:endParaRPr lang="en-US" sz="1100"/>
                    </a:p>
                  </a:txBody>
                  <a:tcPr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F4E56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950" b="1" i="0" u="none" strike="noStrike">
                          <a:solidFill>
                            <a:srgbClr val="FFFFFF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对应任务</a:t>
                      </a:r>
                      <a:endParaRPr lang="en-US" sz="1100"/>
                    </a:p>
                  </a:txBody>
                  <a:tcPr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F4E56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950" b="1" i="0" u="none" strike="noStrike">
                          <a:solidFill>
                            <a:srgbClr val="FFFFFF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备注</a:t>
                      </a:r>
                      <a:endParaRPr lang="en-US" sz="1100"/>
                    </a:p>
                  </a:txBody>
                  <a:tcPr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F4E56">
                        <a:alpha val="100000"/>
                      </a:srgbClr>
                    </a:solidFill>
                  </a:tcPr>
                </a:tc>
              </a:tr>
              <a:tr h="4445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900" b="0" i="0" u="none" strike="noStrike">
                          <a:solidFill>
                            <a:srgbClr val="7A766C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1.2.2</a:t>
                      </a:r>
                      <a:endParaRPr lang="en-US" sz="1100"/>
                    </a:p>
                  </a:txBody>
                  <a:tcPr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DD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900" b="0" i="0" u="none" strike="noStrike">
                          <a:solidFill>
                            <a:srgbClr val="2C2A26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数据接入与格式统一</a:t>
                      </a:r>
                      <a:endParaRPr lang="en-US" sz="1100"/>
                    </a:p>
                  </a:txBody>
                  <a:tcPr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DD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900" b="0" i="0" u="none" strike="noStrike">
                          <a:solidFill>
                            <a:srgbClr val="2C2A26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滕艺斐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DD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900" b="0" i="0" u="none" strike="noStrike">
                          <a:solidFill>
                            <a:srgbClr val="2C2A26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T1.1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DD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900" b="0" i="0" u="none" strike="noStrike">
                          <a:solidFill>
                            <a:srgbClr val="7A766C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输入：TEP 原始数据</a:t>
                      </a:r>
                      <a:endParaRPr lang="en-US" sz="1100"/>
                    </a:p>
                  </a:txBody>
                  <a:tcPr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DD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445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900" b="0" i="0" u="none" strike="noStrike">
                          <a:solidFill>
                            <a:srgbClr val="7A766C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1.2.3</a:t>
                      </a:r>
                      <a:endParaRPr lang="en-US" sz="1100"/>
                    </a:p>
                  </a:txBody>
                  <a:tcPr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D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900" b="0" i="0" u="none" strike="noStrike">
                          <a:solidFill>
                            <a:srgbClr val="2C2A26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报警上下限定义</a:t>
                      </a:r>
                      <a:endParaRPr lang="en-US" sz="1100"/>
                    </a:p>
                  </a:txBody>
                  <a:tcPr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D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900" b="0" i="0" u="none" strike="noStrike">
                          <a:solidFill>
                            <a:srgbClr val="2C2A26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滕艺斐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D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900" b="0" i="0" u="none" strike="noStrike">
                          <a:solidFill>
                            <a:srgbClr val="2C2A26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T1.2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D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900" b="0" i="0" u="none" strike="noStrike">
                          <a:solidFill>
                            <a:srgbClr val="7A766C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输出：上下限配置表</a:t>
                      </a:r>
                      <a:endParaRPr lang="en-US" sz="1100"/>
                    </a:p>
                  </a:txBody>
                  <a:tcPr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D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445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900" b="1" i="0" u="none" strike="noStrike">
                          <a:solidFill>
                            <a:srgbClr val="C46A2B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1.2.4</a:t>
                      </a:r>
                      <a:endParaRPr lang="en-US" sz="1100"/>
                    </a:p>
                  </a:txBody>
                  <a:tcPr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D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5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900" b="1" i="0" u="none" strike="noStrike">
                          <a:solidFill>
                            <a:srgbClr val="2C2A26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报警记录生成</a:t>
                      </a:r>
                      <a:endParaRPr lang="en-US" sz="1100"/>
                    </a:p>
                  </a:txBody>
                  <a:tcPr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D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5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900" b="0" i="0" u="none" strike="noStrike">
                          <a:solidFill>
                            <a:srgbClr val="2C2A26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滕艺斐 / 吕子豪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D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5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900" b="0" i="0" u="none" strike="noStrike">
                          <a:solidFill>
                            <a:srgbClr val="2C2A26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T1.3/T1.4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D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5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900" b="1" i="0" u="none" strike="noStrike">
                          <a:solidFill>
                            <a:srgbClr val="C46A2B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字典见下页</a:t>
                      </a:r>
                      <a:endParaRPr lang="en-US" sz="1100"/>
                    </a:p>
                  </a:txBody>
                  <a:tcPr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D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5">
                        <a:alpha val="100000"/>
                      </a:srgbClr>
                    </a:solidFill>
                  </a:tcPr>
                </a:tc>
              </a:tr>
              <a:tr h="4445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900" b="1" i="0" u="none" strike="noStrike">
                          <a:solidFill>
                            <a:srgbClr val="C46A2B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1.2.5</a:t>
                      </a:r>
                      <a:endParaRPr lang="en-US" sz="1100"/>
                    </a:p>
                  </a:txBody>
                  <a:tcPr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D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5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900" b="1" i="0" u="none" strike="noStrike">
                          <a:solidFill>
                            <a:srgbClr val="2C2A26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抖动报警注入</a:t>
                      </a:r>
                      <a:endParaRPr lang="en-US" sz="1100"/>
                    </a:p>
                  </a:txBody>
                  <a:tcPr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D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5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900" b="0" i="0" u="none" strike="noStrike">
                          <a:solidFill>
                            <a:srgbClr val="2C2A26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吴焕石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D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5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900" b="0" i="0" u="none" strike="noStrike">
                          <a:solidFill>
                            <a:srgbClr val="2C2A26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T1.5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D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5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900" b="1" i="0" u="none" strike="noStrike">
                          <a:solidFill>
                            <a:srgbClr val="C46A2B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字典见 P11</a:t>
                      </a:r>
                      <a:endParaRPr lang="en-US" sz="1100"/>
                    </a:p>
                  </a:txBody>
                  <a:tcPr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D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5">
                        <a:alpha val="100000"/>
                      </a:srgbClr>
                    </a:solidFill>
                  </a:tcPr>
                </a:tc>
              </a:tr>
              <a:tr h="4445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900" b="0" i="0" u="none" strike="noStrike">
                          <a:solidFill>
                            <a:srgbClr val="7A766C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1.2.6</a:t>
                      </a:r>
                      <a:endParaRPr lang="en-US" sz="1100"/>
                    </a:p>
                  </a:txBody>
                  <a:tcPr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D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900" b="0" i="0" u="none" strike="noStrike">
                          <a:solidFill>
                            <a:srgbClr val="2C2A26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重复报警注入</a:t>
                      </a:r>
                      <a:endParaRPr lang="en-US" sz="1100"/>
                    </a:p>
                  </a:txBody>
                  <a:tcPr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D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900" b="0" i="0" u="none" strike="noStrike">
                          <a:solidFill>
                            <a:srgbClr val="2C2A26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吴焕石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D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900" b="0" i="0" u="none" strike="noStrike">
                          <a:solidFill>
                            <a:srgbClr val="2C2A26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T1.6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D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900" b="0" i="0" u="none" strike="noStrike">
                          <a:solidFill>
                            <a:srgbClr val="7A766C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策略可配置</a:t>
                      </a:r>
                      <a:endParaRPr lang="en-US" sz="1100"/>
                    </a:p>
                  </a:txBody>
                  <a:tcPr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D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445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900" b="0" i="0" u="none" strike="noStrike">
                          <a:solidFill>
                            <a:srgbClr val="7A766C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1.2.7</a:t>
                      </a:r>
                      <a:endParaRPr lang="en-US" sz="1100"/>
                    </a:p>
                  </a:txBody>
                  <a:tcPr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D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900" b="0" i="0" u="none" strike="noStrike">
                          <a:solidFill>
                            <a:srgbClr val="2C2A26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源头标注</a:t>
                      </a:r>
                      <a:endParaRPr lang="en-US" sz="1100"/>
                    </a:p>
                  </a:txBody>
                  <a:tcPr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D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900" b="0" i="0" u="none" strike="noStrike">
                          <a:solidFill>
                            <a:srgbClr val="2C2A26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吕子豪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D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900" b="0" i="0" u="none" strike="noStrike">
                          <a:solidFill>
                            <a:srgbClr val="2C2A26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T1.7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D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900" b="0" i="0" u="none" strike="noStrike">
                          <a:solidFill>
                            <a:srgbClr val="7A766C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为命中率提供真值</a:t>
                      </a:r>
                      <a:endParaRPr lang="en-US" sz="1100"/>
                    </a:p>
                  </a:txBody>
                  <a:tcPr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D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445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900" b="0" i="0" u="none" strike="noStrike">
                          <a:solidFill>
                            <a:srgbClr val="7A766C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1.2.8</a:t>
                      </a:r>
                      <a:endParaRPr lang="en-US" sz="1100"/>
                    </a:p>
                  </a:txBody>
                  <a:tcPr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D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900" b="0" i="0" u="none" strike="noStrike">
                          <a:solidFill>
                            <a:srgbClr val="2C2A26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测试用例执行</a:t>
                      </a:r>
                      <a:endParaRPr lang="en-US" sz="1100"/>
                    </a:p>
                  </a:txBody>
                  <a:tcPr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D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900" b="0" i="0" u="none" strike="noStrike">
                          <a:solidFill>
                            <a:srgbClr val="2C2A26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张泽旺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D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900" b="0" i="0" u="none" strike="noStrike">
                          <a:solidFill>
                            <a:srgbClr val="2C2A26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T1.8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D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900" b="0" i="0" u="none" strike="noStrike">
                          <a:solidFill>
                            <a:srgbClr val="7A766C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TC-01 至 TC-04</a:t>
                      </a:r>
                      <a:endParaRPr lang="en-US" sz="1100"/>
                    </a:p>
                  </a:txBody>
                  <a:tcPr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D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334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900" b="1" i="0" u="none" strike="noStrike">
                          <a:solidFill>
                            <a:srgbClr val="C46A2B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◆ M1</a:t>
                      </a:r>
                      <a:endParaRPr lang="en-US" sz="1100"/>
                    </a:p>
                  </a:txBody>
                  <a:tcPr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D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C46A2B">
                        <a:alpha val="12000"/>
                      </a:srgbClr>
                    </a:solidFill>
                  </a:tcPr>
                </a:tc>
                <a:tc gridSpan="3"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900" b="1" i="0" u="none" strike="noStrike">
                          <a:solidFill>
                            <a:srgbClr val="C46A2B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第 2 天末：报警日志表可用，TC-01~TC-04 全部通过</a:t>
                      </a:r>
                      <a:endParaRPr lang="en-US" sz="1100"/>
                    </a:p>
                  </a:txBody>
                  <a:tcPr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D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C46A2B">
                        <a:alpha val="12000"/>
                      </a:srgbClr>
                    </a:solidFill>
                  </a:tcPr>
                </a:tc>
                <a:tc hMerge="1"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D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 hMerge="1"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D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900" b="0" i="0" u="none" strike="noStrike">
                          <a:solidFill>
                            <a:srgbClr val="C46A2B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工期 0</a:t>
                      </a:r>
                      <a:endParaRPr lang="en-US" sz="1100"/>
                    </a:p>
                  </a:txBody>
                  <a:tcPr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D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C46A2B">
                        <a:alpha val="12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14" name="AutoShape 14"/>
          <p:cNvSpPr txBox="1"/>
          <p:nvPr/>
        </p:nvSpPr>
        <p:spPr>
          <a:xfrm>
            <a:off x="5207000" y="5867400"/>
            <a:ext cx="6477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850" b="0" i="0" u="none" strike="noStrike">
                <a:solidFill>
                  <a:srgbClr val="7A766C"/>
                </a:solidFill>
                <a:latin typeface="MiSans" charset="-122"/>
                <a:ea typeface="MiSans" charset="-122"/>
                <a:cs typeface="MiSans" charset="-122"/>
                <a:sym typeface="MiSans" charset="-122"/>
              </a:rPr>
              <a:t>以下两页以 1.2.4 与 1.2.5 为例，给出完整的 WBS 字典条目</a:t>
            </a:r>
            <a:endParaRPr lang="en-US" sz="11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6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 txBox="1"/>
          <p:nvPr/>
        </p:nvSpPr>
        <p:spPr>
          <a:xfrm>
            <a:off x="508000" y="304800"/>
            <a:ext cx="38100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000" b="0" i="0" u="none" strike="noStrike" spc="200">
                <a:solidFill>
                  <a:srgbClr val="7A766C"/>
                </a:solidFill>
                <a:latin typeface="MiSans" charset="-122"/>
                <a:ea typeface="MiSans" charset="-122"/>
                <a:cs typeface="MiSans" charset="-122"/>
                <a:sym typeface="MiSans" charset="-122"/>
              </a:rPr>
              <a:t>讨论 3 · 项目计划 —— WBS 字典</a:t>
            </a:r>
            <a:endParaRPr lang="en-US" sz="1100"/>
          </a:p>
        </p:txBody>
      </p:sp>
      <p:sp>
        <p:nvSpPr>
          <p:cNvPr id="3" name="AutoShape 3"/>
          <p:cNvSpPr txBox="1"/>
          <p:nvPr/>
        </p:nvSpPr>
        <p:spPr>
          <a:xfrm>
            <a:off x="10922000" y="304800"/>
            <a:ext cx="7620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r">
              <a:lnSpc>
                <a:spcPct val="117000"/>
              </a:lnSpc>
              <a:defRPr/>
            </a:pPr>
            <a:r>
              <a:rPr lang="en-US" sz="1000" b="0" i="0" u="none" strike="noStrike">
                <a:solidFill>
                  <a:srgbClr val="7A766C"/>
                </a:solidFill>
                <a:latin typeface="MiSans" charset="-122"/>
                <a:ea typeface="MiSans" charset="-122"/>
                <a:cs typeface="MiSans" charset="-122"/>
                <a:sym typeface="MiSans" charset="-122"/>
              </a:rPr>
              <a:t>10 / 13</a:t>
            </a:r>
            <a:endParaRPr lang="en-US" sz="1100"/>
          </a:p>
        </p:txBody>
      </p:sp>
      <p:sp>
        <p:nvSpPr>
          <p:cNvPr id="4" name="AutoShape 4"/>
          <p:cNvSpPr txBox="1"/>
          <p:nvPr/>
        </p:nvSpPr>
        <p:spPr>
          <a:xfrm>
            <a:off x="508000" y="558800"/>
            <a:ext cx="11176000" cy="431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2400" b="1" i="0" u="none" strike="noStrike">
                <a:solidFill>
                  <a:srgbClr val="1F4E56"/>
                </a:solidFill>
                <a:latin typeface="MiSans" charset="-122"/>
                <a:ea typeface="MiSans" charset="-122"/>
                <a:cs typeface="MiSans" charset="-122"/>
                <a:sym typeface="MiSans" charset="-122"/>
              </a:rPr>
              <a:t>WBS 字典 · 工作包 1.2.4 报警记录生成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508000" y="1117600"/>
            <a:ext cx="11176000" cy="12700"/>
          </a:xfrm>
          <a:prstGeom prst="roundRect">
            <a:avLst>
              <a:gd name="adj" fmla="val 0"/>
            </a:avLst>
          </a:prstGeom>
          <a:solidFill>
            <a:srgbClr val="DDD9C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graphicFrame>
        <p:nvGraphicFramePr>
          <p:cNvPr id="6" name="Table 6"/>
          <p:cNvGraphicFramePr>
            <a:graphicFrameLocks noGrp="1"/>
          </p:cNvGraphicFramePr>
          <p:nvPr/>
        </p:nvGraphicFramePr>
        <p:xfrm>
          <a:off x="508000" y="1320800"/>
          <a:ext cx="11176000" cy="50800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1397000"/>
                <a:gridCol w="4191000"/>
                <a:gridCol w="1397000"/>
                <a:gridCol w="4191000"/>
              </a:tblGrid>
              <a:tr h="4572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latin typeface="MiSans" charset="-122"/>
                          <a:ea typeface="MiSans" charset="-122"/>
                          <a:cs typeface="MiSans" charset="-122"/>
                          <a:sym typeface="MiSans" charset="-122"/>
                        </a:rPr>
                        <a:t>工作包</a:t>
                      </a:r>
                      <a:endParaRPr lang="en-US" sz="1100"/>
                    </a:p>
                  </a:txBody>
                  <a:tcPr marL="127000" marR="1270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F4E56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1" i="0" u="none" strike="noStrike">
                          <a:solidFill>
                            <a:srgbClr val="1F4E56"/>
                          </a:solidFill>
                          <a:latin typeface="MiSans" charset="-122"/>
                          <a:ea typeface="MiSans" charset="-122"/>
                          <a:cs typeface="MiSans" charset="-122"/>
                          <a:sym typeface="MiSans" charset="-122"/>
                        </a:rPr>
                        <a:t>1.2.4 报警记录生成</a:t>
                      </a:r>
                      <a:endParaRPr lang="en-US" sz="1100"/>
                    </a:p>
                  </a:txBody>
                  <a:tcPr marL="127000" marR="1270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latin typeface="MiSans" charset="-122"/>
                          <a:ea typeface="MiSans" charset="-122"/>
                          <a:cs typeface="MiSans" charset="-122"/>
                          <a:sym typeface="MiSans" charset="-122"/>
                        </a:rPr>
                        <a:t>上层要素</a:t>
                      </a:r>
                      <a:endParaRPr lang="en-US" sz="1100"/>
                    </a:p>
                  </a:txBody>
                  <a:tcPr marL="127000" marR="1270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F4E56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050" b="0" i="0" u="none" strike="noStrike">
                          <a:solidFill>
                            <a:srgbClr val="2C2A26"/>
                          </a:solidFill>
                          <a:latin typeface="MiSans" charset="-122"/>
                          <a:ea typeface="MiSans" charset="-122"/>
                          <a:cs typeface="MiSans" charset="-122"/>
                          <a:sym typeface="MiSans" charset="-122"/>
                        </a:rPr>
                        <a:t>1.2.0 迭代一：数据基础</a:t>
                      </a:r>
                      <a:endParaRPr lang="en-US" sz="1100"/>
                    </a:p>
                  </a:txBody>
                  <a:tcPr marL="127000" marR="1270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572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000" b="1" i="0" u="none" strike="noStrike">
                          <a:solidFill>
                            <a:srgbClr val="2C2A26"/>
                          </a:solidFill>
                          <a:latin typeface="MiSans" charset="-122"/>
                          <a:ea typeface="MiSans" charset="-122"/>
                          <a:cs typeface="MiSans" charset="-122"/>
                          <a:sym typeface="MiSans" charset="-122"/>
                        </a:rPr>
                        <a:t>负责人</a:t>
                      </a:r>
                      <a:endParaRPr lang="en-US" sz="1100"/>
                    </a:p>
                  </a:txBody>
                  <a:tcPr marL="1270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EDE5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zh-CN" altLang="en-US" sz="1050" b="0" i="0" u="none" strike="noStrike">
                          <a:solidFill>
                            <a:srgbClr val="2C2A26"/>
                          </a:solidFill>
                          <a:latin typeface="MiSans" charset="-122"/>
                          <a:ea typeface="MiSans" charset="-122"/>
                          <a:cs typeface="MiSans" charset="-122"/>
                          <a:sym typeface="MiSans" charset="-122"/>
                        </a:rPr>
                        <a:t>滕艺</a:t>
                      </a:r>
                      <a:r>
                        <a:rPr lang="zh-CN" altLang="en-US" sz="1050" b="0" i="0" u="none" strike="noStrike">
                          <a:solidFill>
                            <a:srgbClr val="2C2A26"/>
                          </a:solidFill>
                          <a:latin typeface="MiSans" charset="-122"/>
                          <a:ea typeface="MiSans" charset="-122"/>
                          <a:cs typeface="MiSans" charset="-122"/>
                          <a:sym typeface="MiSans" charset="-122"/>
                        </a:rPr>
                        <a:t>斐</a:t>
                      </a:r>
                      <a:endParaRPr lang="zh-CN" altLang="en-US" sz="1050" b="0" i="0" u="none" strike="noStrike">
                        <a:solidFill>
                          <a:srgbClr val="2C2A26"/>
                        </a:solidFill>
                        <a:latin typeface="MiSans" charset="-122"/>
                        <a:ea typeface="MiSans" charset="-122"/>
                        <a:cs typeface="MiSans" charset="-122"/>
                        <a:sym typeface="MiSans" charset="-122"/>
                      </a:endParaRPr>
                    </a:p>
                  </a:txBody>
                  <a:tcPr marL="1270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DD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000" b="1" i="0" u="none" strike="noStrike">
                          <a:solidFill>
                            <a:srgbClr val="2C2A26"/>
                          </a:solidFill>
                          <a:latin typeface="MiSans" charset="-122"/>
                          <a:ea typeface="MiSans" charset="-122"/>
                          <a:cs typeface="MiSans" charset="-122"/>
                          <a:sym typeface="MiSans" charset="-122"/>
                        </a:rPr>
                        <a:t>协助人</a:t>
                      </a:r>
                      <a:endParaRPr lang="en-US" sz="1100"/>
                    </a:p>
                  </a:txBody>
                  <a:tcPr marL="1270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EDE5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zh-CN" altLang="en-US" sz="1050" b="0" i="0" u="none" strike="noStrike">
                          <a:solidFill>
                            <a:srgbClr val="2C2A26"/>
                          </a:solidFill>
                          <a:latin typeface="MiSans" charset="-122"/>
                          <a:ea typeface="MiSans" charset="-122"/>
                          <a:cs typeface="MiSans" charset="-122"/>
                          <a:sym typeface="MiSans" charset="-122"/>
                        </a:rPr>
                        <a:t>吕子豪</a:t>
                      </a:r>
                      <a:endParaRPr lang="zh-CN" altLang="en-US" sz="1050" b="0" i="0" u="none" strike="noStrike">
                        <a:solidFill>
                          <a:srgbClr val="2C2A26"/>
                        </a:solidFill>
                        <a:latin typeface="MiSans" charset="-122"/>
                        <a:ea typeface="MiSans" charset="-122"/>
                        <a:cs typeface="MiSans" charset="-122"/>
                        <a:sym typeface="MiSans" charset="-122"/>
                      </a:endParaRPr>
                    </a:p>
                  </a:txBody>
                  <a:tcPr marL="1270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DD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1811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000" b="1" i="0" u="none" strike="noStrike">
                          <a:solidFill>
                            <a:srgbClr val="2C2A26"/>
                          </a:solidFill>
                          <a:latin typeface="MiSans" charset="-122"/>
                          <a:ea typeface="MiSans" charset="-122"/>
                          <a:cs typeface="MiSans" charset="-122"/>
                          <a:sym typeface="MiSans" charset="-122"/>
                        </a:rPr>
                        <a:t>工作内容</a:t>
                      </a:r>
                      <a:endParaRPr lang="en-US" sz="1100"/>
                    </a:p>
                  </a:txBody>
                  <a:tcPr marL="127000" marR="101600" marT="762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EDE5">
                        <a:alpha val="100000"/>
                      </a:srgbClr>
                    </a:solidFill>
                  </a:tcPr>
                </a:tc>
                <a:tc gridSpan="3">
                  <a:txBody>
                    <a:bodyPr rtlCol="0"/>
                    <a:lstStyle/>
                    <a:p>
                      <a:pPr marL="0" indent="0" algn="l">
                        <a:lnSpc>
                          <a:spcPct val="133000"/>
                        </a:lnSpc>
                        <a:defRPr/>
                      </a:pPr>
                      <a:r>
                        <a:rPr lang="en-US" sz="1000" b="0" i="0" u="none" strike="noStrike">
                          <a:solidFill>
                            <a:srgbClr val="2C2A26"/>
                          </a:solidFill>
                          <a:latin typeface="MiSans" charset="-122"/>
                          <a:ea typeface="MiSans" charset="-122"/>
                          <a:cs typeface="MiSans" charset="-122"/>
                          <a:sym typeface="MiSans" charset="-122"/>
                        </a:rPr>
                        <a:t>按 1.2.3 输出的上下限配置表，对 TEP 时序数据逐测点判定越限，生成报警记录（对应 T1.3，负责人滕艺斐）；定义报警日志表字段——时间戳、测点编号 XMEAS(n)、报警类型（HI / HIHI / LO / LOLO）、确认状态，并落库为报警日志表（对应 T1.4，负责人吕子豪）。</a:t>
                      </a:r>
                      <a:endParaRPr lang="en-US" sz="1100"/>
                    </a:p>
                  </a:txBody>
                  <a:tcPr marL="127000" marR="127000" marT="762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D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DD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D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9779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000" b="1" i="0" u="none" strike="noStrike">
                          <a:solidFill>
                            <a:srgbClr val="2C2A26"/>
                          </a:solidFill>
                          <a:latin typeface="MiSans" charset="-122"/>
                          <a:ea typeface="MiSans" charset="-122"/>
                          <a:cs typeface="MiSans" charset="-122"/>
                          <a:sym typeface="MiSans" charset="-122"/>
                        </a:rPr>
                        <a:t>质量要求</a:t>
                      </a:r>
                      <a:endParaRPr lang="en-US" sz="1100"/>
                    </a:p>
                  </a:txBody>
                  <a:tcPr marL="127000" marR="101600" marT="762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EDE5">
                        <a:alpha val="100000"/>
                      </a:srgbClr>
                    </a:solidFill>
                  </a:tcPr>
                </a:tc>
                <a:tc gridSpan="3">
                  <a:txBody>
                    <a:bodyPr rtlCol="0"/>
                    <a:lstStyle/>
                    <a:p>
                      <a:pPr marL="0" indent="0" algn="l">
                        <a:lnSpc>
                          <a:spcPct val="133000"/>
                        </a:lnSpc>
                        <a:defRPr/>
                      </a:pPr>
                      <a:r>
                        <a:rPr lang="en-US" sz="1000" b="0" i="0" u="none" strike="noStrike">
                          <a:solidFill>
                            <a:srgbClr val="2C2A26"/>
                          </a:solidFill>
                          <a:latin typeface="MiSans" charset="-122"/>
                          <a:ea typeface="MiSans" charset="-122"/>
                          <a:cs typeface="MiSans" charset="-122"/>
                          <a:sym typeface="MiSans" charset="-122"/>
                        </a:rPr>
                        <a:t>越限判定结果与上下限配置表一一对应，无漏报、无错报；日志表字段命名与测点编码沿用 T0.2 接口契约，经 PO（郑子唯）评审通过；TC-01（越限触发）与TC-02（字段完整性）用例全部通过。</a:t>
                      </a:r>
                      <a:endParaRPr lang="en-US" sz="1100"/>
                    </a:p>
                  </a:txBody>
                  <a:tcPr marL="127000" marR="127000" marT="762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D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D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D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9779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000" b="1" i="0" u="none" strike="noStrike">
                          <a:solidFill>
                            <a:srgbClr val="2C2A26"/>
                          </a:solidFill>
                          <a:latin typeface="MiSans" charset="-122"/>
                          <a:ea typeface="MiSans" charset="-122"/>
                          <a:cs typeface="MiSans" charset="-122"/>
                          <a:sym typeface="MiSans" charset="-122"/>
                        </a:rPr>
                        <a:t>时间要求</a:t>
                      </a:r>
                      <a:endParaRPr lang="en-US" sz="1100"/>
                    </a:p>
                  </a:txBody>
                  <a:tcPr marL="127000" marR="101600" marT="762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EDE5">
                        <a:alpha val="100000"/>
                      </a:srgbClr>
                    </a:solidFill>
                  </a:tcPr>
                </a:tc>
                <a:tc gridSpan="3">
                  <a:txBody>
                    <a:bodyPr rtlCol="0"/>
                    <a:lstStyle/>
                    <a:p>
                      <a:pPr marL="0" indent="0" algn="l">
                        <a:lnSpc>
                          <a:spcPct val="133000"/>
                        </a:lnSpc>
                        <a:defRPr/>
                      </a:pPr>
                      <a:r>
                        <a:rPr lang="en-US" sz="1000" b="0" i="0" u="none" strike="noStrike">
                          <a:solidFill>
                            <a:srgbClr val="2C2A26"/>
                          </a:solidFill>
                          <a:latin typeface="MiSans" charset="-122"/>
                          <a:ea typeface="MiSans" charset="-122"/>
                          <a:cs typeface="MiSans" charset="-122"/>
                          <a:sym typeface="MiSans" charset="-122"/>
                        </a:rPr>
                        <a:t>第 1 天上午：完成 T1.3 越限判定脚本（第一个时点）；</a:t>
                      </a:r>
                      <a:endParaRPr lang="en-US" sz="1100"/>
                    </a:p>
                    <a:p>
                      <a:pPr marL="0" indent="0" algn="l">
                        <a:lnSpc>
                          <a:spcPct val="133000"/>
                        </a:lnSpc>
                      </a:pPr>
                      <a:r>
                        <a:rPr lang="en-US" sz="1000" b="0" i="0" u="none" strike="noStrike">
                          <a:solidFill>
                            <a:srgbClr val="2C2A26"/>
                          </a:solidFill>
                          <a:latin typeface="MiSans" charset="-122"/>
                          <a:ea typeface="MiSans" charset="-122"/>
                          <a:cs typeface="MiSans" charset="-122"/>
                          <a:sym typeface="MiSans" charset="-122"/>
                        </a:rPr>
                        <a:t>第 1 天下午：完成 T1.4 日志表落库（第二个时点）；随 M1 里程碑（第 2 天末）整体验收。</a:t>
                      </a:r>
                      <a:endParaRPr lang="en-US" sz="1000" b="0" i="0" u="none" strike="noStrike">
                        <a:solidFill>
                          <a:srgbClr val="2C2A26"/>
                        </a:solidFill>
                        <a:latin typeface="MiSans" charset="-122"/>
                        <a:ea typeface="MiSans" charset="-122"/>
                        <a:cs typeface="MiSans" charset="-122"/>
                        <a:sym typeface="MiSans" charset="-122"/>
                      </a:endParaRPr>
                    </a:p>
                  </a:txBody>
                  <a:tcPr marL="127000" marR="127000" marT="762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D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D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D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080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000" b="1" i="0" u="none" strike="noStrike">
                          <a:solidFill>
                            <a:srgbClr val="2C2A26"/>
                          </a:solidFill>
                          <a:latin typeface="MiSans" charset="-122"/>
                          <a:ea typeface="MiSans" charset="-122"/>
                          <a:cs typeface="MiSans" charset="-122"/>
                          <a:sym typeface="MiSans" charset="-122"/>
                        </a:rPr>
                        <a:t>成本要求</a:t>
                      </a:r>
                      <a:endParaRPr lang="en-US" sz="1100"/>
                    </a:p>
                  </a:txBody>
                  <a:tcPr marL="1270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EDE5">
                        <a:alpha val="100000"/>
                      </a:srgbClr>
                    </a:solidFill>
                  </a:tcPr>
                </a:tc>
                <a:tc gridSpan="3"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050" b="0" i="0" u="none" strike="noStrike">
                          <a:solidFill>
                            <a:srgbClr val="2C2A26"/>
                          </a:solidFill>
                          <a:latin typeface="MiSans" charset="-122"/>
                          <a:ea typeface="MiSans" charset="-122"/>
                          <a:cs typeface="MiSans" charset="-122"/>
                          <a:sym typeface="MiSans" charset="-122"/>
                        </a:rPr>
                        <a:t>合计 1.0 人天（滕艺斐 0.5 天 + 吕子豪 0.5 天），无外部采购。</a:t>
                      </a:r>
                      <a:endParaRPr lang="zh-CN" altLang="en-US" sz="1050" b="0" i="0" u="none" strike="noStrike">
                        <a:solidFill>
                          <a:srgbClr val="2C2A26"/>
                        </a:solidFill>
                        <a:latin typeface="MiSans" charset="-122"/>
                        <a:ea typeface="MiSans" charset="-122"/>
                        <a:cs typeface="MiSans" charset="-122"/>
                        <a:sym typeface="MiSans" charset="-122"/>
                      </a:endParaRPr>
                    </a:p>
                  </a:txBody>
                  <a:tcPr marL="1270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D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D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D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207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950" b="0" i="0" u="none" strike="noStrike">
                          <a:solidFill>
                            <a:srgbClr val="7A766C"/>
                          </a:solidFill>
                          <a:latin typeface="MiSans" charset="-122"/>
                          <a:ea typeface="MiSans" charset="-122"/>
                          <a:cs typeface="MiSans" charset="-122"/>
                          <a:sym typeface="MiSans" charset="-122"/>
                        </a:rPr>
                        <a:t>产品负责人（签字）</a:t>
                      </a:r>
                      <a:endParaRPr lang="en-US" sz="1100"/>
                    </a:p>
                  </a:txBody>
                  <a:tcPr marL="1270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950" b="0" i="0" u="none" strike="noStrike">
                          <a:solidFill>
                            <a:srgbClr val="7A766C"/>
                          </a:solidFill>
                          <a:latin typeface="MiSans" charset="-122"/>
                          <a:ea typeface="MiSans" charset="-122"/>
                          <a:cs typeface="MiSans" charset="-122"/>
                          <a:sym typeface="MiSans" charset="-122"/>
                        </a:rPr>
                        <a:t>郑子唯</a:t>
                      </a:r>
                      <a:endParaRPr lang="en-US" sz="1100"/>
                    </a:p>
                  </a:txBody>
                  <a:tcPr marL="1270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D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950" b="0" i="0" u="none" strike="noStrike">
                          <a:solidFill>
                            <a:srgbClr val="7A766C"/>
                          </a:solidFill>
                          <a:latin typeface="MiSans" charset="-122"/>
                          <a:ea typeface="MiSans" charset="-122"/>
                          <a:cs typeface="MiSans" charset="-122"/>
                          <a:sym typeface="MiSans" charset="-122"/>
                        </a:rPr>
                        <a:t>负责人（签字）</a:t>
                      </a:r>
                      <a:endParaRPr lang="en-US" sz="1100"/>
                    </a:p>
                  </a:txBody>
                  <a:tcPr marL="1270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D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950" b="0" i="0" u="none" strike="noStrike">
                          <a:solidFill>
                            <a:srgbClr val="7A766C"/>
                          </a:solidFill>
                          <a:latin typeface="MiSans" charset="-122"/>
                          <a:ea typeface="MiSans" charset="-122"/>
                          <a:cs typeface="MiSans" charset="-122"/>
                          <a:sym typeface="MiSans" charset="-122"/>
                        </a:rPr>
                        <a:t>滕艺斐</a:t>
                      </a:r>
                      <a:endParaRPr lang="en-US" sz="1100"/>
                    </a:p>
                  </a:txBody>
                  <a:tcPr marL="1270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D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7" name="AutoShape 7"/>
          <p:cNvSpPr txBox="1"/>
          <p:nvPr/>
        </p:nvSpPr>
        <p:spPr>
          <a:xfrm>
            <a:off x="508000" y="6527800"/>
            <a:ext cx="11176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850" b="0" i="0" u="none" strike="noStrike">
                <a:solidFill>
                  <a:srgbClr val="7A766C"/>
                </a:solidFill>
                <a:latin typeface="MiSans" charset="-122"/>
                <a:ea typeface="MiSans" charset="-122"/>
                <a:cs typeface="MiSans" charset="-122"/>
                <a:sym typeface="MiSans" charset="-122"/>
              </a:rPr>
              <a:t>说明：本字典格式参照课堂 WBS 字典示例；工期为 0 的 M1 里程碑见 P8。</a:t>
            </a:r>
            <a:endParaRPr lang="en-US" sz="11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6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 txBox="1"/>
          <p:nvPr/>
        </p:nvSpPr>
        <p:spPr>
          <a:xfrm>
            <a:off x="508000" y="304800"/>
            <a:ext cx="38100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000" b="0" i="0" u="none" strike="noStrike" spc="200">
                <a:solidFill>
                  <a:srgbClr val="7A766C"/>
                </a:solidFill>
                <a:latin typeface="MiSans" charset="-122"/>
                <a:ea typeface="MiSans" charset="-122"/>
                <a:cs typeface="MiSans" charset="-122"/>
                <a:sym typeface="MiSans" charset="-122"/>
              </a:rPr>
              <a:t>讨论 3 · 项目计划 —— WBS 字典</a:t>
            </a:r>
            <a:endParaRPr lang="en-US" sz="1100"/>
          </a:p>
        </p:txBody>
      </p:sp>
      <p:sp>
        <p:nvSpPr>
          <p:cNvPr id="3" name="AutoShape 3"/>
          <p:cNvSpPr txBox="1"/>
          <p:nvPr/>
        </p:nvSpPr>
        <p:spPr>
          <a:xfrm>
            <a:off x="10922000" y="304800"/>
            <a:ext cx="7620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r">
              <a:lnSpc>
                <a:spcPct val="117000"/>
              </a:lnSpc>
              <a:defRPr/>
            </a:pPr>
            <a:r>
              <a:rPr lang="en-US" sz="1000" b="0" i="0" u="none" strike="noStrike">
                <a:solidFill>
                  <a:srgbClr val="7A766C"/>
                </a:solidFill>
                <a:latin typeface="MiSans" charset="-122"/>
                <a:ea typeface="MiSans" charset="-122"/>
                <a:cs typeface="MiSans" charset="-122"/>
                <a:sym typeface="MiSans" charset="-122"/>
              </a:rPr>
              <a:t>11 / 13</a:t>
            </a:r>
            <a:endParaRPr lang="en-US" sz="1100"/>
          </a:p>
        </p:txBody>
      </p:sp>
      <p:sp>
        <p:nvSpPr>
          <p:cNvPr id="4" name="AutoShape 4"/>
          <p:cNvSpPr txBox="1"/>
          <p:nvPr/>
        </p:nvSpPr>
        <p:spPr>
          <a:xfrm>
            <a:off x="508000" y="558800"/>
            <a:ext cx="11176000" cy="431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2400" b="1" i="0" u="none" strike="noStrike">
                <a:solidFill>
                  <a:srgbClr val="1F4E56"/>
                </a:solidFill>
                <a:latin typeface="MiSans" charset="-122"/>
                <a:ea typeface="MiSans" charset="-122"/>
                <a:cs typeface="MiSans" charset="-122"/>
                <a:sym typeface="MiSans" charset="-122"/>
              </a:rPr>
              <a:t>WBS 字典 · 工作包 1.2.5 抖动报警注入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508000" y="1117600"/>
            <a:ext cx="11176000" cy="12700"/>
          </a:xfrm>
          <a:prstGeom prst="roundRect">
            <a:avLst>
              <a:gd name="adj" fmla="val 0"/>
            </a:avLst>
          </a:prstGeom>
          <a:solidFill>
            <a:srgbClr val="DDD9C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graphicFrame>
        <p:nvGraphicFramePr>
          <p:cNvPr id="6" name="Table 6"/>
          <p:cNvGraphicFramePr>
            <a:graphicFrameLocks noGrp="1"/>
          </p:cNvGraphicFramePr>
          <p:nvPr/>
        </p:nvGraphicFramePr>
        <p:xfrm>
          <a:off x="508000" y="1320800"/>
          <a:ext cx="11176000" cy="50800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1397000"/>
                <a:gridCol w="4191000"/>
                <a:gridCol w="1397000"/>
                <a:gridCol w="4191000"/>
              </a:tblGrid>
              <a:tr h="4572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latin typeface="MiSans" charset="-122"/>
                          <a:ea typeface="MiSans" charset="-122"/>
                          <a:cs typeface="MiSans" charset="-122"/>
                          <a:sym typeface="MiSans" charset="-122"/>
                        </a:rPr>
                        <a:t>工作包</a:t>
                      </a:r>
                      <a:endParaRPr lang="en-US" sz="1100"/>
                    </a:p>
                  </a:txBody>
                  <a:tcPr marL="1270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F4E56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1" i="0" u="none" strike="noStrike">
                          <a:solidFill>
                            <a:srgbClr val="1F4E56"/>
                          </a:solidFill>
                          <a:latin typeface="MiSans" charset="-122"/>
                          <a:ea typeface="MiSans" charset="-122"/>
                          <a:cs typeface="MiSans" charset="-122"/>
                          <a:sym typeface="MiSans" charset="-122"/>
                        </a:rPr>
                        <a:t>1.2.5 抖动报警注入</a:t>
                      </a:r>
                      <a:endParaRPr lang="en-US" sz="1100"/>
                    </a:p>
                  </a:txBody>
                  <a:tcPr marL="1270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latin typeface="MiSans" charset="-122"/>
                          <a:ea typeface="MiSans" charset="-122"/>
                          <a:cs typeface="MiSans" charset="-122"/>
                          <a:sym typeface="MiSans" charset="-122"/>
                        </a:rPr>
                        <a:t>上层要素</a:t>
                      </a:r>
                      <a:endParaRPr lang="en-US" sz="1100"/>
                    </a:p>
                  </a:txBody>
                  <a:tcPr marL="1270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F4E56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050" b="0" i="0" u="none" strike="noStrike">
                          <a:solidFill>
                            <a:srgbClr val="2C2A26"/>
                          </a:solidFill>
                          <a:latin typeface="MiSans" charset="-122"/>
                          <a:ea typeface="MiSans" charset="-122"/>
                          <a:cs typeface="MiSans" charset="-122"/>
                          <a:sym typeface="MiSans" charset="-122"/>
                        </a:rPr>
                        <a:t>1.2.0 迭代一：数据基础</a:t>
                      </a:r>
                      <a:endParaRPr lang="en-US" sz="1100"/>
                    </a:p>
                  </a:txBody>
                  <a:tcPr marL="1270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572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000" b="1" i="0" u="none" strike="noStrike">
                          <a:solidFill>
                            <a:srgbClr val="2C2A26"/>
                          </a:solidFill>
                          <a:latin typeface="MiSans" charset="-122"/>
                          <a:ea typeface="MiSans" charset="-122"/>
                          <a:cs typeface="MiSans" charset="-122"/>
                          <a:sym typeface="MiSans" charset="-122"/>
                        </a:rPr>
                        <a:t>负责人</a:t>
                      </a:r>
                      <a:endParaRPr lang="en-US" sz="1100"/>
                    </a:p>
                  </a:txBody>
                  <a:tcPr marL="1270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EDE5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zh-CN" altLang="en-US" sz="1050" b="0" i="0" u="none" strike="noStrike">
                          <a:solidFill>
                            <a:srgbClr val="2C2A26"/>
                          </a:solidFill>
                          <a:latin typeface="MiSans" charset="-122"/>
                          <a:ea typeface="MiSans" charset="-122"/>
                          <a:cs typeface="MiSans" charset="-122"/>
                          <a:sym typeface="MiSans" charset="-122"/>
                        </a:rPr>
                        <a:t>吴焕石</a:t>
                      </a:r>
                      <a:endParaRPr lang="zh-CN" altLang="en-US" sz="1050" b="0" i="0" u="none" strike="noStrike">
                        <a:solidFill>
                          <a:srgbClr val="2C2A26"/>
                        </a:solidFill>
                        <a:latin typeface="MiSans" charset="-122"/>
                        <a:ea typeface="MiSans" charset="-122"/>
                        <a:cs typeface="MiSans" charset="-122"/>
                        <a:sym typeface="MiSans" charset="-122"/>
                      </a:endParaRPr>
                    </a:p>
                  </a:txBody>
                  <a:tcPr marL="1270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DD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000" b="1" i="0" u="none" strike="noStrike">
                          <a:solidFill>
                            <a:srgbClr val="2C2A26"/>
                          </a:solidFill>
                          <a:latin typeface="MiSans" charset="-122"/>
                          <a:ea typeface="MiSans" charset="-122"/>
                          <a:cs typeface="MiSans" charset="-122"/>
                          <a:sym typeface="MiSans" charset="-122"/>
                        </a:rPr>
                        <a:t>协助人</a:t>
                      </a:r>
                      <a:endParaRPr lang="en-US" sz="1100"/>
                    </a:p>
                  </a:txBody>
                  <a:tcPr marL="1270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EDE5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zh-CN" altLang="en-US" sz="1050" b="0" i="0" u="none" strike="noStrike">
                          <a:solidFill>
                            <a:srgbClr val="2C2A26"/>
                          </a:solidFill>
                          <a:latin typeface="MiSans" charset="-122"/>
                          <a:ea typeface="MiSans" charset="-122"/>
                          <a:cs typeface="MiSans" charset="-122"/>
                          <a:sym typeface="MiSans" charset="-122"/>
                        </a:rPr>
                        <a:t>张泽旺</a:t>
                      </a:r>
                      <a:r>
                        <a:rPr lang="en-US" sz="1050" b="0" i="0" u="none" strike="noStrike">
                          <a:solidFill>
                            <a:srgbClr val="2C2A26"/>
                          </a:solidFill>
                          <a:latin typeface="MiSans" charset="-122"/>
                          <a:ea typeface="MiSans" charset="-122"/>
                          <a:cs typeface="MiSans" charset="-122"/>
                          <a:sym typeface="MiSans" charset="-122"/>
                        </a:rPr>
                        <a:t>（用例验证）</a:t>
                      </a:r>
                      <a:endParaRPr lang="en-US" sz="1100"/>
                    </a:p>
                  </a:txBody>
                  <a:tcPr marL="1270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DD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1811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000" b="1" i="0" u="none" strike="noStrike">
                          <a:solidFill>
                            <a:srgbClr val="2C2A26"/>
                          </a:solidFill>
                          <a:latin typeface="MiSans" charset="-122"/>
                          <a:ea typeface="MiSans" charset="-122"/>
                          <a:cs typeface="MiSans" charset="-122"/>
                          <a:sym typeface="MiSans" charset="-122"/>
                        </a:rPr>
                        <a:t>工作内容</a:t>
                      </a:r>
                      <a:endParaRPr lang="en-US" sz="1100"/>
                    </a:p>
                  </a:txBody>
                  <a:tcPr marL="127000" marR="101600" marT="762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EDE5">
                        <a:alpha val="100000"/>
                      </a:srgbClr>
                    </a:solidFill>
                  </a:tcPr>
                </a:tc>
                <a:tc gridSpan="3">
                  <a:txBody>
                    <a:bodyPr rtlCol="0"/>
                    <a:lstStyle/>
                    <a:p>
                      <a:pPr marL="0" indent="0" algn="l">
                        <a:lnSpc>
                          <a:spcPct val="133000"/>
                        </a:lnSpc>
                        <a:defRPr/>
                      </a:pPr>
                      <a:r>
                        <a:rPr lang="en-US" sz="1000" b="0" i="0" u="none" strike="noStrike">
                          <a:solidFill>
                            <a:srgbClr val="2C2A26"/>
                          </a:solidFill>
                          <a:latin typeface="MiSans" charset="-122"/>
                          <a:ea typeface="MiSans" charset="-122"/>
                          <a:cs typeface="MiSans" charset="-122"/>
                          <a:sym typeface="MiSans" charset="-122"/>
                        </a:rPr>
                        <a:t>在报警阈值邻域人为叠加小幅噪声，使测点值在阈值线附近反复穿越，生成短时反复触发的抖动报警（对应 T1.5）；</a:t>
                      </a:r>
                      <a:endParaRPr lang="en-US" sz="1100"/>
                    </a:p>
                    <a:p>
                      <a:pPr marL="0" indent="0" algn="l">
                        <a:lnSpc>
                          <a:spcPct val="133000"/>
                        </a:lnSpc>
                      </a:pPr>
                      <a:r>
                        <a:rPr lang="en-US" sz="1000" b="0" i="0" u="none" strike="noStrike">
                          <a:solidFill>
                            <a:srgbClr val="2C2A26"/>
                          </a:solidFill>
                          <a:latin typeface="MiSans" charset="-122"/>
                          <a:ea typeface="MiSans" charset="-122"/>
                          <a:cs typeface="MiSans" charset="-122"/>
                          <a:sym typeface="MiSans" charset="-122"/>
                        </a:rPr>
                        <a:t>抖动次数与幅度通过配置参数可调，模拟现场"同一报警反复弹出"的真实场景，为迭代二压缩算法提供测试输入。</a:t>
                      </a:r>
                      <a:endParaRPr lang="en-US" sz="1000" b="0" i="0" u="none" strike="noStrike">
                        <a:solidFill>
                          <a:srgbClr val="2C2A26"/>
                        </a:solidFill>
                        <a:latin typeface="MiSans" charset="-122"/>
                        <a:ea typeface="MiSans" charset="-122"/>
                        <a:cs typeface="MiSans" charset="-122"/>
                        <a:sym typeface="MiSans" charset="-122"/>
                      </a:endParaRPr>
                    </a:p>
                  </a:txBody>
                  <a:tcPr marL="127000" marR="127000" marT="762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D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DD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D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9779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000" b="1" i="0" u="none" strike="noStrike">
                          <a:solidFill>
                            <a:srgbClr val="2C2A26"/>
                          </a:solidFill>
                          <a:latin typeface="MiSans" charset="-122"/>
                          <a:ea typeface="MiSans" charset="-122"/>
                          <a:cs typeface="MiSans" charset="-122"/>
                          <a:sym typeface="MiSans" charset="-122"/>
                        </a:rPr>
                        <a:t>质量要求</a:t>
                      </a:r>
                      <a:endParaRPr lang="en-US" sz="1100"/>
                    </a:p>
                  </a:txBody>
                  <a:tcPr marL="127000" marR="101600" marT="762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EDE5">
                        <a:alpha val="100000"/>
                      </a:srgbClr>
                    </a:solidFill>
                  </a:tcPr>
                </a:tc>
                <a:tc gridSpan="3">
                  <a:txBody>
                    <a:bodyPr rtlCol="0"/>
                    <a:lstStyle/>
                    <a:p>
                      <a:pPr marL="0" indent="0" algn="l">
                        <a:lnSpc>
                          <a:spcPct val="133000"/>
                        </a:lnSpc>
                        <a:defRPr/>
                      </a:pPr>
                      <a:r>
                        <a:rPr lang="en-US" sz="1000" b="0" i="0" u="none" strike="noStrike">
                          <a:solidFill>
                            <a:srgbClr val="2C2A26"/>
                          </a:solidFill>
                          <a:latin typeface="MiSans" charset="-122"/>
                          <a:ea typeface="MiSans" charset="-122"/>
                          <a:cs typeface="MiSans" charset="-122"/>
                          <a:sym typeface="MiSans" charset="-122"/>
                        </a:rPr>
                        <a:t>注入的抖动报警在日志表中可被识别为同一测点、短时间内的反复触发；注入次数与配置参数一致，在 TC-03（抖动复现）中可重复验证；不污染正常工况段，不与真实越限混淆。</a:t>
                      </a:r>
                      <a:endParaRPr lang="en-US" sz="1100"/>
                    </a:p>
                  </a:txBody>
                  <a:tcPr marL="127000" marR="127000" marT="762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D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D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D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9779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000" b="1" i="0" u="none" strike="noStrike">
                          <a:solidFill>
                            <a:srgbClr val="2C2A26"/>
                          </a:solidFill>
                          <a:latin typeface="MiSans" charset="-122"/>
                          <a:ea typeface="MiSans" charset="-122"/>
                          <a:cs typeface="MiSans" charset="-122"/>
                          <a:sym typeface="MiSans" charset="-122"/>
                        </a:rPr>
                        <a:t>时间要求</a:t>
                      </a:r>
                      <a:endParaRPr lang="en-US" sz="1100"/>
                    </a:p>
                  </a:txBody>
                  <a:tcPr marL="127000" marR="101600" marT="762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EDE5">
                        <a:alpha val="100000"/>
                      </a:srgbClr>
                    </a:solidFill>
                  </a:tcPr>
                </a:tc>
                <a:tc gridSpan="3">
                  <a:txBody>
                    <a:bodyPr rtlCol="0"/>
                    <a:lstStyle/>
                    <a:p>
                      <a:pPr marL="0" indent="0" algn="l">
                        <a:lnSpc>
                          <a:spcPct val="133000"/>
                        </a:lnSpc>
                        <a:defRPr/>
                      </a:pPr>
                      <a:r>
                        <a:rPr lang="en-US" sz="1000" b="0" i="0" u="none" strike="noStrike">
                          <a:solidFill>
                            <a:srgbClr val="2C2A26"/>
                          </a:solidFill>
                          <a:latin typeface="MiSans" charset="-122"/>
                          <a:ea typeface="MiSans" charset="-122"/>
                          <a:cs typeface="MiSans" charset="-122"/>
                          <a:sym typeface="MiSans" charset="-122"/>
                        </a:rPr>
                        <a:t>第 1 天下午启动（0.75 天），第 2 天中午前完成抖动注入逻辑；第 2 天下午由 张泽旺 执行 TC-03；随 M1 里程碑（第 2 天末）整体验收。</a:t>
                      </a:r>
                      <a:endParaRPr lang="en-US" sz="1100"/>
                    </a:p>
                  </a:txBody>
                  <a:tcPr marL="127000" marR="127000" marT="762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D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D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D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080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000" b="1" i="0" u="none" strike="noStrike">
                          <a:solidFill>
                            <a:srgbClr val="2C2A26"/>
                          </a:solidFill>
                          <a:latin typeface="MiSans" charset="-122"/>
                          <a:ea typeface="MiSans" charset="-122"/>
                          <a:cs typeface="MiSans" charset="-122"/>
                          <a:sym typeface="MiSans" charset="-122"/>
                        </a:rPr>
                        <a:t>成本要求</a:t>
                      </a:r>
                      <a:endParaRPr lang="en-US" sz="1100"/>
                    </a:p>
                  </a:txBody>
                  <a:tcPr marL="1270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EDE5">
                        <a:alpha val="100000"/>
                      </a:srgbClr>
                    </a:solidFill>
                  </a:tcPr>
                </a:tc>
                <a:tc gridSpan="3"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050" b="0" i="0" u="none" strike="noStrike">
                          <a:solidFill>
                            <a:srgbClr val="2C2A26"/>
                          </a:solidFill>
                          <a:latin typeface="MiSans" charset="-122"/>
                          <a:ea typeface="MiSans" charset="-122"/>
                          <a:cs typeface="MiSans" charset="-122"/>
                          <a:sym typeface="MiSans" charset="-122"/>
                        </a:rPr>
                        <a:t>0.75 人天（吴焕石），无外部采购；与 1.2.6 重复报警注入同属数据注入模块，可共享代码骨架。</a:t>
                      </a:r>
                      <a:endParaRPr lang="en-US" sz="1100"/>
                    </a:p>
                  </a:txBody>
                  <a:tcPr marL="1270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D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D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D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207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950" b="0" i="0" u="none" strike="noStrike">
                          <a:solidFill>
                            <a:srgbClr val="7A766C"/>
                          </a:solidFill>
                          <a:latin typeface="MiSans" charset="-122"/>
                          <a:ea typeface="MiSans" charset="-122"/>
                          <a:cs typeface="MiSans" charset="-122"/>
                          <a:sym typeface="MiSans" charset="-122"/>
                        </a:rPr>
                        <a:t>产品负责人（签字）</a:t>
                      </a:r>
                      <a:endParaRPr lang="en-US" sz="1100"/>
                    </a:p>
                  </a:txBody>
                  <a:tcPr marL="1270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950" b="0" i="0" u="none" strike="noStrike">
                          <a:solidFill>
                            <a:srgbClr val="7A766C"/>
                          </a:solidFill>
                          <a:latin typeface="MiSans" charset="-122"/>
                          <a:ea typeface="MiSans" charset="-122"/>
                          <a:cs typeface="MiSans" charset="-122"/>
                          <a:sym typeface="MiSans" charset="-122"/>
                        </a:rPr>
                        <a:t>郑子唯</a:t>
                      </a:r>
                      <a:endParaRPr lang="en-US" sz="1100"/>
                    </a:p>
                  </a:txBody>
                  <a:tcPr marL="1270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D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950" b="0" i="0" u="none" strike="noStrike">
                          <a:solidFill>
                            <a:srgbClr val="7A766C"/>
                          </a:solidFill>
                          <a:latin typeface="MiSans" charset="-122"/>
                          <a:ea typeface="MiSans" charset="-122"/>
                          <a:cs typeface="MiSans" charset="-122"/>
                          <a:sym typeface="MiSans" charset="-122"/>
                        </a:rPr>
                        <a:t>负责人（签字）</a:t>
                      </a:r>
                      <a:endParaRPr lang="en-US" sz="1100"/>
                    </a:p>
                  </a:txBody>
                  <a:tcPr marL="1270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D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950" b="0" i="0" u="none" strike="noStrike">
                          <a:solidFill>
                            <a:srgbClr val="7A766C"/>
                          </a:solidFill>
                          <a:latin typeface="MiSans" charset="-122"/>
                          <a:ea typeface="MiSans" charset="-122"/>
                          <a:cs typeface="MiSans" charset="-122"/>
                          <a:sym typeface="MiSans" charset="-122"/>
                        </a:rPr>
                        <a:t>吴焕石</a:t>
                      </a:r>
                      <a:endParaRPr lang="en-US" sz="1100"/>
                    </a:p>
                  </a:txBody>
                  <a:tcPr marL="1270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D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7" name="AutoShape 7"/>
          <p:cNvSpPr txBox="1"/>
          <p:nvPr/>
        </p:nvSpPr>
        <p:spPr>
          <a:xfrm>
            <a:off x="508000" y="6527800"/>
            <a:ext cx="11176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850" b="0" i="0" u="none" strike="noStrike">
                <a:solidFill>
                  <a:srgbClr val="7A766C"/>
                </a:solidFill>
                <a:latin typeface="MiSans" charset="-122"/>
                <a:ea typeface="MiSans" charset="-122"/>
                <a:cs typeface="MiSans" charset="-122"/>
                <a:sym typeface="MiSans" charset="-122"/>
              </a:rPr>
              <a:t>说明：其余工作包（1.2.2 / 1.2.3 / 1.2.6 / 1.2.7 / 1.2.8）按同一字典格式在项目管理软件中逐条登记。</a:t>
            </a:r>
            <a:endParaRPr lang="en-US" sz="11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6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 txBox="1"/>
          <p:nvPr/>
        </p:nvSpPr>
        <p:spPr>
          <a:xfrm>
            <a:off x="508000" y="304800"/>
            <a:ext cx="38100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000" b="0" i="0" u="none" strike="noStrike" spc="200">
                <a:solidFill>
                  <a:srgbClr val="7A766C"/>
                </a:solidFill>
                <a:latin typeface="MiSans" charset="-122"/>
                <a:ea typeface="MiSans" charset="-122"/>
                <a:cs typeface="MiSans" charset="-122"/>
                <a:sym typeface="MiSans" charset="-122"/>
              </a:rPr>
              <a:t>讨论 3 · 项目计划</a:t>
            </a:r>
            <a:endParaRPr lang="en-US" sz="1100"/>
          </a:p>
        </p:txBody>
      </p:sp>
      <p:sp>
        <p:nvSpPr>
          <p:cNvPr id="3" name="AutoShape 3"/>
          <p:cNvSpPr txBox="1"/>
          <p:nvPr/>
        </p:nvSpPr>
        <p:spPr>
          <a:xfrm>
            <a:off x="10922000" y="304800"/>
            <a:ext cx="7620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r">
              <a:lnSpc>
                <a:spcPct val="117000"/>
              </a:lnSpc>
              <a:defRPr/>
            </a:pPr>
            <a:r>
              <a:rPr lang="en-US" sz="1000" b="0" i="0" u="none" strike="noStrike">
                <a:solidFill>
                  <a:srgbClr val="7A766C"/>
                </a:solidFill>
                <a:latin typeface="MiSans" charset="-122"/>
                <a:ea typeface="MiSans" charset="-122"/>
                <a:cs typeface="MiSans" charset="-122"/>
                <a:sym typeface="MiSans" charset="-122"/>
              </a:rPr>
              <a:t>12 / 13</a:t>
            </a:r>
            <a:endParaRPr lang="en-US" sz="1100"/>
          </a:p>
        </p:txBody>
      </p:sp>
      <p:sp>
        <p:nvSpPr>
          <p:cNvPr id="4" name="AutoShape 4"/>
          <p:cNvSpPr txBox="1"/>
          <p:nvPr/>
        </p:nvSpPr>
        <p:spPr>
          <a:xfrm>
            <a:off x="508000" y="558800"/>
            <a:ext cx="11176000" cy="431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2400" b="1" i="0" u="none" strike="noStrike">
                <a:solidFill>
                  <a:srgbClr val="1F4E56"/>
                </a:solidFill>
                <a:latin typeface="MiSans" charset="-122"/>
                <a:ea typeface="MiSans" charset="-122"/>
                <a:cs typeface="MiSans" charset="-122"/>
                <a:sym typeface="MiSans" charset="-122"/>
              </a:rPr>
              <a:t>项目干系人：两类指标的冲突来自现场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508000" y="1117600"/>
            <a:ext cx="11176000" cy="12700"/>
          </a:xfrm>
          <a:prstGeom prst="roundRect">
            <a:avLst>
              <a:gd name="adj" fmla="val 0"/>
            </a:avLst>
          </a:prstGeom>
          <a:solidFill>
            <a:srgbClr val="DDD9C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 anchorCtr="0"/>
          <a:lstStyle/>
          <a:p>
            <a:pPr algn="ctr">
              <a:defRPr/>
            </a:pPr>
          </a:p>
        </p:txBody>
      </p:sp>
      <p:graphicFrame>
        <p:nvGraphicFramePr>
          <p:cNvPr id="6" name="Table 6"/>
          <p:cNvGraphicFramePr>
            <a:graphicFrameLocks noGrp="1"/>
          </p:cNvGraphicFramePr>
          <p:nvPr/>
        </p:nvGraphicFramePr>
        <p:xfrm>
          <a:off x="508000" y="1320800"/>
          <a:ext cx="11176000" cy="39116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1676400"/>
                <a:gridCol w="3241040"/>
                <a:gridCol w="6258560"/>
              </a:tblGrid>
              <a:tr h="391160"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干系人</a:t>
                      </a:r>
                      <a:endParaRPr lang="en-US" sz="1100"/>
                    </a:p>
                  </a:txBody>
                  <a:tcPr anchor="t" anchorCtr="0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56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角色定位</a:t>
                      </a:r>
                      <a:endParaRPr lang="en-US" sz="1100"/>
                    </a:p>
                  </a:txBody>
                  <a:tcPr anchor="t" anchorCtr="0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56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关注重点</a:t>
                      </a:r>
                      <a:endParaRPr lang="en-US" sz="1100"/>
                    </a:p>
                  </a:txBody>
                  <a:tcPr anchor="t" anchorCtr="0">
                    <a:lnL>
                      <a:noFill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56">
                        <a:alpha val="100000"/>
                      </a:srgbClr>
                    </a:solidFill>
                  </a:tcPr>
                </a:tc>
              </a:tr>
              <a:tr h="586740"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zh-CN" altLang="en-US" sz="1000" b="1" i="0" u="none" strike="noStrike">
                          <a:solidFill>
                            <a:srgbClr val="2C2A26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工厂</a:t>
                      </a:r>
                      <a:r>
                        <a:rPr lang="en-US" sz="1000" b="1" i="0" u="none" strike="noStrike">
                          <a:solidFill>
                            <a:srgbClr val="2C2A26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操作员</a:t>
                      </a:r>
                      <a:endParaRPr lang="en-US" sz="1100"/>
                    </a:p>
                  </a:txBody>
                  <a:tcPr anchor="t" anchorCtr="0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000" b="0" i="0" u="none" strike="noStrike">
                          <a:solidFill>
                            <a:srgbClr val="2C2A26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报警的直接承受者，系统最终使用者</a:t>
                      </a:r>
                      <a:endParaRPr lang="en-US" sz="1100"/>
                    </a:p>
                  </a:txBody>
                  <a:tcPr anchor="t" anchorCtr="0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000" b="0" i="0" u="none" strike="noStrike">
                          <a:solidFill>
                            <a:srgbClr val="2C2A26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报警数量是否实际减少；问题起点提示是否有效；是否增加操作负担</a:t>
                      </a:r>
                      <a:endParaRPr lang="en-US" sz="1100"/>
                    </a:p>
                  </a:txBody>
                  <a:tcPr anchor="t" anchorCtr="0">
                    <a:lnL>
                      <a:noFill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86740"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000" b="1" i="0" u="none" strike="noStrike">
                          <a:solidFill>
                            <a:srgbClr val="2C2A26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仪表工程师</a:t>
                      </a:r>
                      <a:endParaRPr lang="en-US" sz="1100"/>
                    </a:p>
                  </a:txBody>
                  <a:tcPr anchor="t" anchorCtr="0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000" b="0" i="0" u="none" strike="noStrike">
                          <a:solidFill>
                            <a:srgbClr val="2C2A26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系统接入现场的审核方</a:t>
                      </a:r>
                      <a:endParaRPr lang="en-US" sz="1100"/>
                    </a:p>
                  </a:txBody>
                  <a:tcPr anchor="t" anchorCtr="0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000" b="0" i="0" u="none" strike="noStrike">
                          <a:solidFill>
                            <a:srgbClr val="2C2A26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能否对接现有 DCS 或 OPC-UA 接口；误报率高低；后续维护责任</a:t>
                      </a:r>
                      <a:endParaRPr lang="en-US" sz="1100"/>
                    </a:p>
                  </a:txBody>
                  <a:tcPr anchor="t" anchorCtr="0">
                    <a:lnL>
                      <a:noFill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86740"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000" b="1" i="0" u="none" strike="noStrike">
                          <a:solidFill>
                            <a:srgbClr val="2C2A26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工艺工程师</a:t>
                      </a:r>
                      <a:endParaRPr lang="en-US" sz="1100"/>
                    </a:p>
                  </a:txBody>
                  <a:tcPr anchor="t" anchorCtr="0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000" b="0" i="0" u="none" strike="noStrike">
                          <a:solidFill>
                            <a:srgbClr val="2C2A26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装置工艺的知情方</a:t>
                      </a:r>
                      <a:endParaRPr lang="en-US" sz="1100"/>
                    </a:p>
                  </a:txBody>
                  <a:tcPr anchor="t" anchorCtr="0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000" b="0" i="0" u="none" strike="noStrike">
                          <a:solidFill>
                            <a:srgbClr val="2C2A26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源头定位结果是否符合工艺常识</a:t>
                      </a:r>
                      <a:endParaRPr lang="en-US" sz="1100"/>
                    </a:p>
                  </a:txBody>
                  <a:tcPr anchor="t" anchorCtr="0">
                    <a:lnL>
                      <a:noFill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86740"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000" b="1" i="0" u="none" strike="noStrike">
                          <a:solidFill>
                            <a:srgbClr val="2C2A26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工厂管理层</a:t>
                      </a:r>
                      <a:endParaRPr lang="en-US" sz="1100"/>
                    </a:p>
                  </a:txBody>
                  <a:tcPr anchor="t" anchorCtr="0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000" b="0" i="0" u="none" strike="noStrike">
                          <a:solidFill>
                            <a:srgbClr val="2C2A26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项目投入的决策方</a:t>
                      </a:r>
                      <a:endParaRPr lang="en-US" sz="1100"/>
                    </a:p>
                  </a:txBody>
                  <a:tcPr anchor="t" anchorCtr="0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000" b="0" i="0" u="none" strike="noStrike">
                          <a:solidFill>
                            <a:srgbClr val="2C2A26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非计划停机时间的降低幅度；投入产出比</a:t>
                      </a:r>
                      <a:endParaRPr lang="en-US" sz="1100"/>
                    </a:p>
                  </a:txBody>
                  <a:tcPr anchor="t" anchorCtr="0">
                    <a:lnL>
                      <a:noFill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7" name="AutoShape 7"/>
          <p:cNvSpPr/>
          <p:nvPr/>
        </p:nvSpPr>
        <p:spPr>
          <a:xfrm>
            <a:off x="508000" y="5588000"/>
            <a:ext cx="50800" cy="762000"/>
          </a:xfrm>
          <a:prstGeom prst="roundRect">
            <a:avLst>
              <a:gd name="adj" fmla="val 0"/>
            </a:avLst>
          </a:prstGeom>
          <a:solidFill>
            <a:srgbClr val="C46A2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 anchorCtr="0"/>
          <a:lstStyle/>
          <a:p>
            <a:pPr algn="ctr">
              <a:defRPr/>
            </a:pPr>
          </a:p>
        </p:txBody>
      </p:sp>
      <p:sp>
        <p:nvSpPr>
          <p:cNvPr id="8" name="AutoShape 8"/>
          <p:cNvSpPr txBox="1"/>
          <p:nvPr/>
        </p:nvSpPr>
        <p:spPr>
          <a:xfrm>
            <a:off x="711200" y="5562600"/>
            <a:ext cx="7620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200" b="1" i="0" u="none" strike="noStrike">
                <a:solidFill>
                  <a:srgbClr val="2C2A26"/>
                </a:solidFill>
                <a:latin typeface="MiSans" charset="-122"/>
                <a:ea typeface="MiSans" charset="-122"/>
                <a:cs typeface="MiSans" charset="-122"/>
                <a:sym typeface="MiSans" charset="-122"/>
              </a:rPr>
              <a:t>干系人诉求冲突如何落到指标上</a:t>
            </a:r>
            <a:endParaRPr lang="en-US" sz="1100"/>
          </a:p>
        </p:txBody>
      </p:sp>
      <p:sp>
        <p:nvSpPr>
          <p:cNvPr id="9" name="AutoShape 9"/>
          <p:cNvSpPr txBox="1"/>
          <p:nvPr/>
        </p:nvSpPr>
        <p:spPr>
          <a:xfrm>
            <a:off x="711200" y="5842000"/>
            <a:ext cx="10972800" cy="609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50000"/>
              </a:lnSpc>
              <a:defRPr/>
            </a:pPr>
            <a:r>
              <a:rPr lang="en-US" sz="1050" b="0" i="0" u="none" strike="noStrike">
                <a:solidFill>
                  <a:srgbClr val="2C2A26"/>
                </a:solidFill>
                <a:latin typeface="MiSans" charset="-122"/>
                <a:ea typeface="MiSans" charset="-122"/>
                <a:cs typeface="MiSans" charset="-122"/>
                <a:sym typeface="MiSans" charset="-122"/>
              </a:rPr>
              <a:t>操作人员要求报警数量</a:t>
            </a:r>
            <a:r>
              <a:rPr lang="en-US" sz="1050" b="1" i="0" u="none" strike="noStrike">
                <a:solidFill>
                  <a:srgbClr val="2C2A26"/>
                </a:solidFill>
                <a:latin typeface="MiSans" charset="-122"/>
                <a:ea typeface="MiSans" charset="-122"/>
                <a:cs typeface="MiSans" charset="-122"/>
                <a:sym typeface="MiSans" charset="-122"/>
              </a:rPr>
              <a:t>尽可能减少</a:t>
            </a:r>
            <a:r>
              <a:rPr lang="en-US" sz="1050" b="0" i="0" u="none" strike="noStrike">
                <a:solidFill>
                  <a:srgbClr val="2C2A26"/>
                </a:solidFill>
                <a:latin typeface="MiSans" charset="-122"/>
                <a:ea typeface="MiSans" charset="-122"/>
                <a:cs typeface="MiSans" charset="-122"/>
                <a:sym typeface="MiSans" charset="-122"/>
              </a:rPr>
              <a:t>，仪表工程师要求</a:t>
            </a:r>
            <a:r>
              <a:rPr lang="en-US" sz="1050" b="1" i="0" u="none" strike="noStrike">
                <a:solidFill>
                  <a:srgbClr val="2C2A26"/>
                </a:solidFill>
                <a:latin typeface="MiSans" charset="-122"/>
                <a:ea typeface="MiSans" charset="-122"/>
                <a:cs typeface="MiSans" charset="-122"/>
                <a:sym typeface="MiSans" charset="-122"/>
              </a:rPr>
              <a:t>避免遗漏报警</a:t>
            </a:r>
            <a:r>
              <a:rPr lang="en-US" sz="1050" b="0" i="0" u="none" strike="noStrike">
                <a:solidFill>
                  <a:srgbClr val="2C2A26"/>
                </a:solidFill>
                <a:latin typeface="MiSans" charset="-122"/>
                <a:ea typeface="MiSans" charset="-122"/>
                <a:cs typeface="MiSans" charset="-122"/>
                <a:sym typeface="MiSans" charset="-122"/>
              </a:rPr>
              <a:t>。这对冲突决定了把「压缩率 ≥ 90%」与「关键报警保留率 ≥ 98%」设为两项必须同时满足的验收指标。</a:t>
            </a:r>
            <a:endParaRPr lang="en-US" sz="11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6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 txBox="1"/>
          <p:nvPr/>
        </p:nvSpPr>
        <p:spPr>
          <a:xfrm>
            <a:off x="508000" y="304800"/>
            <a:ext cx="38100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000" b="0" i="0" u="none" strike="noStrike" spc="200">
                <a:solidFill>
                  <a:srgbClr val="7A766C"/>
                </a:solidFill>
                <a:latin typeface="MiSans" charset="-122"/>
                <a:ea typeface="MiSans" charset="-122"/>
                <a:cs typeface="MiSans" charset="-122"/>
                <a:sym typeface="MiSans" charset="-122"/>
              </a:rPr>
              <a:t>讨论 3 · 项目计划</a:t>
            </a:r>
            <a:endParaRPr lang="en-US" sz="1100"/>
          </a:p>
        </p:txBody>
      </p:sp>
      <p:sp>
        <p:nvSpPr>
          <p:cNvPr id="3" name="AutoShape 3"/>
          <p:cNvSpPr txBox="1"/>
          <p:nvPr/>
        </p:nvSpPr>
        <p:spPr>
          <a:xfrm>
            <a:off x="10922000" y="304800"/>
            <a:ext cx="7620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r">
              <a:lnSpc>
                <a:spcPct val="117000"/>
              </a:lnSpc>
              <a:defRPr/>
            </a:pPr>
            <a:r>
              <a:rPr lang="en-US" sz="1000" b="0" i="0" u="none" strike="noStrike">
                <a:solidFill>
                  <a:srgbClr val="7A766C"/>
                </a:solidFill>
                <a:latin typeface="MiSans" charset="-122"/>
                <a:ea typeface="MiSans" charset="-122"/>
                <a:cs typeface="MiSans" charset="-122"/>
                <a:sym typeface="MiSans" charset="-122"/>
              </a:rPr>
              <a:t>13 / 13</a:t>
            </a:r>
            <a:endParaRPr lang="en-US" sz="1100"/>
          </a:p>
        </p:txBody>
      </p:sp>
      <p:sp>
        <p:nvSpPr>
          <p:cNvPr id="4" name="AutoShape 4"/>
          <p:cNvSpPr txBox="1"/>
          <p:nvPr/>
        </p:nvSpPr>
        <p:spPr>
          <a:xfrm>
            <a:off x="508000" y="558800"/>
            <a:ext cx="11176000" cy="431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2400" b="1" i="0" u="none" strike="noStrike">
                <a:solidFill>
                  <a:srgbClr val="1F4E56"/>
                </a:solidFill>
                <a:latin typeface="MiSans" charset="-122"/>
                <a:ea typeface="MiSans" charset="-122"/>
                <a:cs typeface="MiSans" charset="-122"/>
                <a:sym typeface="MiSans" charset="-122"/>
              </a:rPr>
              <a:t>风险与应对：最大的不确定性排在最前面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508000" y="1117600"/>
            <a:ext cx="11176000" cy="12700"/>
          </a:xfrm>
          <a:prstGeom prst="roundRect">
            <a:avLst>
              <a:gd name="adj" fmla="val 0"/>
            </a:avLst>
          </a:prstGeom>
          <a:solidFill>
            <a:srgbClr val="DDD9C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 anchorCtr="0"/>
          <a:lstStyle/>
          <a:p>
            <a:pPr algn="ctr">
              <a:defRPr/>
            </a:pPr>
          </a:p>
        </p:txBody>
      </p:sp>
      <p:graphicFrame>
        <p:nvGraphicFramePr>
          <p:cNvPr id="6" name="Table 6"/>
          <p:cNvGraphicFramePr>
            <a:graphicFrameLocks noGrp="1"/>
          </p:cNvGraphicFramePr>
          <p:nvPr/>
        </p:nvGraphicFramePr>
        <p:xfrm>
          <a:off x="508000" y="1320800"/>
          <a:ext cx="11176000" cy="3200398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3352800"/>
                <a:gridCol w="2682240"/>
                <a:gridCol w="5140960"/>
              </a:tblGrid>
              <a:tr h="384048"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风险</a:t>
                      </a:r>
                      <a:endParaRPr lang="en-US" sz="1100"/>
                    </a:p>
                  </a:txBody>
                  <a:tcPr anchor="t" anchorCtr="0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56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影响</a:t>
                      </a:r>
                      <a:endParaRPr lang="en-US" sz="1100"/>
                    </a:p>
                  </a:txBody>
                  <a:tcPr anchor="t" anchorCtr="0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56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应对措施</a:t>
                      </a:r>
                      <a:endParaRPr lang="en-US" sz="1100"/>
                    </a:p>
                  </a:txBody>
                  <a:tcPr anchor="t" anchorCtr="0">
                    <a:lnL>
                      <a:noFill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56">
                        <a:alpha val="100000"/>
                      </a:srgbClr>
                    </a:solidFill>
                  </a:tcPr>
                </a:tc>
              </a:tr>
              <a:tr h="563270"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950" b="0" i="0" u="none" strike="noStrike">
                          <a:solidFill>
                            <a:srgbClr val="2C2A26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TEP 数据格式不一致（d00.dat 为转置存储）</a:t>
                      </a:r>
                      <a:endParaRPr lang="en-US" sz="1100"/>
                    </a:p>
                  </a:txBody>
                  <a:tcPr anchor="t" anchorCtr="0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950" b="0" i="0" u="none" strike="noStrike">
                          <a:solidFill>
                            <a:srgbClr val="2C2A26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后续所有实验数据无法对应</a:t>
                      </a:r>
                      <a:endParaRPr lang="en-US" sz="1100"/>
                    </a:p>
                  </a:txBody>
                  <a:tcPr anchor="t" anchorCtr="0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950" b="0" i="0" u="none" strike="noStrike">
                          <a:solidFill>
                            <a:srgbClr val="2C2A26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该任务排在迭代一最前面，优先解决形状问题</a:t>
                      </a:r>
                      <a:endParaRPr lang="en-US" sz="1100"/>
                    </a:p>
                  </a:txBody>
                  <a:tcPr anchor="t" anchorCtr="0">
                    <a:lnL>
                      <a:noFill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63270"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950" b="0" i="0" u="none" strike="noStrike">
                          <a:solidFill>
                            <a:srgbClr val="2C2A26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报警生成延期</a:t>
                      </a:r>
                      <a:endParaRPr lang="en-US" sz="1100"/>
                    </a:p>
                  </a:txBody>
                  <a:tcPr anchor="t" anchorCtr="0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950" b="0" i="0" u="none" strike="noStrike">
                          <a:solidFill>
                            <a:srgbClr val="2C2A26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后两个迭代全部工作停滞</a:t>
                      </a:r>
                      <a:endParaRPr lang="en-US" sz="1100"/>
                    </a:p>
                  </a:txBody>
                  <a:tcPr anchor="t" anchorCtr="0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950" b="0" i="0" u="none" strike="noStrike">
                          <a:solidFill>
                            <a:srgbClr val="2C2A26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削减范围：取消抖动报警注入，保留基本越限报警功能</a:t>
                      </a:r>
                      <a:endParaRPr lang="en-US" sz="1100"/>
                    </a:p>
                  </a:txBody>
                  <a:tcPr anchor="t" anchorCtr="0">
                    <a:lnL>
                      <a:noFill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63270"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950" b="0" i="0" u="none" strike="noStrike">
                          <a:solidFill>
                            <a:srgbClr val="2C2A26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因果检验效果不佳</a:t>
                      </a:r>
                      <a:endParaRPr lang="en-US" sz="1100"/>
                    </a:p>
                  </a:txBody>
                  <a:tcPr anchor="t" anchorCtr="0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950" b="0" i="0" u="none" strike="noStrike">
                          <a:solidFill>
                            <a:srgbClr val="2C2A26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源头定位命中率不达标</a:t>
                      </a:r>
                      <a:endParaRPr lang="en-US" sz="1100"/>
                    </a:p>
                  </a:txBody>
                  <a:tcPr anchor="t" anchorCtr="0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950" b="0" i="0" u="none" strike="noStrike">
                          <a:solidFill>
                            <a:srgbClr val="2C2A26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改用相关性分析与触发顺序相结合的方式排序</a:t>
                      </a:r>
                      <a:endParaRPr lang="en-US" sz="1100"/>
                    </a:p>
                  </a:txBody>
                  <a:tcPr anchor="t" anchorCtr="0">
                    <a:lnL>
                      <a:noFill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63270"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950" b="0" i="0" u="none" strike="noStrike">
                          <a:solidFill>
                            <a:srgbClr val="2C2A26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人力闲置后自行扩充范围</a:t>
                      </a:r>
                      <a:endParaRPr lang="en-US" sz="1100"/>
                    </a:p>
                  </a:txBody>
                  <a:tcPr anchor="t" anchorCtr="0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950" b="0" i="0" u="none" strike="noStrike">
                          <a:solidFill>
                            <a:srgbClr val="2C2A26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项目失控</a:t>
                      </a:r>
                      <a:endParaRPr lang="en-US" sz="1100"/>
                    </a:p>
                  </a:txBody>
                  <a:tcPr anchor="t" anchorCtr="0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950" b="0" i="0" u="none" strike="noStrike">
                          <a:solidFill>
                            <a:srgbClr val="2C2A26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富余人力投入看板预研与测试执行，明确禁止扩充范围</a:t>
                      </a:r>
                      <a:endParaRPr lang="en-US" sz="1100"/>
                    </a:p>
                  </a:txBody>
                  <a:tcPr anchor="t" anchorCtr="0">
                    <a:lnL>
                      <a:noFill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63270"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950" b="0" i="0" u="none" strike="noStrike">
                          <a:solidFill>
                            <a:srgbClr val="2C2A26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工期估算偏乐观</a:t>
                      </a:r>
                      <a:endParaRPr lang="en-US" sz="1100"/>
                    </a:p>
                  </a:txBody>
                  <a:tcPr anchor="t" anchorCtr="0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950" b="0" i="0" u="none" strike="noStrike">
                          <a:solidFill>
                            <a:srgbClr val="2C2A26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迭代三收尾仓促</a:t>
                      </a:r>
                      <a:endParaRPr lang="en-US" sz="1100"/>
                    </a:p>
                  </a:txBody>
                  <a:tcPr anchor="t" anchorCtr="0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950" b="0" i="0" u="none" strike="noStrike">
                          <a:solidFill>
                            <a:srgbClr val="2C2A26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已预留 5 点缓冲，迭代三末保留半天做端到端验证</a:t>
                      </a:r>
                      <a:endParaRPr lang="en-US" sz="1100"/>
                    </a:p>
                  </a:txBody>
                  <a:tcPr anchor="t" anchorCtr="0">
                    <a:lnL>
                      <a:noFill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7" name="AutoShape 7"/>
          <p:cNvSpPr/>
          <p:nvPr/>
        </p:nvSpPr>
        <p:spPr>
          <a:xfrm>
            <a:off x="508000" y="4876800"/>
            <a:ext cx="11176000" cy="12700"/>
          </a:xfrm>
          <a:prstGeom prst="roundRect">
            <a:avLst>
              <a:gd name="adj" fmla="val 0"/>
            </a:avLst>
          </a:prstGeom>
          <a:solidFill>
            <a:srgbClr val="DDD9C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 anchorCtr="0"/>
          <a:lstStyle/>
          <a:p>
            <a:pPr algn="ctr">
              <a:defRPr/>
            </a:pPr>
          </a:p>
        </p:txBody>
      </p:sp>
      <p:sp>
        <p:nvSpPr>
          <p:cNvPr id="8" name="AutoShape 8"/>
          <p:cNvSpPr txBox="1"/>
          <p:nvPr/>
        </p:nvSpPr>
        <p:spPr>
          <a:xfrm>
            <a:off x="508000" y="5054600"/>
            <a:ext cx="1270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1" i="0" u="none" strike="noStrike">
                <a:solidFill>
                  <a:srgbClr val="1F4E56"/>
                </a:solidFill>
                <a:latin typeface="MiSans" charset="-122"/>
                <a:ea typeface="MiSans" charset="-122"/>
                <a:cs typeface="MiSans" charset="-122"/>
                <a:sym typeface="MiSans" charset="-122"/>
              </a:rPr>
              <a:t>小结</a:t>
            </a:r>
            <a:endParaRPr lang="en-US" sz="1100"/>
          </a:p>
        </p:txBody>
      </p:sp>
      <p:sp>
        <p:nvSpPr>
          <p:cNvPr id="9" name="AutoShape 9"/>
          <p:cNvSpPr txBox="1"/>
          <p:nvPr/>
        </p:nvSpPr>
        <p:spPr>
          <a:xfrm>
            <a:off x="508000" y="5435600"/>
            <a:ext cx="254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2000" b="1" i="0" u="none" strike="noStrike">
                <a:solidFill>
                  <a:srgbClr val="C46A2B"/>
                </a:solidFill>
                <a:latin typeface="MiSans" charset="-122"/>
                <a:ea typeface="MiSans" charset="-122"/>
                <a:cs typeface="MiSans" charset="-122"/>
                <a:sym typeface="MiSans" charset="-122"/>
              </a:rPr>
              <a:t>10 / 31</a:t>
            </a:r>
            <a:endParaRPr lang="en-US" sz="1100"/>
          </a:p>
        </p:txBody>
      </p:sp>
      <p:sp>
        <p:nvSpPr>
          <p:cNvPr id="10" name="AutoShape 10"/>
          <p:cNvSpPr txBox="1"/>
          <p:nvPr/>
        </p:nvSpPr>
        <p:spPr>
          <a:xfrm>
            <a:off x="508000" y="5842000"/>
            <a:ext cx="254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42000"/>
              </a:lnSpc>
              <a:defRPr/>
            </a:pPr>
            <a:r>
              <a:rPr lang="en-US" sz="950" b="0" i="0" u="none" strike="noStrike">
                <a:solidFill>
                  <a:srgbClr val="7A766C"/>
                </a:solidFill>
                <a:latin typeface="MiSans" charset="-122"/>
                <a:ea typeface="MiSans" charset="-122"/>
                <a:cs typeface="MiSans" charset="-122"/>
                <a:sym typeface="MiSans" charset="-122"/>
              </a:rPr>
              <a:t>范围：16 条用户故事纳入 10 条，共 31 个故事点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3302000" y="5435600"/>
            <a:ext cx="12700" cy="889000"/>
          </a:xfrm>
          <a:prstGeom prst="roundRect">
            <a:avLst>
              <a:gd name="adj" fmla="val 0"/>
            </a:avLst>
          </a:prstGeom>
          <a:solidFill>
            <a:srgbClr val="DDD9C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 anchorCtr="0"/>
          <a:lstStyle/>
          <a:p>
            <a:pPr algn="ctr">
              <a:defRPr/>
            </a:pPr>
          </a:p>
        </p:txBody>
      </p:sp>
      <p:sp>
        <p:nvSpPr>
          <p:cNvPr id="12" name="AutoShape 12"/>
          <p:cNvSpPr txBox="1"/>
          <p:nvPr/>
        </p:nvSpPr>
        <p:spPr>
          <a:xfrm>
            <a:off x="3556000" y="5435600"/>
            <a:ext cx="254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2000" b="1" i="0" u="none" strike="noStrike">
                <a:solidFill>
                  <a:srgbClr val="C46A2B"/>
                </a:solidFill>
                <a:latin typeface="MiSans" charset="-122"/>
                <a:ea typeface="MiSans" charset="-122"/>
                <a:cs typeface="MiSans" charset="-122"/>
                <a:sym typeface="MiSans" charset="-122"/>
              </a:rPr>
              <a:t>3 × 2 天</a:t>
            </a:r>
            <a:endParaRPr lang="en-US" sz="1100"/>
          </a:p>
        </p:txBody>
      </p:sp>
      <p:sp>
        <p:nvSpPr>
          <p:cNvPr id="13" name="AutoShape 13"/>
          <p:cNvSpPr txBox="1"/>
          <p:nvPr/>
        </p:nvSpPr>
        <p:spPr>
          <a:xfrm>
            <a:off x="3556000" y="5842000"/>
            <a:ext cx="254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42000"/>
              </a:lnSpc>
              <a:defRPr/>
            </a:pPr>
            <a:r>
              <a:rPr lang="en-US" sz="950" b="0" i="0" u="none" strike="noStrike">
                <a:solidFill>
                  <a:srgbClr val="7A766C"/>
                </a:solidFill>
                <a:latin typeface="MiSans" charset="-122"/>
                <a:ea typeface="MiSans" charset="-122"/>
                <a:cs typeface="MiSans" charset="-122"/>
                <a:sym typeface="MiSans" charset="-122"/>
              </a:rPr>
              <a:t>迭代：3 个迭代，每个迭代末交付可运行的增量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6350000" y="5435600"/>
            <a:ext cx="12700" cy="889000"/>
          </a:xfrm>
          <a:prstGeom prst="roundRect">
            <a:avLst>
              <a:gd name="adj" fmla="val 0"/>
            </a:avLst>
          </a:prstGeom>
          <a:solidFill>
            <a:srgbClr val="DDD9C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 anchorCtr="0"/>
          <a:lstStyle/>
          <a:p>
            <a:pPr algn="ctr">
              <a:defRPr/>
            </a:pPr>
          </a:p>
        </p:txBody>
      </p:sp>
      <p:sp>
        <p:nvSpPr>
          <p:cNvPr id="15" name="AutoShape 15"/>
          <p:cNvSpPr txBox="1"/>
          <p:nvPr/>
        </p:nvSpPr>
        <p:spPr>
          <a:xfrm>
            <a:off x="6604000" y="5435600"/>
            <a:ext cx="254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2000" b="1" i="0" u="none" strike="noStrike">
                <a:solidFill>
                  <a:srgbClr val="C46A2B"/>
                </a:solidFill>
                <a:latin typeface="MiSans" charset="-122"/>
                <a:ea typeface="MiSans" charset="-122"/>
                <a:cs typeface="MiSans" charset="-122"/>
                <a:sym typeface="MiSans" charset="-122"/>
              </a:rPr>
              <a:t>3 类角色</a:t>
            </a:r>
            <a:endParaRPr lang="en-US" sz="1100"/>
          </a:p>
        </p:txBody>
      </p:sp>
      <p:sp>
        <p:nvSpPr>
          <p:cNvPr id="16" name="AutoShape 16"/>
          <p:cNvSpPr txBox="1"/>
          <p:nvPr/>
        </p:nvSpPr>
        <p:spPr>
          <a:xfrm>
            <a:off x="6604000" y="5842000"/>
            <a:ext cx="254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42000"/>
              </a:lnSpc>
              <a:defRPr/>
            </a:pPr>
            <a:r>
              <a:rPr lang="en-US" sz="950" b="0" i="0" u="none" strike="noStrike">
                <a:solidFill>
                  <a:srgbClr val="7A766C"/>
                </a:solidFill>
                <a:latin typeface="MiSans" charset="-122"/>
                <a:ea typeface="MiSans" charset="-122"/>
                <a:cs typeface="MiSans" charset="-122"/>
                <a:sym typeface="MiSans" charset="-122"/>
              </a:rPr>
              <a:t>分工：产品负责人、Scrum Master、开发团队，责任到人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9398000" y="5435600"/>
            <a:ext cx="12700" cy="889000"/>
          </a:xfrm>
          <a:prstGeom prst="roundRect">
            <a:avLst>
              <a:gd name="adj" fmla="val 0"/>
            </a:avLst>
          </a:prstGeom>
          <a:solidFill>
            <a:srgbClr val="DDD9C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 anchorCtr="0"/>
          <a:lstStyle/>
          <a:p>
            <a:pPr algn="ctr">
              <a:defRPr/>
            </a:pPr>
          </a:p>
        </p:txBody>
      </p:sp>
      <p:sp>
        <p:nvSpPr>
          <p:cNvPr id="18" name="AutoShape 18"/>
          <p:cNvSpPr txBox="1"/>
          <p:nvPr/>
        </p:nvSpPr>
        <p:spPr>
          <a:xfrm>
            <a:off x="9652000" y="5435600"/>
            <a:ext cx="203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2000" b="1" i="0" u="none" strike="noStrike">
                <a:solidFill>
                  <a:srgbClr val="C46A2B"/>
                </a:solidFill>
                <a:latin typeface="MiSans" charset="-122"/>
                <a:ea typeface="MiSans" charset="-122"/>
                <a:cs typeface="MiSans" charset="-122"/>
                <a:sym typeface="MiSans" charset="-122"/>
              </a:rPr>
              <a:t>M0–M3</a:t>
            </a:r>
            <a:endParaRPr lang="en-US" sz="1100"/>
          </a:p>
        </p:txBody>
      </p:sp>
      <p:sp>
        <p:nvSpPr>
          <p:cNvPr id="19" name="AutoShape 19"/>
          <p:cNvSpPr txBox="1"/>
          <p:nvPr/>
        </p:nvSpPr>
        <p:spPr>
          <a:xfrm>
            <a:off x="9652000" y="5842000"/>
            <a:ext cx="203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42000"/>
              </a:lnSpc>
              <a:defRPr/>
            </a:pPr>
            <a:r>
              <a:rPr lang="en-US" sz="950" b="0" i="0" u="none" strike="noStrike">
                <a:solidFill>
                  <a:srgbClr val="7A766C"/>
                </a:solidFill>
                <a:latin typeface="MiSans" charset="-122"/>
                <a:ea typeface="MiSans" charset="-122"/>
                <a:cs typeface="MiSans" charset="-122"/>
                <a:sym typeface="MiSans" charset="-122"/>
              </a:rPr>
              <a:t>里程碑：四个节点，对应四次可验证的交付</a:t>
            </a:r>
            <a:endParaRPr lang="en-US" sz="1100"/>
          </a:p>
        </p:txBody>
      </p:sp>
      <p:sp>
        <p:nvSpPr>
          <p:cNvPr id="20" name="AutoShape 20"/>
          <p:cNvSpPr txBox="1"/>
          <p:nvPr/>
        </p:nvSpPr>
        <p:spPr>
          <a:xfrm>
            <a:off x="508000" y="6502400"/>
            <a:ext cx="111760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ctr">
              <a:lnSpc>
                <a:spcPct val="117000"/>
              </a:lnSpc>
              <a:defRPr/>
            </a:pPr>
            <a:r>
              <a:rPr lang="en-US" sz="900" b="0" i="0" u="none" strike="noStrike">
                <a:solidFill>
                  <a:srgbClr val="7A766C"/>
                </a:solidFill>
                <a:latin typeface="MiSans" charset="-122"/>
                <a:ea typeface="MiSans" charset="-122"/>
                <a:cs typeface="MiSans" charset="-122"/>
                <a:sym typeface="MiSans" charset="-122"/>
              </a:rPr>
              <a:t>讨论 3 · 项目计划 —— 工业报警洪水治理系统 · 汇报完毕，请批评指正</a:t>
            </a:r>
            <a:endParaRPr lang="en-US" sz="110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156,&quot;left&quot;:40,&quot;top&quot;:150,&quot;width&quot;:880}"/>
</p:tagLst>
</file>

<file path=ppt/tags/tag2.xml><?xml version="1.0" encoding="utf-8"?>
<p:tagLst xmlns:p="http://schemas.openxmlformats.org/presentationml/2006/main">
  <p:tag name="KSO_WM_DIAGRAM_VIRTUALLY_FRAME" val="{&quot;height&quot;:156,&quot;left&quot;:40,&quot;top&quot;:150,&quot;width&quot;:880}"/>
</p:tagLst>
</file>

<file path=ppt/tags/tag3.xml><?xml version="1.0" encoding="utf-8"?>
<p:tagLst xmlns:p="http://schemas.openxmlformats.org/presentationml/2006/main">
  <p:tag name="KSO_WM_DIAGRAM_VIRTUALLY_FRAME" val="{&quot;height&quot;:156,&quot;left&quot;:40,&quot;top&quot;:150,&quot;width&quot;:880}"/>
</p:tagLst>
</file>

<file path=ppt/tags/tag4.xml><?xml version="1.0" encoding="utf-8"?>
<p:tagLst xmlns:p="http://schemas.openxmlformats.org/presentationml/2006/main">
  <p:tag name="KSO_WM_DIAGRAM_VIRTUALLY_FRAME" val="{&quot;height&quot;:156,&quot;left&quot;:40,&quot;top&quot;:150,&quot;width&quot;:880}"/>
</p:tagLst>
</file>

<file path=ppt/tags/tag5.xml><?xml version="1.0" encoding="utf-8"?>
<p:tagLst xmlns:p="http://schemas.openxmlformats.org/presentationml/2006/main">
  <p:tag name="KSO_WM_DIAGRAM_VIRTUALLY_FRAME" val="{&quot;height&quot;:156,&quot;left&quot;:40,&quot;top&quot;:150,&quot;width&quot;:880}"/>
</p:tagLst>
</file>

<file path=ppt/tags/tag6.xml><?xml version="1.0" encoding="utf-8"?>
<p:tagLst xmlns:p="http://schemas.openxmlformats.org/presentationml/2006/main">
  <p:tag name="KSO_WM_DIAGRAM_VIRTUALLY_FRAME" val="{&quot;height&quot;:156,&quot;left&quot;:40,&quot;top&quot;:150,&quot;width&quot;:880}"/>
</p:tagLst>
</file>

<file path=ppt/tags/tag7.xml><?xml version="1.0" encoding="utf-8"?>
<p:tagLst xmlns:p="http://schemas.openxmlformats.org/presentationml/2006/main">
  <p:tag name="KSO_WM_DIAGRAM_VIRTUALLY_FRAME" val="{&quot;height&quot;:156,&quot;left&quot;:40,&quot;top&quot;:150,&quot;width&quot;:880}"/>
</p:tagLst>
</file>

<file path=ppt/tags/tag8.xml><?xml version="1.0" encoding="utf-8"?>
<p:tagLst xmlns:p="http://schemas.openxmlformats.org/presentationml/2006/main">
  <p:tag name="KSO_WM_DIAGRAM_VIRTUALLY_FRAME" val="{&quot;height&quot;:156,&quot;left&quot;:40,&quot;top&quot;:150,&quot;width&quot;:880}"/>
</p:tagLst>
</file>

<file path=ppt/tags/tag9.xml><?xml version="1.0" encoding="utf-8"?>
<p:tagLst xmlns:p="http://schemas.openxmlformats.org/presentationml/2006/main">
  <p:tag name="KSO_WM_DIAGRAM_VIRTUALLY_FRAME" val="{&quot;height&quot;:156,&quot;left&quot;:40,&quot;top&quot;:150,&quot;width&quot;:880}"/>
</p:tagLst>
</file>

<file path=ppt/tags/tag10.xml><?xml version="1.0" encoding="utf-8"?>
<p:tagLst xmlns:p="http://schemas.openxmlformats.org/presentationml/2006/main">
  <p:tag name="KSO_WM_DIAGRAM_VIRTUALLY_FRAME" val="{&quot;height&quot;:156,&quot;left&quot;:40,&quot;top&quot;:150,&quot;width&quot;:880}"/>
</p:tagLst>
</file>

<file path=ppt/tags/tag11.xml><?xml version="1.0" encoding="utf-8"?>
<p:tagLst xmlns:p="http://schemas.openxmlformats.org/presentationml/2006/main">
  <p:tag name="KSO_WM_DIAGRAM_VIRTUALLY_FRAME" val="{&quot;height&quot;:156,&quot;left&quot;:40,&quot;top&quot;:150,&quot;width&quot;:880}"/>
</p:tagLst>
</file>

<file path=ppt/tags/tag12.xml><?xml version="1.0" encoding="utf-8"?>
<p:tagLst xmlns:p="http://schemas.openxmlformats.org/presentationml/2006/main">
  <p:tag name="KSO_WM_DIAGRAM_VIRTUALLY_FRAME" val="{&quot;height&quot;:156,&quot;left&quot;:40,&quot;top&quot;:150,&quot;width&quot;:880}"/>
</p:tagLst>
</file>

<file path=ppt/tags/tag13.xml><?xml version="1.0" encoding="utf-8"?>
<p:tagLst xmlns:p="http://schemas.openxmlformats.org/presentationml/2006/main">
  <p:tag name="KSO_WM_DIAGRAM_VIRTUALLY_FRAME" val="{&quot;height&quot;:156,&quot;left&quot;:40,&quot;top&quot;:150,&quot;width&quot;:880}"/>
</p:tagLst>
</file>

<file path=ppt/tags/tag14.xml><?xml version="1.0" encoding="utf-8"?>
<p:tagLst xmlns:p="http://schemas.openxmlformats.org/presentationml/2006/main">
  <p:tag name="KSO_WM_DIAGRAM_VIRTUALLY_FRAME" val="{&quot;height&quot;:156,&quot;left&quot;:40,&quot;top&quot;:150,&quot;width&quot;:880}"/>
</p:tagLst>
</file>

<file path=ppt/tags/tag15.xml><?xml version="1.0" encoding="utf-8"?>
<p:tagLst xmlns:p="http://schemas.openxmlformats.org/presentationml/2006/main">
  <p:tag name="KSO_WM_DIAGRAM_VIRTUALLY_FRAME" val="{&quot;height&quot;:156,&quot;left&quot;:40,&quot;top&quot;:150,&quot;width&quot;:880}"/>
</p:tagLst>
</file>

<file path=ppt/tags/tag16.xml><?xml version="1.0" encoding="utf-8"?>
<p:tagLst xmlns:p="http://schemas.openxmlformats.org/presentationml/2006/main">
  <p:tag name="KSO_WM_DIAGRAM_VIRTUALLY_FRAME" val="{&quot;height&quot;:156,&quot;left&quot;:40,&quot;top&quot;:150,&quot;width&quot;:880}"/>
</p:tagLst>
</file>

<file path=ppt/tags/tag17.xml><?xml version="1.0" encoding="utf-8"?>
<p:tagLst xmlns:p="http://schemas.openxmlformats.org/presentationml/2006/main">
  <p:tag name="KSO_WM_DIAGRAM_VIRTUALLY_FRAME" val="{&quot;height&quot;:156,&quot;left&quot;:40,&quot;top&quot;:150,&quot;width&quot;:880}"/>
</p:tagLst>
</file>

<file path=ppt/tags/tag18.xml><?xml version="1.0" encoding="utf-8"?>
<p:tagLst xmlns:p="http://schemas.openxmlformats.org/presentationml/2006/main">
  <p:tag name="KSO_WM_DIAGRAM_VIRTUALLY_FRAME" val="{&quot;height&quot;:156,&quot;left&quot;:40,&quot;top&quot;:150,&quot;width&quot;:880}"/>
</p:tagLst>
</file>

<file path=ppt/tags/tag19.xml><?xml version="1.0" encoding="utf-8"?>
<p:tagLst xmlns:p="http://schemas.openxmlformats.org/presentationml/2006/main">
  <p:tag name="KSO_WM_DIAGRAM_VIRTUALLY_FRAME" val="{&quot;height&quot;:156,&quot;left&quot;:40,&quot;top&quot;:150,&quot;width&quot;:880}"/>
</p:tagLst>
</file>

<file path=ppt/tags/tag20.xml><?xml version="1.0" encoding="utf-8"?>
<p:tagLst xmlns:p="http://schemas.openxmlformats.org/presentationml/2006/main">
  <p:tag name="KSO_WM_DIAGRAM_VIRTUALLY_FRAME" val="{&quot;height&quot;:156,&quot;left&quot;:40,&quot;top&quot;:150,&quot;width&quot;:880}"/>
</p:tagLst>
</file>

<file path=ppt/tags/tag21.xml><?xml version="1.0" encoding="utf-8"?>
<p:tagLst xmlns:p="http://schemas.openxmlformats.org/presentationml/2006/main">
  <p:tag name="KSO_WM_DIAGRAM_VIRTUALLY_FRAME" val="{&quot;height&quot;:156,&quot;left&quot;:40,&quot;top&quot;:150,&quot;width&quot;:880}"/>
</p:tagLst>
</file>

<file path=ppt/tags/tag22.xml><?xml version="1.0" encoding="utf-8"?>
<p:tagLst xmlns:p="http://schemas.openxmlformats.org/presentationml/2006/main">
  <p:tag name="KSO_WM_DIAGRAM_VIRTUALLY_FRAME" val="{&quot;height&quot;:156,&quot;left&quot;:40,&quot;top&quot;:150,&quot;width&quot;:880}"/>
</p:tagLst>
</file>

<file path=ppt/tags/tag23.xml><?xml version="1.0" encoding="utf-8"?>
<p:tagLst xmlns:p="http://schemas.openxmlformats.org/presentationml/2006/main">
  <p:tag name="KSO_WM_DIAGRAM_VIRTUALLY_FRAME" val="{&quot;height&quot;:156,&quot;left&quot;:40,&quot;top&quot;:150,&quot;width&quot;:880}"/>
</p:tagLst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PPTD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7787</Words>
  <Application>WPS 演示</Application>
  <PresentationFormat/>
  <Paragraphs>977</Paragraphs>
  <Slides>13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13</vt:i4>
      </vt:variant>
    </vt:vector>
  </HeadingPairs>
  <TitlesOfParts>
    <vt:vector size="23" baseType="lpstr">
      <vt:lpstr>Arial</vt:lpstr>
      <vt:lpstr>宋体</vt:lpstr>
      <vt:lpstr>Wingdings</vt:lpstr>
      <vt:lpstr>Arial</vt:lpstr>
      <vt:lpstr>MiSans</vt:lpstr>
      <vt:lpstr>Times New Roman</vt:lpstr>
      <vt:lpstr>微软雅黑</vt:lpstr>
      <vt:lpstr>Arial Unicode MS</vt:lpstr>
      <vt:lpstr>Office 主题​​</vt:lpstr>
      <vt:lpstr>PPTD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郑子唯</cp:lastModifiedBy>
  <cp:revision>9</cp:revision>
  <dcterms:created xsi:type="dcterms:W3CDTF">2026-10-11T10:44:00Z</dcterms:created>
  <dcterms:modified xsi:type="dcterms:W3CDTF">2026-10-11T12:46:22Z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{"Label":"1","ContentProducer":"001191110102MACQD9K64010000","ProduceID":"7695360361377598394","ReservedCode1":"","ContentPropagator":"","PropagateID":"","ReservedCode2":""}</vt:lpwstr>
  </property>
  <property fmtid="{D5CDD505-2E9C-101B-9397-08002B2CF9AE}" pid="3" name="ICV">
    <vt:lpwstr>1D6E545A31F74C61B7B81BB013BA3EAA_12</vt:lpwstr>
  </property>
  <property fmtid="{D5CDD505-2E9C-101B-9397-08002B2CF9AE}" pid="4" name="KSOProductBuildVer">
    <vt:lpwstr>2052-12.1.0.28505</vt:lpwstr>
  </property>
</Properties>
</file>