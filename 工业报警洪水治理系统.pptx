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9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8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各位老师、同学好，我们组的项目是工业报警洪水治理系统。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一句话讲，工厂装置一出问题，DCS 短时间会刷出几千条报警，操作员根本看不过来，真正要命的那几条就被淹掉了。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我们做的工具，就是把这几千条报警压缩成几十条、并排出最可能的根因，最后用一个网页完整演示从原始数据到结论的全过程。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它不追求全自动，最后拍板的还是人——我们给的是排好序的线索，不是替操作员做决定。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这一页讲我们到底要做什么。背景是：控制室一台装置出问题，DCS 短时间刷几千条报警，操作员看不过来，真正要命的几条被淹掉。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我们的工具拿到一段装置运行数据，做三件事：第一，找出哪些测点表现异常；第二，把刷屏报警合并成几十条有意义的报警簇；第三，对每簇给出最可能先出问题的测点，排一个 Top-3。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最终做成网页，现场演示从原始数据到结论的全过程。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需要强调定位：我们不追求全自动，最后拍板的还是人。系统给的是排好序的线索，不是替操作员做决定。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我们调研了三条线。第一，工厂里的报警管理软件：DCS 一般自带报警管理模块，能做抑制和分级，但本质还是规则驱动、靠人配。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第二，学术界的报警管理研究：流程控制领域做了十几年，代表性思路是把设备连接关系和报警日志放一起分析来减报警，但多数是统计和规则方法，没怎么用机器学习。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第三，学术界的时序异常检测：这块论文特别多，公开榜单指标也很高，但输出基本就是一个异常分数或标出哪段异常，拿不到“是哪个测点引起的”这个答案。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小结：报警管理方法偏老，异常检测输出偏浅，中间留了个空档。我们想做的就是把这两边接起来。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这一页是系统的完整流水线，四个功能按周次排开。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第一周做报警日志生成：TEP 原始数据是连续曲线，没有报警概念，我们按每个变量的高低限越限记一条报警，并注入抖动和重复报警这两种现场真实毛病，产出带“是否与根因有关”标注的日志——因为用的是带已知故障的数据，这个标注我们拿得到，真实工厂几乎拿不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第二周做报警压缩：时间维用 DBSCAN，不用预先指定簇数；变量维用层次聚类，距离取相关系数。考核同时看压缩率和关键报警保留率，单看压缩率会被骗——全丢掉就是 100%。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第二到三周做根因排序：Granger 因果检验看谁先变，再加触发顺序加权，两个分数相加排 Top-3，目标 Top-1 五成、Top-3 八成。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第三周用 Streamlit 做看板，三个页面：洪水时间轴、报警簇列表、根因 Top-3。这是演示的门面。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我们的创新点不是追求模型多新，而是每一个都堵一个真漏洞，讲四点。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第一，压缩率必须和保留率一起看——全删报警压缩率就是 100%，我们把保留率绑进来，堵住这个空子。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第二，多做一步，从“哪里不正常”走到“谁引起的”。异常检测论文停在分数，操作员要的是去查哪个点。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第三，我们按 DCS 越限机理反推报警，反而拿到了真实工厂几乎拿不到的标注——每条报警和真根因的关系是已知的，这一点答辩时我们主动讲。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第四，排序里掺了工艺常识，加了“一个簇里谁先触发”的信号，工程师一眼就能判断符不符合他的经验，结果站得住。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这一页是项目干系人，列了七类人各自是谁、关心什么。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工厂操作员是报警的直接承受者；仪表自动化工程师是系统进厂要过的关；工艺工程师最懂装置，是天然验收人；管理层决定花不花钱；指导老师和评审关心方法规范和演示；开源社区是我们用到的工具的作者。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值得单独说：操作员要的是“报警再少点”，工程师要的是“千万别漏报”，这两个诉求是打架的。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正因为这两个人的关注点冲突，我们才把压缩率和保留率设成一对必须同时满足的指标，而不是去优化其中一个数——这是干系人分析反过来影响功能设计的一个例子。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 Scrum 角色和分工。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P1 当 Product Owner，定优先级、管验收口径、对外沟通；P2 当 Scrum Master，主持站会清障记录过程。两块开发：P2、P3 做数据与报警，负责 TEP 接入和报警日志生成器；P4、P5 做压缩与根因；P6 做 Streamlit 看板和端到端联调。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两点说明：第一，P1 兼 PO、P2 兼 SM，不额外占人。第二，第 1 周 P2、P3 一起把报警生成做出来，之后 P2 转去做异常检测基线，P3 去搭评测体系——因为第 1 周只有这一个活，但所有人都卡在它后面。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我们有一条纪律：每个 Sprint 结束要交能跑的东西，不是交一份 PPT。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82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914400" y="9906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4CDB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PROCESS ALARM FLOOD · GOVERNANCE SYSTEM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5230">
            <a:off x="939842" y="1517650"/>
            <a:ext cx="96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4E92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914400" y="2387600"/>
            <a:ext cx="1041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5600" b="1" i="0" u="none" strike="noStrike">
                <a:solidFill>
                  <a:srgbClr val="F5F7F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工业报警洪水治理系统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14400" y="4191000"/>
            <a:ext cx="914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BECD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把装置扰动时刷出的几千条报警，压成几十条带根因排序的可执行线索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33">
            <a:off x="939804" y="5657850"/>
            <a:ext cx="1031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14400" y="58674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AB9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团队名称：＿＿＿＿＿　｜　成员：＿＿＿＿＿＿＿＿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712200" y="5867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AB9A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2026 · 课程项目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" y="6350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D927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 · WHAT WE BUILD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914400" y="9144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</a:t>
            </a:r>
            <a:r>
              <a:rPr lang="zh-CN" altLang="en-US" sz="28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</a:t>
            </a:r>
            <a:endParaRPr lang="zh-CN" altLang="en-US" sz="2800" b="1" i="0" u="none" strike="noStrike">
              <a:solidFill>
                <a:srgbClr val="0D282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12">
            <a:off x="914404" y="1619250"/>
            <a:ext cx="1036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4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914400" y="1854200"/>
            <a:ext cx="10363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工厂控制室里，一台装置出问题时，DCS 会在很短时间内刷出几千条报警。操作员根本看不过来，真正要命的那几条就淹在了里面。给它一段装置运行数据，工具做三件事：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14400" y="2946400"/>
            <a:ext cx="152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0D282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14400" y="37592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找出异常测点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14400" y="41402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从运行曲线里识别哪些测点的表现不正常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75445">
            <a:off x="3429000" y="3930673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4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4673600" y="2946400"/>
            <a:ext cx="152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0D282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73600" y="37592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合并成报警簇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73600" y="41402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把刷屏的几千条报警，合并成几十条有意义的报警簇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75445">
            <a:off x="7188200" y="3930673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4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8432800" y="2946400"/>
            <a:ext cx="152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0D282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432800" y="37592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根因 Top-3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432800" y="4140200"/>
            <a:ext cx="2844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对每一簇给出最可能是哪个测点先出的问题，排前三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68400" y="5308600"/>
            <a:ext cx="1016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212">
            <a:off x="914404" y="6343650"/>
            <a:ext cx="1036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4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914400" y="64516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D92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工业报警洪水治理系统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007600" y="64516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D927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/ 12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" y="6350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D927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 · RELATED WORK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914400" y="9144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目前学界</a:t>
            </a:r>
            <a:r>
              <a:rPr lang="zh-CN" altLang="en-US" sz="28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</a:t>
            </a:r>
            <a:endParaRPr lang="zh-CN" altLang="en-US" sz="2800" b="1" i="0" u="none" strike="noStrike">
              <a:solidFill>
                <a:srgbClr val="0D282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12">
            <a:off x="914404" y="1619250"/>
            <a:ext cx="1036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4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914400" y="19304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D927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PLANT-SIDE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14400" y="2235200"/>
            <a:ext cx="304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7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工厂自带报警管理软件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14400" y="3048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DCS 自带报警管理模块，能做报警抑制、报警分级。本质还是规则驱动，靠人一条条配。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84373">
            <a:off x="2870200" y="3422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4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572000" y="19304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D927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ACADEMIA · ALARM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2235200"/>
            <a:ext cx="304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7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学术界的报警管理研究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3048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流程控制领域做了十几年，把设备连接关系和报警日志放一起分析来减报警。多为统计与规则方法，没怎么用机器学习。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84373">
            <a:off x="6527800" y="3422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4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229600" y="19304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D927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ACADEMIA · ANOMALY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29600" y="2235200"/>
            <a:ext cx="304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7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学术界的时序异常检测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29600" y="3048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论文多、公开榜单指标刷得高，但输出基本只是一个异常分数或一段异常区间，拿不到“是哪个测点引起的”。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14400" y="5130800"/>
            <a:ext cx="10363200" cy="9144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219200" y="5308600"/>
            <a:ext cx="254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500" b="1" i="0" u="none" strike="noStrike">
                <a:solidFill>
                  <a:srgbClr val="D4E9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</a:t>
            </a:r>
            <a:r>
              <a:rPr lang="zh-CN" altLang="en-US" sz="1500" b="1" i="0" u="none" strike="noStrike">
                <a:solidFill>
                  <a:srgbClr val="D4E9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</a:t>
            </a:r>
            <a:endParaRPr lang="zh-CN" altLang="en-US" sz="1500" b="1" i="0" u="none" strike="noStrike">
              <a:solidFill>
                <a:srgbClr val="D4E9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683000" y="5308600"/>
            <a:ext cx="736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BE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报警管理这边方法偏老、靠人配；异常检测这边输出偏浅、只给分数。</a:t>
            </a:r>
            <a:r>
              <a:rPr lang="en-US" sz="1400" b="1" i="0" u="none" strike="noStrike">
                <a:solidFill>
                  <a:srgbClr val="E6EBE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我们要做的，就是把这两边接起来。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212">
            <a:off x="914404" y="6343650"/>
            <a:ext cx="1036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4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914400" y="64516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D92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工业报警洪水治理系统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007600" y="64516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D927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 / 12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" y="6350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D927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07 · SYSTEM PIPELINE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914400" y="9144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6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项目的</a:t>
            </a:r>
            <a:r>
              <a:rPr lang="zh-CN" altLang="en-US" sz="26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</a:t>
            </a:r>
            <a:endParaRPr lang="zh-CN" altLang="en-US" sz="2600" b="1" i="0" u="none" strike="noStrike">
              <a:solidFill>
                <a:srgbClr val="0D282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12">
            <a:off x="914404" y="1593850"/>
            <a:ext cx="1036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4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7D92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TEP 原始</a:t>
            </a:r>
            <a:br>
              <a:rPr lang="en-US" sz="1100" b="0" i="0" u="none" strike="noStrike">
                <a:solidFill>
                  <a:srgbClr val="7D92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7D92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连续数值曲线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14074">
            <a:off x="508000" y="2787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D927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762000" y="3048000"/>
            <a:ext cx="2362200" cy="2260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39800" y="3200400"/>
            <a:ext cx="2006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9302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WEEK 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39800" y="3454400"/>
            <a:ext cx="2006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报警日志生成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9800" y="3810000"/>
            <a:ext cx="2006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按变量高/低限越限触发；注入抖动、重复报警；输出带「是否与根因有关」标注的日志。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14549">
            <a:off x="3149706" y="41719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2825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2" name="AutoShape 12"/>
          <p:cNvSpPr/>
          <p:nvPr/>
        </p:nvSpPr>
        <p:spPr>
          <a:xfrm>
            <a:off x="3556000" y="3048000"/>
            <a:ext cx="2362200" cy="2260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733800" y="3200400"/>
            <a:ext cx="2006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9302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WEEK 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733800" y="3454400"/>
            <a:ext cx="2006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报警压缩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733800" y="3810000"/>
            <a:ext cx="2006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时间维 DBSCAN + 变量维层次聚类（相关系数距离），合成几十个报警簇。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14549">
            <a:off x="5943706" y="41719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2825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7" name="AutoShape 17"/>
          <p:cNvSpPr/>
          <p:nvPr/>
        </p:nvSpPr>
        <p:spPr>
          <a:xfrm>
            <a:off x="6350000" y="3048000"/>
            <a:ext cx="2362200" cy="2260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527800" y="3200400"/>
            <a:ext cx="2006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9302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WEEK 2–3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27800" y="3454400"/>
            <a:ext cx="2006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根因排序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27800" y="3810000"/>
            <a:ext cx="2006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Granger 因果检验（谁先变）+ 触发顺序加权（源头先触发），合成分数排 Top-3。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14549">
            <a:off x="8737706" y="41719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2825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2" name="AutoShape 22"/>
          <p:cNvSpPr/>
          <p:nvPr/>
        </p:nvSpPr>
        <p:spPr>
          <a:xfrm>
            <a:off x="9144000" y="3048000"/>
            <a:ext cx="2362200" cy="22606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321800" y="3200400"/>
            <a:ext cx="2006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D4E92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WEEK 3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321800" y="3454400"/>
            <a:ext cx="2006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5F7F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 Streamlit 看板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321800" y="3810000"/>
            <a:ext cx="2006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C8D4C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洪水时间轴（上原始 / 下压缩）、报警簇列表、根因 Top-3 与排序依据。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588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7D92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压缩双指标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5842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压缩率 ≥ 90%　·　关键报警保留率 ≥ 98%（缺一不可）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604000" y="5588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7D92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根因命中率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04000" y="5842000"/>
            <a:ext cx="4673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Top-1 ≥ 50%　·　Top-3 ≥ 80%，含退路方案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4212">
            <a:off x="914404" y="6343650"/>
            <a:ext cx="1036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4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914400" y="64516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D92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工业报警洪水治理系统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0007600" y="64516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D927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08 / 12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" y="6350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D927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08 · WHAT'S NEW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914400" y="9144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创新点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12">
            <a:off x="914404" y="1619250"/>
            <a:ext cx="1036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4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914400" y="1905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7D927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778000" y="1905000"/>
            <a:ext cx="9499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</a:t>
            </a:r>
            <a:r>
              <a:rPr lang="en-US" sz="16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压缩率和保留率</a:t>
            </a:r>
            <a:r>
              <a:rPr lang="zh-CN" altLang="en-US" sz="16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</a:t>
            </a:r>
            <a:endParaRPr lang="zh-CN" altLang="en-US" sz="1600" b="1" i="0" u="none" strike="noStrike">
              <a:solidFill>
                <a:srgbClr val="0D282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1778000" y="2286000"/>
            <a:ext cx="949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把所有报警都丢掉，压缩率就是 100%。</a:t>
            </a:r>
            <a:r>
              <a:rPr lang="zh-CN" alt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</a:t>
            </a:r>
            <a:r>
              <a:rPr 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关键报警保留率绑进来一起考核，</a:t>
            </a:r>
            <a:r>
              <a:rPr lang="zh-CN" alt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弥补</a:t>
            </a:r>
            <a:r>
              <a:rPr 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这个</a:t>
            </a:r>
            <a:r>
              <a:rPr lang="zh-CN" alt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缺陷</a:t>
            </a:r>
            <a:r>
              <a:rPr 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——市面上做报警抑制的产品常只</a:t>
            </a:r>
            <a:r>
              <a:rPr lang="zh-CN" alt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关注</a:t>
            </a:r>
            <a:r>
              <a:rPr 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压缩率。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4"/>
            </p:custDataLst>
          </p:nvPr>
        </p:nvCxnSpPr>
        <p:spPr>
          <a:xfrm rot="-4212">
            <a:off x="914404" y="2863850"/>
            <a:ext cx="1036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4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914400" y="30226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7D927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1778000" y="3022600"/>
            <a:ext cx="9499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找到异常的</a:t>
            </a:r>
            <a:r>
              <a:rPr lang="zh-CN" altLang="en-US" sz="16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原因</a:t>
            </a:r>
            <a:endParaRPr lang="zh-CN" altLang="en-US" sz="1600" b="1" i="0" u="none" strike="noStrike">
              <a:solidFill>
                <a:srgbClr val="0D282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1778000" y="3403600"/>
            <a:ext cx="949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异常检测论文基本停在一个异常分数；操作员拿到分数没用，他想知道去查哪个点。</a:t>
            </a:r>
            <a:r>
              <a:rPr lang="zh-CN" alt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本项目增加对源头的寻找</a:t>
            </a:r>
            <a:r>
              <a:rPr 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满足实际需求</a:t>
            </a:r>
            <a:r>
              <a:rPr 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8"/>
            </p:custDataLst>
          </p:nvPr>
        </p:nvCxnSpPr>
        <p:spPr>
          <a:xfrm rot="-4212">
            <a:off x="914404" y="3981450"/>
            <a:ext cx="1036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4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914400" y="64516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D92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工业报警洪水治理系统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007600" y="64516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D927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09 / 12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" y="6350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D927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09 · STAKEHOLDERS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914400" y="9144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</a:t>
            </a:r>
            <a:r>
              <a:rPr lang="en-US" sz="28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干系人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12">
            <a:off x="914404" y="1619250"/>
            <a:ext cx="1036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4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914400" y="1803400"/>
          <a:ext cx="10363200" cy="38811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3251200"/>
                <a:gridCol w="5207000"/>
              </a:tblGrid>
              <a:tr h="3810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干系人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关心什么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</a:tr>
              <a:tr h="520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282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工厂操作员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F63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报警直接承受者、系统使用者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F63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报警是不是真少了；根因有没有用；会不会又多个要看的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282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仪表 / 自动化工程师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F63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系统进厂要过他们这关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F63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能否对接 DCS / OPC-UA；误报多不多；以后谁维护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282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工艺工程师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F63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最懂这套装置的人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F63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根因排序符不符合工艺常识——他们是天然验收人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282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工厂管理层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F63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决定要不要花钱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F63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非计划停机少了多少；投入产出比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914400" y="5969000"/>
            <a:ext cx="50800" cy="355600"/>
          </a:xfrm>
          <a:prstGeom prst="roundRect">
            <a:avLst>
              <a:gd name="adj" fmla="val 0"/>
            </a:avLst>
          </a:prstGeom>
          <a:solidFill>
            <a:srgbClr val="C930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" y="5969000"/>
            <a:ext cx="10134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操作员要“报警再少点”，工程师要“千万别漏报”——正因为冲突，才把压缩率和保留率设成一对必须同时达标的指标。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212">
            <a:off x="914404" y="6445250"/>
            <a:ext cx="1036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4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14400" y="6527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D92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工业报警洪水治理系统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007600" y="65278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D927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10 / 12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" y="6350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D927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10 · ROLES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914400" y="9144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</a:t>
            </a:r>
            <a:r>
              <a:rPr lang="zh-CN" altLang="en-US" sz="2800" b="1" i="0" u="none" strike="noStrike">
                <a:solidFill>
                  <a:srgbClr val="0D28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成员</a:t>
            </a:r>
            <a:endParaRPr lang="zh-CN" altLang="en-US" sz="2800" b="1" i="0" u="none" strike="noStrike">
              <a:solidFill>
                <a:srgbClr val="0D282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12">
            <a:off x="914404" y="1619250"/>
            <a:ext cx="1036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4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914400" y="1854200"/>
          <a:ext cx="10363200" cy="3022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794000"/>
                <a:gridCol w="1778000"/>
                <a:gridCol w="5791200"/>
              </a:tblGrid>
              <a:tr h="4064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角色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干什么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</a:tr>
              <a:tr h="520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282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Product Owner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F63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F63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定需求优先级，管验收口径，对外沟通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282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Scrum Master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F63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F63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主持站会，扫清障碍，记录过程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282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数据与报警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F63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P2、P3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F63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TEP 接入、报警日志生成器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282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压缩与根因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F63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P4、P5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F63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报警压缩、根因排序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282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看板与集成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F63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F63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Streamlit 看板、端到端联调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914400" y="5080000"/>
            <a:ext cx="1036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F63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P1 兼 PO、P2 兼 SM，不额外占人。第 1 周 P2、P3 一起把报警生成做出来；之后 P2 转异常检测基线，P3 搭评测体系——因为第 1 周只有这一个活，但所有人都卡在它后面。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4212">
            <a:off x="914404" y="6445250"/>
            <a:ext cx="1036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4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14400" y="6527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D92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工业报警洪水治理系统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007600" y="65278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D927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11 / 12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0,&quot;left&quot;:72,&quot;top&quot;:150,&quot;width&quot;:816.0006213330493}"/>
</p:tagLst>
</file>

<file path=ppt/tags/tag2.xml><?xml version="1.0" encoding="utf-8"?>
<p:tagLst xmlns:p="http://schemas.openxmlformats.org/presentationml/2006/main">
  <p:tag name="KSO_WM_DIAGRAM_VIRTUALLY_FRAME" val="{&quot;height&quot;:330,&quot;left&quot;:72,&quot;top&quot;:150,&quot;width&quot;:816.0006213330493}"/>
</p:tagLst>
</file>

<file path=ppt/tags/tag3.xml><?xml version="1.0" encoding="utf-8"?>
<p:tagLst xmlns:p="http://schemas.openxmlformats.org/presentationml/2006/main">
  <p:tag name="KSO_WM_DIAGRAM_VIRTUALLY_FRAME" val="{&quot;height&quot;:330,&quot;left&quot;:72,&quot;top&quot;:150,&quot;width&quot;:816.0006213330493}"/>
</p:tagLst>
</file>

<file path=ppt/tags/tag4.xml><?xml version="1.0" encoding="utf-8"?>
<p:tagLst xmlns:p="http://schemas.openxmlformats.org/presentationml/2006/main">
  <p:tag name="KSO_WM_DIAGRAM_VIRTUALLY_FRAME" val="{&quot;height&quot;:330,&quot;left&quot;:72,&quot;top&quot;:150,&quot;width&quot;:816.0006213330493}"/>
</p:tagLst>
</file>

<file path=ppt/tags/tag5.xml><?xml version="1.0" encoding="utf-8"?>
<p:tagLst xmlns:p="http://schemas.openxmlformats.org/presentationml/2006/main">
  <p:tag name="KSO_WM_DIAGRAM_VIRTUALLY_FRAME" val="{&quot;height&quot;:330,&quot;left&quot;:72,&quot;top&quot;:150,&quot;width&quot;:816.0006213330493}"/>
</p:tagLst>
</file>

<file path=ppt/tags/tag6.xml><?xml version="1.0" encoding="utf-8"?>
<p:tagLst xmlns:p="http://schemas.openxmlformats.org/presentationml/2006/main">
  <p:tag name="KSO_WM_DIAGRAM_VIRTUALLY_FRAME" val="{&quot;height&quot;:330,&quot;left&quot;:72,&quot;top&quot;:150,&quot;width&quot;:816.0006213330493}"/>
</p:tagLst>
</file>

<file path=ppt/tags/tag7.xml><?xml version="1.0" encoding="utf-8"?>
<p:tagLst xmlns:p="http://schemas.openxmlformats.org/presentationml/2006/main">
  <p:tag name="KSO_WM_DIAGRAM_VIRTUALLY_FRAME" val="{&quot;height&quot;:330,&quot;left&quot;:72,&quot;top&quot;:150,&quot;width&quot;:816.0006213330493}"/>
</p:tagLst>
</file>

<file path=ppt/tags/tag8.xml><?xml version="1.0" encoding="utf-8"?>
<p:tagLst xmlns:p="http://schemas.openxmlformats.org/presentationml/2006/main">
  <p:tag name="KSO_WM_DIAGRAM_VIRTUALLY_FRAME" val="{&quot;height&quot;:330,&quot;left&quot;:72,&quot;top&quot;:150,&quot;width&quot;:816.0006213330493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1673</Words>
  <Application>WPS 演示</Application>
  <PresentationFormat/>
  <Paragraphs>216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Arial</vt:lpstr>
      <vt:lpstr>Barlow Condensed</vt:lpstr>
      <vt:lpstr>Segoe Print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吕子豪</cp:lastModifiedBy>
  <cp:revision>2</cp:revision>
  <dcterms:created xsi:type="dcterms:W3CDTF">2026-09-20T12:41:57Z</dcterms:created>
  <dcterms:modified xsi:type="dcterms:W3CDTF">2026-09-20T12:43:42Z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{"Label":"1","ContentProducer":"001191110102MACQD9K64010000","ProduceID":"7687590697025948894","ReservedCode1":"","ContentPropagator":"","PropagateID":"","ReservedCode2":""}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802FC9F777C247A2806F2BA689822C4B_12</vt:lpwstr>
  </property>
</Properties>
</file>